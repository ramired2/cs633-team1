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5" autoAdjust="0"/>
    <p:restoredTop sz="94660"/>
  </p:normalViewPr>
  <p:slideViewPr>
    <p:cSldViewPr snapToGrid="0">
      <p:cViewPr varScale="1">
        <p:scale>
          <a:sx n="81" d="100"/>
          <a:sy n="81" d="100"/>
        </p:scale>
        <p:origin x="51" y="1310"/>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7430E-0C14-4779-90EA-EDE70E0A399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CB15004-56D3-4530-B02E-933E8FDD95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BE89A47-33D8-4BC3-9AFC-9F80285B5EBB}"/>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5702591A-90C7-4109-9CB3-9174636486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B0ADB0-BC73-400D-9243-D70FA896D835}"/>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417481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8C1CA-ADDD-408D-822D-EE9462EBA1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059ECAA-101A-4A86-8981-A2BE6D860F1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06E2D5-2175-42B1-8C6E-032A339D278A}"/>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8F22F3F7-1A04-45E0-A013-3EBECA1F7C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E7E0AD-8F77-4E62-9CB5-6B091BB5D5FF}"/>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7297375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55BF-01DD-4A4C-A344-97D557BA19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7E87561-A204-4596-8E15-E8844953E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1210353E-995A-4340-B53D-0C08B1C4ED31}"/>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2BFFA2C4-2078-4CFC-8571-CC21AC6190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8976F-D94E-4D8A-9EE7-E165DA4072F0}"/>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2833386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76786-0589-4519-88F3-8BC1971A6B9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1B85D-5BE7-412D-9FD5-893051763BB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DA64DF-5364-4DF2-8CE9-2650A318B78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8074275-6160-49BE-9B78-0C5C21487915}"/>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6" name="Footer Placeholder 5">
            <a:extLst>
              <a:ext uri="{FF2B5EF4-FFF2-40B4-BE49-F238E27FC236}">
                <a16:creationId xmlns:a16="http://schemas.microsoft.com/office/drawing/2014/main" id="{A1F80AEC-A618-4A2E-BB9A-D04E62BEEB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49E9CF-1E5C-42AD-A1C4-15E66EC229F9}"/>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15387924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B921-1768-4C70-A081-9ED10E4B6CA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D9DADB7-4A21-47D2-82D1-EEDA903973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89DD6C46-41BD-4C97-9899-ED13E2E45C0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6CC3B2A-29CC-4EA1-AC4D-00D56FE38D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94F0630-BBA5-4E49-A56F-47ABE6ABA995}"/>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DEDF45B-DB08-4990-98EB-58B9DE3B4835}"/>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8" name="Footer Placeholder 7">
            <a:extLst>
              <a:ext uri="{FF2B5EF4-FFF2-40B4-BE49-F238E27FC236}">
                <a16:creationId xmlns:a16="http://schemas.microsoft.com/office/drawing/2014/main" id="{45910E93-91D0-4E12-B867-AC70A024C5E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A7105E7-46AB-4827-B6D5-53456AED4F20}"/>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853208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24518-08B3-44DA-890A-88AF5827F7E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107FD31-F04E-4FC3-9032-6578601C8DCB}"/>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4" name="Footer Placeholder 3">
            <a:extLst>
              <a:ext uri="{FF2B5EF4-FFF2-40B4-BE49-F238E27FC236}">
                <a16:creationId xmlns:a16="http://schemas.microsoft.com/office/drawing/2014/main" id="{975795B2-51E0-4A4C-A905-7D79D850EE3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E32158D-063C-40F1-946C-450FF5D78506}"/>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22036345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223F14-36B9-4F3B-91AD-22D17B7FC1E7}"/>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3" name="Footer Placeholder 2">
            <a:extLst>
              <a:ext uri="{FF2B5EF4-FFF2-40B4-BE49-F238E27FC236}">
                <a16:creationId xmlns:a16="http://schemas.microsoft.com/office/drawing/2014/main" id="{E97930E5-373E-4312-AA2D-576168A2E73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C86834-B28B-405D-BF94-69C50D45AF7F}"/>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2666881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A7036-E8AF-4F47-8700-3AEDCE6460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747A818-A9AC-4F9D-BD81-B3C7FCF6FA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BA5C4B4-D67F-4C5C-A225-DED95F7F70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0CE1D50-F959-4ADB-B7E0-21BEFDC58112}"/>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6" name="Footer Placeholder 5">
            <a:extLst>
              <a:ext uri="{FF2B5EF4-FFF2-40B4-BE49-F238E27FC236}">
                <a16:creationId xmlns:a16="http://schemas.microsoft.com/office/drawing/2014/main" id="{0CDAAE9B-70B3-4D80-823F-C28F9F2F9B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2DB69B-A212-4B52-BC9D-DD3701FB547B}"/>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850020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DEC6C-2E8F-42DD-852D-89D13CAADC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788A430-D085-4BC4-BE56-E7730710404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59055DA-A209-405A-BBA7-CA222CF3B7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EF74A62-D133-4A2A-AE45-501D343A8F84}"/>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6" name="Footer Placeholder 5">
            <a:extLst>
              <a:ext uri="{FF2B5EF4-FFF2-40B4-BE49-F238E27FC236}">
                <a16:creationId xmlns:a16="http://schemas.microsoft.com/office/drawing/2014/main" id="{B853C2CE-2837-456B-B7E4-5BFD397913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18D466-A4C1-4601-BAB9-E81785D30DF8}"/>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11054125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8B347-1D97-433A-98A8-8232827A969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528D241-1CD7-46D0-970E-15D6BF9D353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ACEB93-0F69-4C25-A777-B20647477BDC}"/>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40C0A3E1-CA6D-4B8B-8710-BB1A94268D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E87906-8A38-4B8C-B352-366FC801856E}"/>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3510774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BE5F74-6490-4E94-9966-CEBF0C427C3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DD0C57E-679F-499E-A59A-4AC82F491B8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F0BA3E-BF26-452E-A1CC-9103F04F1413}"/>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27FD9670-D7F1-434E-837E-1634F8F96B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A987BD-E0BB-4FF0-A937-37F93EB20D6E}"/>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40614990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32BC254-C447-4262-B1B8-C54B7B4550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A85201D-31DB-4142-A9E4-2351BF2A78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5CE78D-8372-4D06-9F39-FFD0132465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202C0C76-A06B-4364-8685-BFEB79CEDC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FE88A5E-2E25-4140-84EC-83040D091C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42225C-A4C6-4098-84E6-B8E2DBF4C0DD}" type="slidenum">
              <a:rPr lang="en-US" smtClean="0"/>
              <a:t>‹#›</a:t>
            </a:fld>
            <a:endParaRPr lang="en-US"/>
          </a:p>
        </p:txBody>
      </p:sp>
    </p:spTree>
    <p:extLst>
      <p:ext uri="{BB962C8B-B14F-4D97-AF65-F5344CB8AC3E}">
        <p14:creationId xmlns:p14="http://schemas.microsoft.com/office/powerpoint/2010/main" val="19289764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59BF99F9-DB7F-48E2-9D32-B37B1776157A}"/>
              </a:ext>
            </a:extLst>
          </p:cNvPr>
          <p:cNvGrpSpPr/>
          <p:nvPr/>
        </p:nvGrpSpPr>
        <p:grpSpPr>
          <a:xfrm>
            <a:off x="169800" y="91156"/>
            <a:ext cx="335559" cy="369332"/>
            <a:chOff x="369116" y="375299"/>
            <a:chExt cx="335559" cy="369332"/>
          </a:xfrm>
        </p:grpSpPr>
        <p:sp>
          <p:nvSpPr>
            <p:cNvPr id="5" name="Oval 4">
              <a:extLst>
                <a:ext uri="{FF2B5EF4-FFF2-40B4-BE49-F238E27FC236}">
                  <a16:creationId xmlns:a16="http://schemas.microsoft.com/office/drawing/2014/main" id="{BD4F379B-4899-4BBF-A6BC-A4D677B2189A}"/>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F48F9F7-234A-4A7F-B37F-25682104D3E0}"/>
                </a:ext>
              </a:extLst>
            </p:cNvPr>
            <p:cNvSpPr txBox="1"/>
            <p:nvPr/>
          </p:nvSpPr>
          <p:spPr>
            <a:xfrm>
              <a:off x="394601" y="375299"/>
              <a:ext cx="301686" cy="369332"/>
            </a:xfrm>
            <a:prstGeom prst="rect">
              <a:avLst/>
            </a:prstGeom>
            <a:noFill/>
          </p:spPr>
          <p:txBody>
            <a:bodyPr wrap="none" rtlCol="0">
              <a:spAutoFit/>
            </a:bodyPr>
            <a:lstStyle/>
            <a:p>
              <a:r>
                <a:rPr lang="en-US" dirty="0"/>
                <a:t>1</a:t>
              </a:r>
            </a:p>
          </p:txBody>
        </p:sp>
      </p:grpSp>
      <p:sp>
        <p:nvSpPr>
          <p:cNvPr id="8" name="Rectangle 2">
            <a:extLst>
              <a:ext uri="{FF2B5EF4-FFF2-40B4-BE49-F238E27FC236}">
                <a16:creationId xmlns:a16="http://schemas.microsoft.com/office/drawing/2014/main" id="{0229208D-363D-49DF-AA51-DA019C8AD8E2}"/>
              </a:ext>
            </a:extLst>
          </p:cNvPr>
          <p:cNvSpPr>
            <a:spLocks noChangeArrowheads="1"/>
          </p:cNvSpPr>
          <p:nvPr/>
        </p:nvSpPr>
        <p:spPr bwMode="auto">
          <a:xfrm>
            <a:off x="1915647" y="-32990"/>
            <a:ext cx="8763000" cy="229293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R="0" lvl="0" indent="0" algn="ctr" fontAlgn="base">
              <a:lnSpc>
                <a:spcPct val="100000"/>
              </a:lnSpc>
              <a:spcBef>
                <a:spcPct val="0"/>
              </a:spcBef>
              <a:spcAft>
                <a:spcPct val="0"/>
              </a:spcAft>
              <a:buClrTx/>
              <a:buSzTx/>
              <a:buFontTx/>
              <a:buNone/>
              <a:tabLst/>
            </a:pPr>
            <a:r>
              <a:rPr lang="en-US" sz="3200" b="1" dirty="0">
                <a:solidFill>
                  <a:schemeClr val="accent1">
                    <a:lumMod val="75000"/>
                  </a:schemeClr>
                </a:solidFill>
              </a:rPr>
              <a:t>Mature and Immature – What’s The Difference</a:t>
            </a:r>
            <a:endParaRPr kumimoji="0" lang="en-US" sz="1100" b="0" i="0" u="none" strike="noStrike" cap="none" normalizeH="0" baseline="0" dirty="0">
              <a:ln>
                <a:noFill/>
              </a:ln>
              <a:solidFill>
                <a:schemeClr val="tx1"/>
              </a:solidFill>
              <a:effectLst/>
              <a:latin typeface="Calibri" pitchFamily="34" charset="0"/>
              <a:ea typeface="Calibri" pitchFamily="34" charset="0"/>
              <a:cs typeface="Arial" pitchFamily="34" charset="0"/>
            </a:endParaRPr>
          </a:p>
          <a:p>
            <a:pPr eaLnBrk="0" fontAlgn="base" hangingPunct="0">
              <a:lnSpc>
                <a:spcPts val="2000"/>
              </a:lnSpc>
              <a:spcBef>
                <a:spcPct val="0"/>
              </a:spcBef>
              <a:spcAft>
                <a:spcPct val="0"/>
              </a:spcAft>
            </a:pPr>
            <a:r>
              <a:rPr lang="en-US" dirty="0">
                <a:solidFill>
                  <a:schemeClr val="accent1">
                    <a:lumMod val="75000"/>
                  </a:schemeClr>
                </a:solidFill>
              </a:rPr>
              <a:t>Empirical studies show that teams belonging to mature organizations could be an order of magnitude more effective than immature teams.  As we are not suggesting a small difference here, ten times variance can create a huge advantage in a market place. The pictorial below is a metaphor for process improvement.  The concept of a ‘distance’ is well-defined in math. Going around and around does not measure a ‘distance’ between two points.  Rather, such a convoluted path would create a measure of immaturity.</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100" b="0" i="0" u="none" strike="noStrike" cap="none" normalizeH="0" baseline="0" dirty="0">
                <a:ln>
                  <a:noFill/>
                </a:ln>
                <a:solidFill>
                  <a:schemeClr val="tx1"/>
                </a:solidFill>
                <a:effectLst/>
                <a:latin typeface="Calibri" pitchFamily="34" charset="0"/>
                <a:ea typeface="Calibri" pitchFamily="34" charset="0"/>
                <a:cs typeface="Arial" pitchFamily="34"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pic>
        <p:nvPicPr>
          <p:cNvPr id="9" name="Picture 1">
            <a:extLst>
              <a:ext uri="{FF2B5EF4-FFF2-40B4-BE49-F238E27FC236}">
                <a16:creationId xmlns:a16="http://schemas.microsoft.com/office/drawing/2014/main" id="{6C55EF8F-4D84-401D-A41F-B25BAC85C078}"/>
              </a:ext>
            </a:extLst>
          </p:cNvPr>
          <p:cNvPicPr>
            <a:picLocks noChangeAspect="1" noChangeArrowheads="1"/>
          </p:cNvPicPr>
          <p:nvPr/>
        </p:nvPicPr>
        <p:blipFill>
          <a:blip r:embed="rId2" cstate="print"/>
          <a:srcRect/>
          <a:stretch>
            <a:fillRect/>
          </a:stretch>
        </p:blipFill>
        <p:spPr bwMode="auto">
          <a:xfrm>
            <a:off x="2973874" y="1295400"/>
            <a:ext cx="6533198" cy="4343400"/>
          </a:xfrm>
          <a:prstGeom prst="rect">
            <a:avLst/>
          </a:prstGeom>
          <a:noFill/>
        </p:spPr>
      </p:pic>
      <p:sp>
        <p:nvSpPr>
          <p:cNvPr id="10" name="Rectangle 3">
            <a:extLst>
              <a:ext uri="{FF2B5EF4-FFF2-40B4-BE49-F238E27FC236}">
                <a16:creationId xmlns:a16="http://schemas.microsoft.com/office/drawing/2014/main" id="{A7F26B25-B319-4290-816B-E9A68E6DE450}"/>
              </a:ext>
            </a:extLst>
          </p:cNvPr>
          <p:cNvSpPr>
            <a:spLocks noChangeArrowheads="1"/>
          </p:cNvSpPr>
          <p:nvPr/>
        </p:nvSpPr>
        <p:spPr bwMode="auto">
          <a:xfrm>
            <a:off x="2115672" y="5420381"/>
            <a:ext cx="8610600" cy="147732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400050" marR="0" lvl="0" indent="-400050" algn="l" defTabSz="914400" rtl="0" eaLnBrk="1" fontAlgn="base" latinLnBrk="0" hangingPunct="1">
              <a:lnSpc>
                <a:spcPct val="100000"/>
              </a:lnSpc>
              <a:spcBef>
                <a:spcPct val="0"/>
              </a:spcBef>
              <a:spcAft>
                <a:spcPct val="0"/>
              </a:spcAft>
              <a:buClrTx/>
              <a:buSzTx/>
              <a:buFont typeface="Wingdings" pitchFamily="2" charset="2"/>
              <a:buChar char="ü"/>
              <a:tabLst/>
            </a:pPr>
            <a:r>
              <a:rPr lang="en-US" dirty="0">
                <a:solidFill>
                  <a:schemeClr val="accent1">
                    <a:lumMod val="75000"/>
                  </a:schemeClr>
                </a:solidFill>
              </a:rPr>
              <a:t>We are not adding a paperwork or a ceremony. We do attempt to find the shortest possible route. </a:t>
            </a:r>
          </a:p>
          <a:p>
            <a:pPr marL="400050" marR="0" lvl="0" indent="-400050" algn="l" defTabSz="914400" rtl="0" eaLnBrk="0" fontAlgn="base" latinLnBrk="0" hangingPunct="0">
              <a:lnSpc>
                <a:spcPct val="100000"/>
              </a:lnSpc>
              <a:spcBef>
                <a:spcPct val="0"/>
              </a:spcBef>
              <a:spcAft>
                <a:spcPct val="0"/>
              </a:spcAft>
              <a:buClrTx/>
              <a:buSzTx/>
              <a:buFont typeface="Wingdings" pitchFamily="2" charset="2"/>
              <a:buChar char="ü"/>
              <a:tabLst/>
            </a:pPr>
            <a:r>
              <a:rPr lang="en-US" dirty="0">
                <a:solidFill>
                  <a:schemeClr val="accent1">
                    <a:lumMod val="75000"/>
                  </a:schemeClr>
                </a:solidFill>
              </a:rPr>
              <a:t>Process has no goal in itself. It is by definition, the means to produce the best possible product with minimal resources. </a:t>
            </a:r>
          </a:p>
          <a:p>
            <a:pPr marL="400050" marR="0" lvl="0" indent="-400050" algn="l" defTabSz="914400" rtl="0" eaLnBrk="0" fontAlgn="base" latinLnBrk="0" hangingPunct="0">
              <a:lnSpc>
                <a:spcPct val="100000"/>
              </a:lnSpc>
              <a:spcBef>
                <a:spcPct val="0"/>
              </a:spcBef>
              <a:spcAft>
                <a:spcPct val="0"/>
              </a:spcAft>
              <a:buClrTx/>
              <a:buSzTx/>
              <a:buFont typeface="Wingdings" pitchFamily="2" charset="2"/>
              <a:buChar char="ü"/>
              <a:tabLst/>
            </a:pPr>
            <a:r>
              <a:rPr lang="en-US" dirty="0">
                <a:solidFill>
                  <a:schemeClr val="accent1">
                    <a:lumMod val="75000"/>
                  </a:schemeClr>
                </a:solidFill>
              </a:rPr>
              <a:t>This is not just a picture, as during an audit, you will be dinged for being ineffective. </a:t>
            </a:r>
          </a:p>
        </p:txBody>
      </p:sp>
    </p:spTree>
    <p:extLst>
      <p:ext uri="{BB962C8B-B14F-4D97-AF65-F5344CB8AC3E}">
        <p14:creationId xmlns:p14="http://schemas.microsoft.com/office/powerpoint/2010/main" val="3509887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CFF47B3-377A-44B4-A9EA-ECF5D7908826}"/>
              </a:ext>
            </a:extLst>
          </p:cNvPr>
          <p:cNvGrpSpPr/>
          <p:nvPr/>
        </p:nvGrpSpPr>
        <p:grpSpPr>
          <a:xfrm>
            <a:off x="164814" y="92935"/>
            <a:ext cx="335559" cy="369332"/>
            <a:chOff x="369116" y="375299"/>
            <a:chExt cx="335559" cy="369332"/>
          </a:xfrm>
        </p:grpSpPr>
        <p:sp>
          <p:nvSpPr>
            <p:cNvPr id="5" name="Oval 4">
              <a:extLst>
                <a:ext uri="{FF2B5EF4-FFF2-40B4-BE49-F238E27FC236}">
                  <a16:creationId xmlns:a16="http://schemas.microsoft.com/office/drawing/2014/main" id="{A98C9148-4896-482E-9BC1-B7F77722A829}"/>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0CED1D0-8825-4A2D-BBDF-53659BB5A61D}"/>
                </a:ext>
              </a:extLst>
            </p:cNvPr>
            <p:cNvSpPr txBox="1"/>
            <p:nvPr/>
          </p:nvSpPr>
          <p:spPr>
            <a:xfrm>
              <a:off x="394601" y="375299"/>
              <a:ext cx="301686" cy="369332"/>
            </a:xfrm>
            <a:prstGeom prst="rect">
              <a:avLst/>
            </a:prstGeom>
            <a:noFill/>
          </p:spPr>
          <p:txBody>
            <a:bodyPr wrap="none" rtlCol="0">
              <a:spAutoFit/>
            </a:bodyPr>
            <a:lstStyle/>
            <a:p>
              <a:r>
                <a:rPr lang="en-US" dirty="0"/>
                <a:t>2</a:t>
              </a:r>
            </a:p>
          </p:txBody>
        </p:sp>
      </p:grpSp>
      <p:sp>
        <p:nvSpPr>
          <p:cNvPr id="8" name="Rectangle 2">
            <a:extLst>
              <a:ext uri="{FF2B5EF4-FFF2-40B4-BE49-F238E27FC236}">
                <a16:creationId xmlns:a16="http://schemas.microsoft.com/office/drawing/2014/main" id="{EC1A7A9D-54EF-49D6-9E6C-D22CFF6F92FC}"/>
              </a:ext>
            </a:extLst>
          </p:cNvPr>
          <p:cNvSpPr>
            <a:spLocks noChangeArrowheads="1"/>
          </p:cNvSpPr>
          <p:nvPr/>
        </p:nvSpPr>
        <p:spPr bwMode="auto">
          <a:xfrm>
            <a:off x="1537449" y="0"/>
            <a:ext cx="8534400" cy="1415772"/>
          </a:xfrm>
          <a:prstGeom prst="rect">
            <a:avLst/>
          </a:prstGeom>
          <a:noFill/>
          <a:ln w="9525">
            <a:noFill/>
            <a:miter lim="800000"/>
            <a:headEnd/>
            <a:tailEnd/>
          </a:ln>
          <a:effectLst/>
        </p:spPr>
        <p:txBody>
          <a:bodyPr vert="horz" wrap="square" lIns="457056" tIns="45720" rIns="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lang="en-US" sz="3200" b="1" dirty="0">
                <a:solidFill>
                  <a:schemeClr val="accent1">
                    <a:lumMod val="75000"/>
                  </a:schemeClr>
                </a:solidFill>
              </a:rPr>
              <a:t>PAL Organization</a:t>
            </a:r>
          </a:p>
          <a:p>
            <a:pPr marL="0" marR="0" lvl="0" indent="0" algn="l" defTabSz="914400" rtl="0" eaLnBrk="0" fontAlgn="base" latinLnBrk="0" hangingPunct="0">
              <a:lnSpc>
                <a:spcPct val="100000"/>
              </a:lnSpc>
              <a:spcBef>
                <a:spcPct val="0"/>
              </a:spcBef>
              <a:spcAft>
                <a:spcPct val="0"/>
              </a:spcAft>
              <a:buClrTx/>
              <a:buSzTx/>
              <a:buFontTx/>
              <a:buNone/>
              <a:tabLst/>
            </a:pPr>
            <a:r>
              <a:rPr lang="en-US" dirty="0">
                <a:solidFill>
                  <a:schemeClr val="accent1">
                    <a:lumMod val="75000"/>
                  </a:schemeClr>
                </a:solidFill>
              </a:rPr>
              <a:t>The structure of PAL is depicted on the following diagram. It highlights the interrelationship between an organizational repository and projects' repositories.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pic>
        <p:nvPicPr>
          <p:cNvPr id="9" name="Picture 9">
            <a:extLst>
              <a:ext uri="{FF2B5EF4-FFF2-40B4-BE49-F238E27FC236}">
                <a16:creationId xmlns:a16="http://schemas.microsoft.com/office/drawing/2014/main" id="{53922EEA-99D1-4BEA-81D8-D0EFC7F5E4AE}"/>
              </a:ext>
            </a:extLst>
          </p:cNvPr>
          <p:cNvPicPr>
            <a:picLocks noChangeAspect="1" noChangeArrowheads="1"/>
          </p:cNvPicPr>
          <p:nvPr/>
        </p:nvPicPr>
        <p:blipFill>
          <a:blip r:embed="rId2" cstate="print"/>
          <a:srcRect/>
          <a:stretch>
            <a:fillRect/>
          </a:stretch>
        </p:blipFill>
        <p:spPr bwMode="auto">
          <a:xfrm>
            <a:off x="1573568" y="1676400"/>
            <a:ext cx="8345881" cy="4953000"/>
          </a:xfrm>
          <a:prstGeom prst="rect">
            <a:avLst/>
          </a:prstGeom>
          <a:noFill/>
        </p:spPr>
      </p:pic>
    </p:spTree>
    <p:extLst>
      <p:ext uri="{BB962C8B-B14F-4D97-AF65-F5344CB8AC3E}">
        <p14:creationId xmlns:p14="http://schemas.microsoft.com/office/powerpoint/2010/main" val="3540260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833D082-F3B5-4AF3-B1E2-B61785F10E9E}"/>
              </a:ext>
            </a:extLst>
          </p:cNvPr>
          <p:cNvGrpSpPr/>
          <p:nvPr/>
        </p:nvGrpSpPr>
        <p:grpSpPr>
          <a:xfrm>
            <a:off x="153605" y="145106"/>
            <a:ext cx="335559" cy="369332"/>
            <a:chOff x="369116" y="375299"/>
            <a:chExt cx="335559" cy="369332"/>
          </a:xfrm>
        </p:grpSpPr>
        <p:sp>
          <p:nvSpPr>
            <p:cNvPr id="6" name="Oval 5">
              <a:extLst>
                <a:ext uri="{FF2B5EF4-FFF2-40B4-BE49-F238E27FC236}">
                  <a16:creationId xmlns:a16="http://schemas.microsoft.com/office/drawing/2014/main" id="{6EB117B2-B40C-4CD1-9C58-A36211000B73}"/>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DC16D9-3812-4744-870D-66AC78368DCD}"/>
                </a:ext>
              </a:extLst>
            </p:cNvPr>
            <p:cNvSpPr txBox="1"/>
            <p:nvPr/>
          </p:nvSpPr>
          <p:spPr>
            <a:xfrm>
              <a:off x="394601" y="375299"/>
              <a:ext cx="301686" cy="369332"/>
            </a:xfrm>
            <a:prstGeom prst="rect">
              <a:avLst/>
            </a:prstGeom>
            <a:noFill/>
          </p:spPr>
          <p:txBody>
            <a:bodyPr wrap="none" rtlCol="0">
              <a:spAutoFit/>
            </a:bodyPr>
            <a:lstStyle/>
            <a:p>
              <a:r>
                <a:rPr lang="en-US" dirty="0"/>
                <a:t>3</a:t>
              </a:r>
            </a:p>
          </p:txBody>
        </p:sp>
      </p:grpSp>
      <p:sp>
        <p:nvSpPr>
          <p:cNvPr id="14" name="Rounded Rectangle 21">
            <a:extLst>
              <a:ext uri="{FF2B5EF4-FFF2-40B4-BE49-F238E27FC236}">
                <a16:creationId xmlns:a16="http://schemas.microsoft.com/office/drawing/2014/main" id="{B4377254-F715-42A4-B79F-A3A4496A6E03}"/>
              </a:ext>
            </a:extLst>
          </p:cNvPr>
          <p:cNvSpPr/>
          <p:nvPr/>
        </p:nvSpPr>
        <p:spPr>
          <a:xfrm>
            <a:off x="6045149" y="3926539"/>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ounded Rectangle 23">
            <a:extLst>
              <a:ext uri="{FF2B5EF4-FFF2-40B4-BE49-F238E27FC236}">
                <a16:creationId xmlns:a16="http://schemas.microsoft.com/office/drawing/2014/main" id="{B1760962-79C9-4F06-9F45-29A29FEDF511}"/>
              </a:ext>
            </a:extLst>
          </p:cNvPr>
          <p:cNvSpPr/>
          <p:nvPr/>
        </p:nvSpPr>
        <p:spPr>
          <a:xfrm>
            <a:off x="6045149" y="3316939"/>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3ADCA9A4-2390-490C-91E4-4454F04B5499}"/>
              </a:ext>
            </a:extLst>
          </p:cNvPr>
          <p:cNvSpPr txBox="1"/>
          <p:nvPr/>
        </p:nvSpPr>
        <p:spPr>
          <a:xfrm>
            <a:off x="6039470" y="4002739"/>
            <a:ext cx="957763" cy="40011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Process</a:t>
            </a:r>
          </a:p>
          <a:p>
            <a:pPr algn="ctr">
              <a:lnSpc>
                <a:spcPts val="1200"/>
              </a:lnSpc>
            </a:pPr>
            <a:r>
              <a:rPr lang="en-US" sz="1200" dirty="0">
                <a:solidFill>
                  <a:schemeClr val="accent1">
                    <a:lumMod val="50000"/>
                  </a:schemeClr>
                </a:solidFill>
              </a:rPr>
              <a:t>Architecture</a:t>
            </a:r>
          </a:p>
        </p:txBody>
      </p:sp>
      <p:sp>
        <p:nvSpPr>
          <p:cNvPr id="17" name="TextBox 16">
            <a:extLst>
              <a:ext uri="{FF2B5EF4-FFF2-40B4-BE49-F238E27FC236}">
                <a16:creationId xmlns:a16="http://schemas.microsoft.com/office/drawing/2014/main" id="{4AF2455E-49AA-4AA2-BFDE-9110E0B02BB4}"/>
              </a:ext>
            </a:extLst>
          </p:cNvPr>
          <p:cNvSpPr txBox="1"/>
          <p:nvPr/>
        </p:nvSpPr>
        <p:spPr>
          <a:xfrm>
            <a:off x="6035688" y="3393139"/>
            <a:ext cx="1032976" cy="40011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Process</a:t>
            </a:r>
          </a:p>
          <a:p>
            <a:pPr algn="ctr">
              <a:lnSpc>
                <a:spcPts val="1200"/>
              </a:lnSpc>
            </a:pPr>
            <a:r>
              <a:rPr lang="en-US" sz="1200" dirty="0">
                <a:solidFill>
                  <a:schemeClr val="accent1">
                    <a:lumMod val="50000"/>
                  </a:schemeClr>
                </a:solidFill>
              </a:rPr>
              <a:t>Improvement</a:t>
            </a:r>
          </a:p>
        </p:txBody>
      </p:sp>
      <p:sp>
        <p:nvSpPr>
          <p:cNvPr id="18" name="Rectangle 17">
            <a:extLst>
              <a:ext uri="{FF2B5EF4-FFF2-40B4-BE49-F238E27FC236}">
                <a16:creationId xmlns:a16="http://schemas.microsoft.com/office/drawing/2014/main" id="{646C3F5C-63D1-4FED-A3B2-EFA178E809A9}"/>
              </a:ext>
            </a:extLst>
          </p:cNvPr>
          <p:cNvSpPr/>
          <p:nvPr/>
        </p:nvSpPr>
        <p:spPr>
          <a:xfrm>
            <a:off x="3645143" y="3393139"/>
            <a:ext cx="2325573" cy="861774"/>
          </a:xfrm>
          <a:prstGeom prst="rect">
            <a:avLst/>
          </a:prstGeom>
        </p:spPr>
        <p:txBody>
          <a:bodyPr wrap="none">
            <a:spAutoFit/>
          </a:bodyPr>
          <a:lstStyle/>
          <a:p>
            <a:pPr algn="r"/>
            <a:r>
              <a:rPr lang="en-US" sz="1400" b="1" dirty="0">
                <a:solidFill>
                  <a:schemeClr val="bg1">
                    <a:lumMod val="65000"/>
                  </a:schemeClr>
                </a:solidFill>
              </a:rPr>
              <a:t>Power points do not compile</a:t>
            </a:r>
          </a:p>
          <a:p>
            <a:pPr algn="r"/>
            <a:endParaRPr lang="en-US" sz="800" b="1" dirty="0">
              <a:solidFill>
                <a:schemeClr val="bg1">
                  <a:lumMod val="65000"/>
                </a:schemeClr>
              </a:solidFill>
            </a:endParaRPr>
          </a:p>
          <a:p>
            <a:pPr algn="r"/>
            <a:r>
              <a:rPr lang="en-US" sz="1400" b="1" dirty="0">
                <a:solidFill>
                  <a:schemeClr val="bg1">
                    <a:lumMod val="65000"/>
                  </a:schemeClr>
                </a:solidFill>
              </a:rPr>
              <a:t>Myth of an ‘average </a:t>
            </a:r>
          </a:p>
          <a:p>
            <a:pPr algn="r"/>
            <a:r>
              <a:rPr lang="en-US" sz="1400" b="1" dirty="0">
                <a:solidFill>
                  <a:schemeClr val="bg1">
                    <a:lumMod val="65000"/>
                  </a:schemeClr>
                </a:solidFill>
              </a:rPr>
              <a:t>software engineer’</a:t>
            </a:r>
          </a:p>
        </p:txBody>
      </p:sp>
      <p:sp>
        <p:nvSpPr>
          <p:cNvPr id="19" name="Rectangle 18">
            <a:extLst>
              <a:ext uri="{FF2B5EF4-FFF2-40B4-BE49-F238E27FC236}">
                <a16:creationId xmlns:a16="http://schemas.microsoft.com/office/drawing/2014/main" id="{A19A7F64-5D12-4CFF-BD31-AE3F8E72A294}"/>
              </a:ext>
            </a:extLst>
          </p:cNvPr>
          <p:cNvSpPr/>
          <p:nvPr/>
        </p:nvSpPr>
        <p:spPr>
          <a:xfrm>
            <a:off x="3411064" y="4228362"/>
            <a:ext cx="2612382" cy="307777"/>
          </a:xfrm>
          <a:prstGeom prst="rect">
            <a:avLst/>
          </a:prstGeom>
        </p:spPr>
        <p:txBody>
          <a:bodyPr wrap="none">
            <a:spAutoFit/>
          </a:bodyPr>
          <a:lstStyle/>
          <a:p>
            <a:r>
              <a:rPr lang="en-US" sz="1400" b="1" dirty="0">
                <a:solidFill>
                  <a:schemeClr val="bg1">
                    <a:lumMod val="65000"/>
                  </a:schemeClr>
                </a:solidFill>
              </a:rPr>
              <a:t>A Glue. A Heartbeat. A Librarian.</a:t>
            </a:r>
          </a:p>
        </p:txBody>
      </p:sp>
    </p:spTree>
    <p:extLst>
      <p:ext uri="{BB962C8B-B14F-4D97-AF65-F5344CB8AC3E}">
        <p14:creationId xmlns:p14="http://schemas.microsoft.com/office/powerpoint/2010/main" val="4265674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5D54BB5-45F1-4549-8CDA-938E85C75A48}"/>
              </a:ext>
            </a:extLst>
          </p:cNvPr>
          <p:cNvGrpSpPr/>
          <p:nvPr/>
        </p:nvGrpSpPr>
        <p:grpSpPr>
          <a:xfrm>
            <a:off x="220174" y="168646"/>
            <a:ext cx="335559" cy="369332"/>
            <a:chOff x="369116" y="375299"/>
            <a:chExt cx="335559" cy="369332"/>
          </a:xfrm>
        </p:grpSpPr>
        <p:sp>
          <p:nvSpPr>
            <p:cNvPr id="6" name="Oval 5">
              <a:extLst>
                <a:ext uri="{FF2B5EF4-FFF2-40B4-BE49-F238E27FC236}">
                  <a16:creationId xmlns:a16="http://schemas.microsoft.com/office/drawing/2014/main" id="{46B6ABFB-0587-43A2-95FC-FB57C6F98FDF}"/>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2421CAC-5AD4-40A1-BC99-C7B4C2313F1C}"/>
                </a:ext>
              </a:extLst>
            </p:cNvPr>
            <p:cNvSpPr txBox="1"/>
            <p:nvPr/>
          </p:nvSpPr>
          <p:spPr>
            <a:xfrm>
              <a:off x="394601" y="375299"/>
              <a:ext cx="301686" cy="369332"/>
            </a:xfrm>
            <a:prstGeom prst="rect">
              <a:avLst/>
            </a:prstGeom>
            <a:noFill/>
          </p:spPr>
          <p:txBody>
            <a:bodyPr wrap="none" rtlCol="0">
              <a:spAutoFit/>
            </a:bodyPr>
            <a:lstStyle/>
            <a:p>
              <a:r>
                <a:rPr lang="en-US" dirty="0"/>
                <a:t>4</a:t>
              </a:r>
            </a:p>
          </p:txBody>
        </p:sp>
      </p:grpSp>
      <p:sp>
        <p:nvSpPr>
          <p:cNvPr id="13" name="Rounded Rectangle 21">
            <a:extLst>
              <a:ext uri="{FF2B5EF4-FFF2-40B4-BE49-F238E27FC236}">
                <a16:creationId xmlns:a16="http://schemas.microsoft.com/office/drawing/2014/main" id="{B565B6F3-0220-44B0-9042-B4E157965524}"/>
              </a:ext>
            </a:extLst>
          </p:cNvPr>
          <p:cNvSpPr/>
          <p:nvPr/>
        </p:nvSpPr>
        <p:spPr>
          <a:xfrm>
            <a:off x="6093330" y="3254189"/>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ounded Rectangle 23">
            <a:extLst>
              <a:ext uri="{FF2B5EF4-FFF2-40B4-BE49-F238E27FC236}">
                <a16:creationId xmlns:a16="http://schemas.microsoft.com/office/drawing/2014/main" id="{EEEC1B8B-6B4B-4BA0-A209-C73E65C93EDC}"/>
              </a:ext>
            </a:extLst>
          </p:cNvPr>
          <p:cNvSpPr/>
          <p:nvPr/>
        </p:nvSpPr>
        <p:spPr>
          <a:xfrm>
            <a:off x="6093330" y="2644589"/>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7341582B-A77B-4C54-A418-E6E85B51BF27}"/>
              </a:ext>
            </a:extLst>
          </p:cNvPr>
          <p:cNvSpPr txBox="1"/>
          <p:nvPr/>
        </p:nvSpPr>
        <p:spPr>
          <a:xfrm>
            <a:off x="6087651" y="3330389"/>
            <a:ext cx="957763" cy="40011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Process</a:t>
            </a:r>
          </a:p>
          <a:p>
            <a:pPr algn="ctr">
              <a:lnSpc>
                <a:spcPts val="1200"/>
              </a:lnSpc>
            </a:pPr>
            <a:r>
              <a:rPr lang="en-US" sz="1200" dirty="0">
                <a:solidFill>
                  <a:schemeClr val="accent1">
                    <a:lumMod val="50000"/>
                  </a:schemeClr>
                </a:solidFill>
              </a:rPr>
              <a:t>Architecture</a:t>
            </a:r>
          </a:p>
        </p:txBody>
      </p:sp>
      <p:sp>
        <p:nvSpPr>
          <p:cNvPr id="16" name="TextBox 15">
            <a:extLst>
              <a:ext uri="{FF2B5EF4-FFF2-40B4-BE49-F238E27FC236}">
                <a16:creationId xmlns:a16="http://schemas.microsoft.com/office/drawing/2014/main" id="{6BAFF60D-FB7E-4849-9134-02BD3DFCB61F}"/>
              </a:ext>
            </a:extLst>
          </p:cNvPr>
          <p:cNvSpPr txBox="1"/>
          <p:nvPr/>
        </p:nvSpPr>
        <p:spPr>
          <a:xfrm>
            <a:off x="6083869" y="2720789"/>
            <a:ext cx="1032976" cy="40011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Process</a:t>
            </a:r>
          </a:p>
          <a:p>
            <a:pPr algn="ctr">
              <a:lnSpc>
                <a:spcPts val="1200"/>
              </a:lnSpc>
            </a:pPr>
            <a:r>
              <a:rPr lang="en-US" sz="1200" dirty="0">
                <a:solidFill>
                  <a:schemeClr val="accent1">
                    <a:lumMod val="50000"/>
                  </a:schemeClr>
                </a:solidFill>
              </a:rPr>
              <a:t>Improvement</a:t>
            </a:r>
          </a:p>
        </p:txBody>
      </p:sp>
      <p:sp>
        <p:nvSpPr>
          <p:cNvPr id="17" name="Rectangle 16">
            <a:extLst>
              <a:ext uri="{FF2B5EF4-FFF2-40B4-BE49-F238E27FC236}">
                <a16:creationId xmlns:a16="http://schemas.microsoft.com/office/drawing/2014/main" id="{26CD2315-C790-4746-AC4C-B80B543C9881}"/>
              </a:ext>
            </a:extLst>
          </p:cNvPr>
          <p:cNvSpPr/>
          <p:nvPr/>
        </p:nvSpPr>
        <p:spPr>
          <a:xfrm>
            <a:off x="3554495" y="2711264"/>
            <a:ext cx="2362200" cy="523220"/>
          </a:xfrm>
          <a:prstGeom prst="rect">
            <a:avLst/>
          </a:prstGeom>
        </p:spPr>
        <p:txBody>
          <a:bodyPr wrap="square">
            <a:spAutoFit/>
          </a:bodyPr>
          <a:lstStyle/>
          <a:p>
            <a:r>
              <a:rPr lang="en-US" sz="1400" b="1" dirty="0">
                <a:solidFill>
                  <a:schemeClr val="bg1">
                    <a:lumMod val="65000"/>
                  </a:schemeClr>
                </a:solidFill>
              </a:rPr>
              <a:t>Do not develop a process for its own sake, for a ‘gram</a:t>
            </a:r>
          </a:p>
        </p:txBody>
      </p:sp>
      <p:sp>
        <p:nvSpPr>
          <p:cNvPr id="18" name="Rectangle 17">
            <a:extLst>
              <a:ext uri="{FF2B5EF4-FFF2-40B4-BE49-F238E27FC236}">
                <a16:creationId xmlns:a16="http://schemas.microsoft.com/office/drawing/2014/main" id="{7560CFE1-7DB9-4047-9F54-415AE520E391}"/>
              </a:ext>
            </a:extLst>
          </p:cNvPr>
          <p:cNvSpPr/>
          <p:nvPr/>
        </p:nvSpPr>
        <p:spPr>
          <a:xfrm>
            <a:off x="3653705" y="3320329"/>
            <a:ext cx="2438400" cy="523220"/>
          </a:xfrm>
          <a:prstGeom prst="rect">
            <a:avLst/>
          </a:prstGeom>
        </p:spPr>
        <p:txBody>
          <a:bodyPr wrap="square">
            <a:spAutoFit/>
          </a:bodyPr>
          <a:lstStyle/>
          <a:p>
            <a:r>
              <a:rPr lang="en-US" sz="1400" b="1" dirty="0">
                <a:solidFill>
                  <a:schemeClr val="bg1">
                    <a:lumMod val="65000"/>
                  </a:schemeClr>
                </a:solidFill>
              </a:rPr>
              <a:t>Do not reduce architecture </a:t>
            </a:r>
          </a:p>
          <a:p>
            <a:r>
              <a:rPr lang="en-US" sz="1400" b="1" dirty="0">
                <a:solidFill>
                  <a:schemeClr val="bg1">
                    <a:lumMod val="65000"/>
                  </a:schemeClr>
                </a:solidFill>
              </a:rPr>
              <a:t>to an option</a:t>
            </a:r>
          </a:p>
        </p:txBody>
      </p:sp>
    </p:spTree>
    <p:extLst>
      <p:ext uri="{BB962C8B-B14F-4D97-AF65-F5344CB8AC3E}">
        <p14:creationId xmlns:p14="http://schemas.microsoft.com/office/powerpoint/2010/main" val="4028436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2E51296B-F09F-47BA-B749-01F0768F5DB3}"/>
              </a:ext>
            </a:extLst>
          </p:cNvPr>
          <p:cNvGrpSpPr/>
          <p:nvPr/>
        </p:nvGrpSpPr>
        <p:grpSpPr>
          <a:xfrm>
            <a:off x="143745" y="98148"/>
            <a:ext cx="335559" cy="369332"/>
            <a:chOff x="369116" y="375299"/>
            <a:chExt cx="335559" cy="369332"/>
          </a:xfrm>
        </p:grpSpPr>
        <p:sp>
          <p:nvSpPr>
            <p:cNvPr id="7" name="Oval 6">
              <a:extLst>
                <a:ext uri="{FF2B5EF4-FFF2-40B4-BE49-F238E27FC236}">
                  <a16:creationId xmlns:a16="http://schemas.microsoft.com/office/drawing/2014/main" id="{D716B59E-88A0-47FA-87E5-3B64DE0BCA0A}"/>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68EFEC9-C482-42B0-89C8-C7D5257CB3BE}"/>
                </a:ext>
              </a:extLst>
            </p:cNvPr>
            <p:cNvSpPr txBox="1"/>
            <p:nvPr/>
          </p:nvSpPr>
          <p:spPr>
            <a:xfrm>
              <a:off x="394601" y="375299"/>
              <a:ext cx="301686" cy="369332"/>
            </a:xfrm>
            <a:prstGeom prst="rect">
              <a:avLst/>
            </a:prstGeom>
            <a:noFill/>
          </p:spPr>
          <p:txBody>
            <a:bodyPr wrap="none" rtlCol="0">
              <a:spAutoFit/>
            </a:bodyPr>
            <a:lstStyle/>
            <a:p>
              <a:r>
                <a:rPr lang="en-US" dirty="0"/>
                <a:t>5</a:t>
              </a:r>
            </a:p>
          </p:txBody>
        </p:sp>
      </p:grpSp>
      <p:sp>
        <p:nvSpPr>
          <p:cNvPr id="12" name="Rectangle 11">
            <a:extLst>
              <a:ext uri="{FF2B5EF4-FFF2-40B4-BE49-F238E27FC236}">
                <a16:creationId xmlns:a16="http://schemas.microsoft.com/office/drawing/2014/main" id="{C1EB3EC3-2BE8-4BFF-B51D-4B6F4988DFDF}"/>
              </a:ext>
            </a:extLst>
          </p:cNvPr>
          <p:cNvSpPr/>
          <p:nvPr/>
        </p:nvSpPr>
        <p:spPr>
          <a:xfrm>
            <a:off x="1752600" y="98148"/>
            <a:ext cx="8686800" cy="6652270"/>
          </a:xfrm>
          <a:prstGeom prst="rect">
            <a:avLst/>
          </a:prstGeom>
        </p:spPr>
        <p:txBody>
          <a:bodyPr wrap="square">
            <a:spAutoFit/>
          </a:bodyPr>
          <a:lstStyle/>
          <a:p>
            <a:pPr>
              <a:tabLst>
                <a:tab pos="2398713" algn="l"/>
              </a:tabLst>
            </a:pPr>
            <a:r>
              <a:rPr lang="en-US" sz="2400" dirty="0"/>
              <a:t>Referring to pictorial in Description Of Term Project suggesting to remove all barriers between theory and practice. “It is your responsibility to immediately apply whatever was covered during lectures”. In this course we covered all phases of a product life cycle and we also learned many tangible skills. </a:t>
            </a:r>
          </a:p>
          <a:p>
            <a:pPr>
              <a:tabLst>
                <a:tab pos="2398713" algn="l"/>
              </a:tabLst>
            </a:pPr>
            <a:endParaRPr lang="en-US" sz="2400" dirty="0"/>
          </a:p>
          <a:p>
            <a:pPr>
              <a:tabLst>
                <a:tab pos="2398713" algn="l"/>
              </a:tabLst>
            </a:pPr>
            <a:r>
              <a:rPr lang="en-US" sz="2400" dirty="0"/>
              <a:t>Please indicate in which module a particular skill was covered.</a:t>
            </a:r>
          </a:p>
          <a:p>
            <a:pPr>
              <a:tabLst>
                <a:tab pos="2398713" algn="l"/>
              </a:tabLst>
            </a:pPr>
            <a:endParaRPr lang="en-US" sz="1000" dirty="0"/>
          </a:p>
          <a:p>
            <a:pPr>
              <a:lnSpc>
                <a:spcPct val="150000"/>
              </a:lnSpc>
              <a:tabLst>
                <a:tab pos="2398713" algn="l"/>
              </a:tabLst>
            </a:pPr>
            <a:r>
              <a:rPr lang="en-US" sz="2400" dirty="0">
                <a:solidFill>
                  <a:srgbClr val="FF0000"/>
                </a:solidFill>
              </a:rPr>
              <a:t>Skill: How to write a requirement in canonical form.</a:t>
            </a:r>
          </a:p>
          <a:p>
            <a:pPr>
              <a:lnSpc>
                <a:spcPct val="150000"/>
              </a:lnSpc>
              <a:tabLst>
                <a:tab pos="2398713" algn="l"/>
              </a:tabLst>
            </a:pPr>
            <a:r>
              <a:rPr lang="en-US" sz="2400" dirty="0">
                <a:solidFill>
                  <a:schemeClr val="accent6"/>
                </a:solidFill>
              </a:rPr>
              <a:t>Skill: How to give a formal comment during a peer review.</a:t>
            </a:r>
          </a:p>
          <a:p>
            <a:pPr>
              <a:lnSpc>
                <a:spcPct val="150000"/>
              </a:lnSpc>
              <a:tabLst>
                <a:tab pos="2398713" algn="l"/>
              </a:tabLst>
            </a:pPr>
            <a:r>
              <a:rPr lang="en-US" sz="2400" dirty="0">
                <a:solidFill>
                  <a:srgbClr val="00B0F0"/>
                </a:solidFill>
              </a:rPr>
              <a:t>Skill : How to document a defect</a:t>
            </a:r>
          </a:p>
          <a:p>
            <a:pPr>
              <a:lnSpc>
                <a:spcPct val="150000"/>
              </a:lnSpc>
              <a:tabLst>
                <a:tab pos="2398713" algn="l"/>
              </a:tabLst>
            </a:pPr>
            <a:r>
              <a:rPr lang="en-US" sz="2400" dirty="0">
                <a:solidFill>
                  <a:srgbClr val="00B0F0"/>
                </a:solidFill>
              </a:rPr>
              <a:t>Skill: How to develop a use case</a:t>
            </a:r>
          </a:p>
          <a:p>
            <a:pPr>
              <a:lnSpc>
                <a:spcPct val="150000"/>
              </a:lnSpc>
              <a:tabLst>
                <a:tab pos="2398713" algn="l"/>
              </a:tabLst>
            </a:pPr>
            <a:r>
              <a:rPr lang="en-US" sz="2400" dirty="0">
                <a:solidFill>
                  <a:srgbClr val="00B050"/>
                </a:solidFill>
              </a:rPr>
              <a:t>Skill: How to record a test case</a:t>
            </a:r>
          </a:p>
          <a:p>
            <a:pPr>
              <a:lnSpc>
                <a:spcPct val="150000"/>
              </a:lnSpc>
              <a:tabLst>
                <a:tab pos="2398713" algn="l"/>
              </a:tabLst>
            </a:pPr>
            <a:r>
              <a:rPr lang="en-US" sz="2400" dirty="0">
                <a:solidFill>
                  <a:srgbClr val="FF0000"/>
                </a:solidFill>
              </a:rPr>
              <a:t>Skill: How to perform a consistent assessment </a:t>
            </a:r>
          </a:p>
          <a:p>
            <a:pPr>
              <a:lnSpc>
                <a:spcPct val="150000"/>
              </a:lnSpc>
              <a:tabLst>
                <a:tab pos="2398713" algn="l"/>
              </a:tabLst>
            </a:pPr>
            <a:r>
              <a:rPr lang="en-US" sz="2400" dirty="0">
                <a:solidFill>
                  <a:srgbClr val="FF0000"/>
                </a:solidFill>
              </a:rPr>
              <a:t>of several diverse teams</a:t>
            </a:r>
          </a:p>
        </p:txBody>
      </p:sp>
    </p:spTree>
    <p:extLst>
      <p:ext uri="{BB962C8B-B14F-4D97-AF65-F5344CB8AC3E}">
        <p14:creationId xmlns:p14="http://schemas.microsoft.com/office/powerpoint/2010/main" val="4165858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E6EF33B-C250-4834-9F6F-97CE1D42E324}"/>
              </a:ext>
            </a:extLst>
          </p:cNvPr>
          <p:cNvSpPr/>
          <p:nvPr/>
        </p:nvSpPr>
        <p:spPr>
          <a:xfrm>
            <a:off x="1934778" y="2017113"/>
            <a:ext cx="7903044" cy="1477328"/>
          </a:xfrm>
          <a:prstGeom prst="rect">
            <a:avLst/>
          </a:prstGeom>
        </p:spPr>
        <p:txBody>
          <a:bodyPr wrap="square">
            <a:spAutoFit/>
          </a:bodyPr>
          <a:lstStyle/>
          <a:p>
            <a:r>
              <a:rPr lang="en-US" u="sng" dirty="0"/>
              <a:t>Question. </a:t>
            </a:r>
            <a:r>
              <a:rPr lang="en-US" dirty="0"/>
              <a:t>Why in module # 3 Agile is juxtaposed with Peer Reviews?</a:t>
            </a:r>
          </a:p>
          <a:p>
            <a:endParaRPr lang="en-US" dirty="0"/>
          </a:p>
          <a:p>
            <a:endParaRPr lang="en-US" dirty="0"/>
          </a:p>
          <a:p>
            <a:r>
              <a:rPr lang="en-US" u="sng" dirty="0"/>
              <a:t>Answer. </a:t>
            </a:r>
            <a:r>
              <a:rPr lang="en-US" dirty="0"/>
              <a:t>Because both these techniques, Agile and Peer Review - are bottom-up as they de-emphasize the management role.</a:t>
            </a:r>
          </a:p>
        </p:txBody>
      </p:sp>
      <p:grpSp>
        <p:nvGrpSpPr>
          <p:cNvPr id="5" name="Group 4">
            <a:extLst>
              <a:ext uri="{FF2B5EF4-FFF2-40B4-BE49-F238E27FC236}">
                <a16:creationId xmlns:a16="http://schemas.microsoft.com/office/drawing/2014/main" id="{7BC492EA-10BC-4829-81C0-59530994A377}"/>
              </a:ext>
            </a:extLst>
          </p:cNvPr>
          <p:cNvGrpSpPr/>
          <p:nvPr/>
        </p:nvGrpSpPr>
        <p:grpSpPr>
          <a:xfrm>
            <a:off x="174604" y="147180"/>
            <a:ext cx="335559" cy="369332"/>
            <a:chOff x="369116" y="375299"/>
            <a:chExt cx="335559" cy="369332"/>
          </a:xfrm>
        </p:grpSpPr>
        <p:sp>
          <p:nvSpPr>
            <p:cNvPr id="6" name="Oval 5">
              <a:extLst>
                <a:ext uri="{FF2B5EF4-FFF2-40B4-BE49-F238E27FC236}">
                  <a16:creationId xmlns:a16="http://schemas.microsoft.com/office/drawing/2014/main" id="{44D4C46F-FBCE-4AEB-BE5E-A582E62A1D7D}"/>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D415B3D-3B26-42FB-B6DA-3C06BDF0CFA8}"/>
                </a:ext>
              </a:extLst>
            </p:cNvPr>
            <p:cNvSpPr txBox="1"/>
            <p:nvPr/>
          </p:nvSpPr>
          <p:spPr>
            <a:xfrm>
              <a:off x="394601" y="375299"/>
              <a:ext cx="301686" cy="369332"/>
            </a:xfrm>
            <a:prstGeom prst="rect">
              <a:avLst/>
            </a:prstGeom>
            <a:noFill/>
          </p:spPr>
          <p:txBody>
            <a:bodyPr wrap="none" rtlCol="0">
              <a:spAutoFit/>
            </a:bodyPr>
            <a:lstStyle/>
            <a:p>
              <a:r>
                <a:rPr lang="en-US" dirty="0"/>
                <a:t>6</a:t>
              </a:r>
            </a:p>
          </p:txBody>
        </p:sp>
      </p:grpSp>
    </p:spTree>
    <p:extLst>
      <p:ext uri="{BB962C8B-B14F-4D97-AF65-F5344CB8AC3E}">
        <p14:creationId xmlns:p14="http://schemas.microsoft.com/office/powerpoint/2010/main" val="35271350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TotalTime>
  <Words>406</Words>
  <Application>Microsoft Office PowerPoint</Application>
  <PresentationFormat>Widescreen</PresentationFormat>
  <Paragraphs>45</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Alex Elentukh</dc:creator>
  <cp:lastModifiedBy>Alex Elentukh</cp:lastModifiedBy>
  <cp:revision>17</cp:revision>
  <dcterms:created xsi:type="dcterms:W3CDTF">2025-09-17T02:23:28Z</dcterms:created>
  <dcterms:modified xsi:type="dcterms:W3CDTF">2025-10-13T02:38:53Z</dcterms:modified>
</cp:coreProperties>
</file>