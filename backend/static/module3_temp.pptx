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2" y="15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430E-0C14-4779-90EA-EDE70E0A3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15004-56D3-4530-B02E-933E8FDD9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89A47-33D8-4BC3-9AFC-9F80285B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2591A-90C7-4109-9CB3-917463648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0ADB0-BC73-400D-9243-D70FA896D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8C1CA-ADDD-408D-822D-EE9462EB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ECAA-101A-4A86-8981-A2BE6D860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6E2D5-2175-42B1-8C6E-032A339D2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2F3F7-1A04-45E0-A013-3EBECA1F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7E0AD-8F77-4E62-9CB5-6B091BB5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3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55BF-01DD-4A4C-A344-97D557BA1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87561-A204-4596-8E15-E8844953E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0353E-995A-4340-B53D-0C08B1C4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FA2C4-2078-4CFC-8571-CC21AC61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8976F-D94E-4D8A-9EE7-E165DA40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86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6786-0589-4519-88F3-8BC1971A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1B85D-5BE7-412D-9FD5-893051763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A64DF-5364-4DF2-8CE9-2650A318B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74275-6160-49BE-9B78-0C5C2148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80AEC-A618-4A2E-BB9A-D04E62BE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9E9CF-1E5C-42AD-A1C4-15E66EC2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9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B921-1768-4C70-A081-9ED10E4B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DADB7-4A21-47D2-82D1-EEDA9039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D6C46-41BD-4C97-9899-ED13E2E45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C3B2A-29CC-4EA1-AC4D-00D56FE38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F0630-BBA5-4E49-A56F-47ABE6ABA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EDF45B-DB08-4990-98EB-58B9DE3B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910E93-91D0-4E12-B867-AC70A024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105E7-46AB-4827-B6D5-53456AED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0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4518-08B3-44DA-890A-88AF5827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7FD31-F04E-4FC3-9032-6578601C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795B2-51E0-4A4C-A905-7D79D850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2158D-063C-40F1-946C-450FF5D7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3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223F14-36B9-4F3B-91AD-22D17B7F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930E5-373E-4312-AA2D-576168A2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6834-B28B-405D-BF94-69C50D45A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7036-E8AF-4F47-8700-3AEDCE64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7A818-A9AC-4F9D-BD81-B3C7FCF6F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5C4B4-D67F-4C5C-A225-DED95F7F7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E1D50-F959-4ADB-B7E0-21BEFDC5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AAE9B-70B3-4D80-823F-C28F9F2F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DB69B-A212-4B52-BC9D-DD3701FB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20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DEC6C-2E8F-42DD-852D-89D13CAA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8A430-D085-4BC4-BE56-E77307104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055DA-A209-405A-BBA7-CA222CF3B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74A62-D133-4A2A-AE45-501D343A8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3C2CE-2837-456B-B7E4-5BFD3979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8D466-A4C1-4601-BAB9-E81785D3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1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B347-1D97-433A-98A8-8232827A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8D241-1CD7-46D0-970E-15D6BF9D3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CEB93-0F69-4C25-A777-B2064747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0A3E1-CA6D-4B8B-8710-BB1A9426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87906-8A38-4B8C-B352-366FC8018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7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BE5F74-6490-4E94-9966-CEBF0C427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0C57E-679F-499E-A59A-4AC82F491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0BA3E-BF26-452E-A1CC-9103F04F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D9670-D7F1-434E-837E-1634F8F9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987BD-E0BB-4FF0-A937-37F93EB20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9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2BC254-C447-4262-B1B8-C54B7B45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5201D-31DB-4142-A9E4-2351BF2A7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CE78D-8372-4D06-9F39-FFD013246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495BC-B0F0-4740-8A08-4EF0FB1F306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C0C76-A06B-4364-8685-BFEB79CED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88A5E-2E25-4140-84EC-83040D091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7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9BF99F9-DB7F-48E2-9D32-B37B1776157A}"/>
              </a:ext>
            </a:extLst>
          </p:cNvPr>
          <p:cNvGrpSpPr/>
          <p:nvPr/>
        </p:nvGrpSpPr>
        <p:grpSpPr>
          <a:xfrm>
            <a:off x="169800" y="91156"/>
            <a:ext cx="335559" cy="369332"/>
            <a:chOff x="369116" y="375299"/>
            <a:chExt cx="335559" cy="36933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D4F379B-4899-4BBF-A6BC-A4D677B2189A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48F9F7-234A-4A7F-B37F-25682104D3E0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660B32E4-AAD3-4CD0-8958-63E72C584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9505" y="3605463"/>
            <a:ext cx="1752600" cy="1981200"/>
          </a:xfrm>
          <a:prstGeom prst="rect">
            <a:avLst/>
          </a:prstGeom>
          <a:noFill/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81666C79-595C-4109-B6EC-F8F8E1B20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83505" y="2262438"/>
            <a:ext cx="6134100" cy="4162425"/>
          </a:xfrm>
          <a:prstGeom prst="rect">
            <a:avLst/>
          </a:prstGeom>
          <a:noFill/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9A4E3B7A-A3F1-4226-9BF3-4F8BC4CFE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91753" y="3644346"/>
            <a:ext cx="1367751" cy="1903956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D7C5A0-EC79-4ECD-B4A5-C4923FD6ABC1}"/>
              </a:ext>
            </a:extLst>
          </p:cNvPr>
          <p:cNvSpPr/>
          <p:nvPr/>
        </p:nvSpPr>
        <p:spPr>
          <a:xfrm>
            <a:off x="2230008" y="557282"/>
            <a:ext cx="70481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Defect Prevention through </a:t>
            </a:r>
            <a:r>
              <a:rPr lang="en-US" sz="3200" b="1" dirty="0">
                <a:solidFill>
                  <a:srgbClr val="C00000"/>
                </a:solidFill>
              </a:rPr>
              <a:t>Peer Reviews</a:t>
            </a:r>
          </a:p>
        </p:txBody>
      </p:sp>
    </p:spTree>
    <p:extLst>
      <p:ext uri="{BB962C8B-B14F-4D97-AF65-F5344CB8AC3E}">
        <p14:creationId xmlns:p14="http://schemas.microsoft.com/office/powerpoint/2010/main" val="350988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CFF47B3-377A-44B4-A9EA-ECF5D7908826}"/>
              </a:ext>
            </a:extLst>
          </p:cNvPr>
          <p:cNvGrpSpPr/>
          <p:nvPr/>
        </p:nvGrpSpPr>
        <p:grpSpPr>
          <a:xfrm>
            <a:off x="164814" y="92935"/>
            <a:ext cx="335559" cy="369332"/>
            <a:chOff x="369116" y="375299"/>
            <a:chExt cx="335559" cy="36933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98C9148-4896-482E-9BC1-B7F77722A829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CED1D0-8825-4A2D-BBDF-53659BB5A61D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pic>
        <p:nvPicPr>
          <p:cNvPr id="8" name="Picture 1">
            <a:extLst>
              <a:ext uri="{FF2B5EF4-FFF2-40B4-BE49-F238E27FC236}">
                <a16:creationId xmlns:a16="http://schemas.microsoft.com/office/drawing/2014/main" id="{EDB7BA17-0CC9-4BD0-96B5-B518C02F3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1680" y="1665481"/>
            <a:ext cx="7445457" cy="5160434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2330519-F356-4788-B8C1-8B8D0D6846EA}"/>
              </a:ext>
            </a:extLst>
          </p:cNvPr>
          <p:cNvSpPr/>
          <p:nvPr/>
        </p:nvSpPr>
        <p:spPr>
          <a:xfrm>
            <a:off x="946484" y="-87924"/>
            <a:ext cx="11149263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Swim Lanes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Here is the workflow for one peer review. Could not overstate the importance of activity (3) "Preparation". It is much too often I have seen folks arrive at a meeting without a thorough examination of an artifact. Moderator is encouraged to postpone a meeting if preparation appears to be inadequate.</a:t>
            </a:r>
          </a:p>
        </p:txBody>
      </p:sp>
    </p:spTree>
    <p:extLst>
      <p:ext uri="{BB962C8B-B14F-4D97-AF65-F5344CB8AC3E}">
        <p14:creationId xmlns:p14="http://schemas.microsoft.com/office/powerpoint/2010/main" val="354026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833D082-F3B5-4AF3-B1E2-B61785F10E9E}"/>
              </a:ext>
            </a:extLst>
          </p:cNvPr>
          <p:cNvGrpSpPr/>
          <p:nvPr/>
        </p:nvGrpSpPr>
        <p:grpSpPr>
          <a:xfrm>
            <a:off x="153605" y="145106"/>
            <a:ext cx="335559" cy="369332"/>
            <a:chOff x="369116" y="375299"/>
            <a:chExt cx="335559" cy="36933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EB117B2-B40C-4CD1-9C58-A36211000B73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9DC16D9-3812-4744-870D-66AC78368DCD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55F1A07-657F-4555-AD27-386D2F18E2C7}"/>
              </a:ext>
            </a:extLst>
          </p:cNvPr>
          <p:cNvSpPr txBox="1"/>
          <p:nvPr/>
        </p:nvSpPr>
        <p:spPr>
          <a:xfrm>
            <a:off x="4412097" y="3549316"/>
            <a:ext cx="692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Peer 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Reviews</a:t>
            </a:r>
          </a:p>
        </p:txBody>
      </p:sp>
      <p:sp>
        <p:nvSpPr>
          <p:cNvPr id="15" name="Rounded Rectangle 25">
            <a:extLst>
              <a:ext uri="{FF2B5EF4-FFF2-40B4-BE49-F238E27FC236}">
                <a16:creationId xmlns:a16="http://schemas.microsoft.com/office/drawing/2014/main" id="{D1E71D26-D4AA-42A5-9019-64684EBA6D6B}"/>
              </a:ext>
            </a:extLst>
          </p:cNvPr>
          <p:cNvSpPr/>
          <p:nvPr/>
        </p:nvSpPr>
        <p:spPr>
          <a:xfrm>
            <a:off x="4247147" y="3473116"/>
            <a:ext cx="990600" cy="5334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30">
            <a:extLst>
              <a:ext uri="{FF2B5EF4-FFF2-40B4-BE49-F238E27FC236}">
                <a16:creationId xmlns:a16="http://schemas.microsoft.com/office/drawing/2014/main" id="{5790FC7C-AE42-48B1-9E05-64DC865D84C4}"/>
              </a:ext>
            </a:extLst>
          </p:cNvPr>
          <p:cNvSpPr/>
          <p:nvPr/>
        </p:nvSpPr>
        <p:spPr>
          <a:xfrm>
            <a:off x="4247147" y="2863516"/>
            <a:ext cx="990600" cy="5334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8D1A81-0330-4A7E-B13F-8B7068B79276}"/>
              </a:ext>
            </a:extLst>
          </p:cNvPr>
          <p:cNvSpPr txBox="1"/>
          <p:nvPr/>
        </p:nvSpPr>
        <p:spPr>
          <a:xfrm>
            <a:off x="4399547" y="3015916"/>
            <a:ext cx="762000" cy="248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Agile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B366C-88A9-44F8-8A93-047EA7C791E0}"/>
              </a:ext>
            </a:extLst>
          </p:cNvPr>
          <p:cNvSpPr txBox="1"/>
          <p:nvPr/>
        </p:nvSpPr>
        <p:spPr>
          <a:xfrm>
            <a:off x="5313947" y="2939716"/>
            <a:ext cx="2027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Wisdom of vertical slices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68CC9E-D0B7-48D7-BE45-160323F292CA}"/>
              </a:ext>
            </a:extLst>
          </p:cNvPr>
          <p:cNvSpPr txBox="1"/>
          <p:nvPr/>
        </p:nvSpPr>
        <p:spPr>
          <a:xfrm>
            <a:off x="5360843" y="3549316"/>
            <a:ext cx="2611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It is cheaper to find defects early</a:t>
            </a:r>
          </a:p>
        </p:txBody>
      </p:sp>
    </p:spTree>
    <p:extLst>
      <p:ext uri="{BB962C8B-B14F-4D97-AF65-F5344CB8AC3E}">
        <p14:creationId xmlns:p14="http://schemas.microsoft.com/office/powerpoint/2010/main" val="426567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5D54BB5-45F1-4549-8CDA-938E85C75A48}"/>
              </a:ext>
            </a:extLst>
          </p:cNvPr>
          <p:cNvGrpSpPr/>
          <p:nvPr/>
        </p:nvGrpSpPr>
        <p:grpSpPr>
          <a:xfrm>
            <a:off x="220174" y="168646"/>
            <a:ext cx="335559" cy="369332"/>
            <a:chOff x="369116" y="375299"/>
            <a:chExt cx="335559" cy="36933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6B6ABFB-0587-43A2-95FC-FB57C6F98FDF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421CAC-5AD4-40A1-BC99-C7B4C2313F1C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A3D25AB-7BA6-485C-A718-D6870810A4A6}"/>
              </a:ext>
            </a:extLst>
          </p:cNvPr>
          <p:cNvSpPr txBox="1"/>
          <p:nvPr/>
        </p:nvSpPr>
        <p:spPr>
          <a:xfrm>
            <a:off x="4437163" y="3597442"/>
            <a:ext cx="692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Peer 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Reviews</a:t>
            </a:r>
          </a:p>
        </p:txBody>
      </p:sp>
      <p:sp>
        <p:nvSpPr>
          <p:cNvPr id="14" name="Rounded Rectangle 25">
            <a:extLst>
              <a:ext uri="{FF2B5EF4-FFF2-40B4-BE49-F238E27FC236}">
                <a16:creationId xmlns:a16="http://schemas.microsoft.com/office/drawing/2014/main" id="{F1784D44-3E5C-43DF-BBA4-96C5F8B11B91}"/>
              </a:ext>
            </a:extLst>
          </p:cNvPr>
          <p:cNvSpPr/>
          <p:nvPr/>
        </p:nvSpPr>
        <p:spPr>
          <a:xfrm>
            <a:off x="4272213" y="3521242"/>
            <a:ext cx="990600" cy="5334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30">
            <a:extLst>
              <a:ext uri="{FF2B5EF4-FFF2-40B4-BE49-F238E27FC236}">
                <a16:creationId xmlns:a16="http://schemas.microsoft.com/office/drawing/2014/main" id="{4AFA5CA9-3F50-48B1-9FA5-D38A95FD3C45}"/>
              </a:ext>
            </a:extLst>
          </p:cNvPr>
          <p:cNvSpPr/>
          <p:nvPr/>
        </p:nvSpPr>
        <p:spPr>
          <a:xfrm>
            <a:off x="4272213" y="2911642"/>
            <a:ext cx="990600" cy="5334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FC666-930D-43E2-8A67-FE371E7C1F89}"/>
              </a:ext>
            </a:extLst>
          </p:cNvPr>
          <p:cNvSpPr txBox="1"/>
          <p:nvPr/>
        </p:nvSpPr>
        <p:spPr>
          <a:xfrm>
            <a:off x="4424613" y="3064042"/>
            <a:ext cx="762000" cy="248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Agile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A380EF-2B7A-47D6-8437-C6CA454FFE38}"/>
              </a:ext>
            </a:extLst>
          </p:cNvPr>
          <p:cNvSpPr txBox="1"/>
          <p:nvPr/>
        </p:nvSpPr>
        <p:spPr>
          <a:xfrm>
            <a:off x="5385909" y="2987842"/>
            <a:ext cx="3175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Do not extend a sprint. Ship increments.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5194B2-69B1-451C-87A0-8E09B13268D9}"/>
              </a:ext>
            </a:extLst>
          </p:cNvPr>
          <p:cNvSpPr txBox="1"/>
          <p:nvPr/>
        </p:nvSpPr>
        <p:spPr>
          <a:xfrm>
            <a:off x="5385909" y="3521242"/>
            <a:ext cx="2672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Do not defend your work product</a:t>
            </a:r>
          </a:p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Do not take a personal credit</a:t>
            </a:r>
          </a:p>
        </p:txBody>
      </p:sp>
    </p:spTree>
    <p:extLst>
      <p:ext uri="{BB962C8B-B14F-4D97-AF65-F5344CB8AC3E}">
        <p14:creationId xmlns:p14="http://schemas.microsoft.com/office/powerpoint/2010/main" val="4028436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E51296B-F09F-47BA-B749-01F0768F5DB3}"/>
              </a:ext>
            </a:extLst>
          </p:cNvPr>
          <p:cNvGrpSpPr/>
          <p:nvPr/>
        </p:nvGrpSpPr>
        <p:grpSpPr>
          <a:xfrm>
            <a:off x="143745" y="98148"/>
            <a:ext cx="335559" cy="369332"/>
            <a:chOff x="369116" y="375299"/>
            <a:chExt cx="335559" cy="3693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716B59E-88A0-47FA-87E5-3B64DE0BCA0A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8EFEC9-C482-42B0-89C8-C7D5257CB3BE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5E3D77C-55B7-4298-9B50-B6B1160B8A3D}"/>
              </a:ext>
            </a:extLst>
          </p:cNvPr>
          <p:cNvSpPr/>
          <p:nvPr/>
        </p:nvSpPr>
        <p:spPr>
          <a:xfrm>
            <a:off x="2418348" y="649705"/>
            <a:ext cx="8686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Suppose we are standing in front of a deployment effort of peer reviews across a large organization. Trying to decide where to start the adoption. Here are several considerations. It is best to start adoption where the success of a venture is most promising, where the common understanding of defects (and a standard of excellence) are most clear. </a:t>
            </a:r>
          </a:p>
          <a:p>
            <a:endParaRPr lang="en-US" sz="2400" dirty="0"/>
          </a:p>
          <a:p>
            <a:r>
              <a:rPr lang="en-US" sz="2400" dirty="0"/>
              <a:t>Should the adoption start with,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D3B936-48EC-43E0-AFCD-1A79099D1DD5}"/>
              </a:ext>
            </a:extLst>
          </p:cNvPr>
          <p:cNvSpPr/>
          <p:nvPr/>
        </p:nvSpPr>
        <p:spPr>
          <a:xfrm>
            <a:off x="2570748" y="3621505"/>
            <a:ext cx="3504293" cy="294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lphaLcParenR"/>
            </a:pPr>
            <a:r>
              <a:rPr lang="en-US" sz="2400" b="1" dirty="0">
                <a:solidFill>
                  <a:srgbClr val="FF0000"/>
                </a:solidFill>
              </a:rPr>
              <a:t>Product Requirements</a:t>
            </a:r>
          </a:p>
          <a:p>
            <a:pPr marL="457200" indent="-457200">
              <a:lnSpc>
                <a:spcPct val="200000"/>
              </a:lnSpc>
              <a:buFont typeface="+mj-lt"/>
              <a:buAutoNum type="alphaLcParenR"/>
            </a:pPr>
            <a:r>
              <a:rPr lang="en-US" sz="2400" b="1" dirty="0">
                <a:solidFill>
                  <a:srgbClr val="7030A0"/>
                </a:solidFill>
              </a:rPr>
              <a:t>Code</a:t>
            </a:r>
          </a:p>
          <a:p>
            <a:pPr marL="457200" indent="-457200">
              <a:lnSpc>
                <a:spcPct val="200000"/>
              </a:lnSpc>
              <a:buFont typeface="+mj-lt"/>
              <a:buAutoNum type="alphaLcParenR"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Test Plans</a:t>
            </a:r>
          </a:p>
          <a:p>
            <a:pPr marL="457200" indent="-457200">
              <a:lnSpc>
                <a:spcPct val="200000"/>
              </a:lnSpc>
              <a:buFont typeface="+mj-lt"/>
              <a:buAutoNum type="alphaLcParenR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65858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6EF33B-C250-4834-9F6F-97CE1D42E324}"/>
              </a:ext>
            </a:extLst>
          </p:cNvPr>
          <p:cNvSpPr/>
          <p:nvPr/>
        </p:nvSpPr>
        <p:spPr>
          <a:xfrm>
            <a:off x="1934778" y="2017113"/>
            <a:ext cx="79030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u="sng" dirty="0"/>
              <a:t>Question. </a:t>
            </a:r>
            <a:r>
              <a:rPr lang="en-US" dirty="0"/>
              <a:t>Can an Author play these roles: Moderator, Reader, Recorder?</a:t>
            </a:r>
          </a:p>
          <a:p>
            <a:endParaRPr lang="en-US" dirty="0"/>
          </a:p>
          <a:p>
            <a:r>
              <a:rPr lang="en-US" u="sng" dirty="0"/>
              <a:t>Answer. </a:t>
            </a:r>
            <a:r>
              <a:rPr lang="en-US" dirty="0"/>
              <a:t>Recommendation has always been, "first, try it by the book". You should get a glimpse, a taste for all techniques that we cover during lectures. You might very well like them and you might even find them indispensable. As a first step, you follow the exact steps and roles, as we discuss in the class, so to develop an appreciation for the process. As a second step, you should tailor the process to your specifics. Both steps are important.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BC492EA-10BC-4829-81C0-59530994A377}"/>
              </a:ext>
            </a:extLst>
          </p:cNvPr>
          <p:cNvGrpSpPr/>
          <p:nvPr/>
        </p:nvGrpSpPr>
        <p:grpSpPr>
          <a:xfrm>
            <a:off x="174604" y="147180"/>
            <a:ext cx="335559" cy="369332"/>
            <a:chOff x="369116" y="375299"/>
            <a:chExt cx="335559" cy="36933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4D4C46F-FBCE-4AEB-BE5E-A582E62A1D7D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415B3D-3B26-42FB-B6DA-3C06BDF0CFA8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7135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294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Elentukh</dc:creator>
  <cp:lastModifiedBy>Alex Elentukh</cp:lastModifiedBy>
  <cp:revision>18</cp:revision>
  <dcterms:created xsi:type="dcterms:W3CDTF">2025-09-17T02:23:28Z</dcterms:created>
  <dcterms:modified xsi:type="dcterms:W3CDTF">2025-10-12T16:51:16Z</dcterms:modified>
</cp:coreProperties>
</file>