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2" y="15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7430E-0C14-4779-90EA-EDE70E0A3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15004-56D3-4530-B02E-933E8FDD9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89A47-33D8-4BC3-9AFC-9F80285B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591A-90C7-4109-9CB3-917463648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0ADB0-BC73-400D-9243-D70FA896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8C1CA-ADDD-408D-822D-EE9462EB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ECAA-101A-4A86-8981-A2BE6D860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6E2D5-2175-42B1-8C6E-032A339D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2F3F7-1A04-45E0-A013-3EBECA1F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7E0AD-8F77-4E62-9CB5-6B091BB5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3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55BF-01DD-4A4C-A344-97D557BA1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87561-A204-4596-8E15-E8844953E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353E-995A-4340-B53D-0C08B1C4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FA2C4-2078-4CFC-8571-CC21AC619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976F-D94E-4D8A-9EE7-E165DA40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8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6786-0589-4519-88F3-8BC1971A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B85D-5BE7-412D-9FD5-893051763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A64DF-5364-4DF2-8CE9-2650A318B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74275-6160-49BE-9B78-0C5C2148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80AEC-A618-4A2E-BB9A-D04E62BE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9E9CF-1E5C-42AD-A1C4-15E66EC2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9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B921-1768-4C70-A081-9ED10E4B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DADB7-4A21-47D2-82D1-EEDA9039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D6C46-41BD-4C97-9899-ED13E2E45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C3B2A-29CC-4EA1-AC4D-00D56FE38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F0630-BBA5-4E49-A56F-47ABE6ABA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EDF45B-DB08-4990-98EB-58B9DE3B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910E93-91D0-4E12-B867-AC70A024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105E7-46AB-4827-B6D5-53456AED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0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4518-08B3-44DA-890A-88AF5827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7FD31-F04E-4FC3-9032-6578601C8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795B2-51E0-4A4C-A905-7D79D850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2158D-063C-40F1-946C-450FF5D7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3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23F14-36B9-4F3B-91AD-22D17B7F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930E5-373E-4312-AA2D-576168A2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6834-B28B-405D-BF94-69C50D45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7036-E8AF-4F47-8700-3AEDCE64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7A818-A9AC-4F9D-BD81-B3C7FCF6F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5C4B4-D67F-4C5C-A225-DED95F7F7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E1D50-F959-4ADB-B7E0-21BEFDC5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AAE9B-70B3-4D80-823F-C28F9F2F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DB69B-A212-4B52-BC9D-DD3701FB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20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EC6C-2E8F-42DD-852D-89D13CAA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8A430-D085-4BC4-BE56-E77307104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055DA-A209-405A-BBA7-CA222CF3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74A62-D133-4A2A-AE45-501D343A8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3C2CE-2837-456B-B7E4-5BFD3979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8D466-A4C1-4601-BAB9-E81785D3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1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B347-1D97-433A-98A8-8232827A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8D241-1CD7-46D0-970E-15D6BF9D3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CEB93-0F69-4C25-A777-B2064747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0A3E1-CA6D-4B8B-8710-BB1A94268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87906-8A38-4B8C-B352-366FC801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7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BE5F74-6490-4E94-9966-CEBF0C427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0C57E-679F-499E-A59A-4AC82F491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0BA3E-BF26-452E-A1CC-9103F04F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D9670-D7F1-434E-837E-1634F8F9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87BD-E0BB-4FF0-A937-37F93EB2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9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2BC254-C447-4262-B1B8-C54B7B45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5201D-31DB-4142-A9E4-2351BF2A7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CE78D-8372-4D06-9F39-FFD013246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495BC-B0F0-4740-8A08-4EF0FB1F306C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C0C76-A06B-4364-8685-BFEB79CED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88A5E-2E25-4140-84EC-83040D091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2225C-A4C6-4098-84E6-B8E2DBF4C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7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9BF99F9-DB7F-48E2-9D32-B37B1776157A}"/>
              </a:ext>
            </a:extLst>
          </p:cNvPr>
          <p:cNvGrpSpPr/>
          <p:nvPr/>
        </p:nvGrpSpPr>
        <p:grpSpPr>
          <a:xfrm>
            <a:off x="169800" y="91156"/>
            <a:ext cx="335559" cy="369332"/>
            <a:chOff x="369116" y="375299"/>
            <a:chExt cx="335559" cy="36933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D4F379B-4899-4BBF-A6BC-A4D677B2189A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48F9F7-234A-4A7F-B37F-25682104D3E0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F1F5A7-88F2-440F-9B24-16135EA00DEA}"/>
              </a:ext>
            </a:extLst>
          </p:cNvPr>
          <p:cNvSpPr txBox="1"/>
          <p:nvPr/>
        </p:nvSpPr>
        <p:spPr>
          <a:xfrm>
            <a:off x="2623631" y="533400"/>
            <a:ext cx="5784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Three Gurus of Estimation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CDEEC594-DC6A-4A00-85EB-68BC0252A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9933" y="1506129"/>
            <a:ext cx="7111878" cy="48184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9887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CFF47B3-377A-44B4-A9EA-ECF5D7908826}"/>
              </a:ext>
            </a:extLst>
          </p:cNvPr>
          <p:cNvGrpSpPr/>
          <p:nvPr/>
        </p:nvGrpSpPr>
        <p:grpSpPr>
          <a:xfrm>
            <a:off x="164814" y="92935"/>
            <a:ext cx="335559" cy="369332"/>
            <a:chOff x="369116" y="375299"/>
            <a:chExt cx="335559" cy="36933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98C9148-4896-482E-9BC1-B7F77722A829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CED1D0-8825-4A2D-BBDF-53659BB5A61D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</p:grpSp>
      <p:pic>
        <p:nvPicPr>
          <p:cNvPr id="7" name="Picture 4">
            <a:extLst>
              <a:ext uri="{FF2B5EF4-FFF2-40B4-BE49-F238E27FC236}">
                <a16:creationId xmlns:a16="http://schemas.microsoft.com/office/drawing/2014/main" id="{E672FB13-C16A-4EB7-823C-B693F3D9F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0358" y="1749779"/>
            <a:ext cx="6629400" cy="4246960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3215B8F-10CA-4CAF-B109-5DA50BA6A010}"/>
              </a:ext>
            </a:extLst>
          </p:cNvPr>
          <p:cNvSpPr/>
          <p:nvPr/>
        </p:nvSpPr>
        <p:spPr>
          <a:xfrm>
            <a:off x="1950061" y="861261"/>
            <a:ext cx="59176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Estimation Framework - Three Buckets</a:t>
            </a:r>
          </a:p>
        </p:txBody>
      </p:sp>
    </p:spTree>
    <p:extLst>
      <p:ext uri="{BB962C8B-B14F-4D97-AF65-F5344CB8AC3E}">
        <p14:creationId xmlns:p14="http://schemas.microsoft.com/office/powerpoint/2010/main" val="354026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833D082-F3B5-4AF3-B1E2-B61785F10E9E}"/>
              </a:ext>
            </a:extLst>
          </p:cNvPr>
          <p:cNvGrpSpPr/>
          <p:nvPr/>
        </p:nvGrpSpPr>
        <p:grpSpPr>
          <a:xfrm>
            <a:off x="153605" y="145106"/>
            <a:ext cx="335559" cy="369332"/>
            <a:chOff x="369116" y="375299"/>
            <a:chExt cx="335559" cy="36933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EB117B2-B40C-4CD1-9C58-A36211000B73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DC16D9-3812-4744-870D-66AC78368DCD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B1FD053B-B0B8-42B0-B4A5-061A9A90003D}"/>
              </a:ext>
            </a:extLst>
          </p:cNvPr>
          <p:cNvSpPr/>
          <p:nvPr/>
        </p:nvSpPr>
        <p:spPr>
          <a:xfrm>
            <a:off x="4228116" y="3168316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01859-5E71-4401-9EC6-C82650965E69}"/>
              </a:ext>
            </a:extLst>
          </p:cNvPr>
          <p:cNvSpPr txBox="1"/>
          <p:nvPr/>
        </p:nvSpPr>
        <p:spPr>
          <a:xfrm>
            <a:off x="4260387" y="2576218"/>
            <a:ext cx="10320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Software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Configuration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F772D-EB19-45B5-BDB1-DA1CC09C705A}"/>
              </a:ext>
            </a:extLst>
          </p:cNvPr>
          <p:cNvSpPr txBox="1"/>
          <p:nvPr/>
        </p:nvSpPr>
        <p:spPr>
          <a:xfrm>
            <a:off x="4304316" y="3320716"/>
            <a:ext cx="849977" cy="2484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Estimation</a:t>
            </a:r>
          </a:p>
        </p:txBody>
      </p:sp>
      <p:sp>
        <p:nvSpPr>
          <p:cNvPr id="11" name="Rounded Rectangle 19">
            <a:extLst>
              <a:ext uri="{FF2B5EF4-FFF2-40B4-BE49-F238E27FC236}">
                <a16:creationId xmlns:a16="http://schemas.microsoft.com/office/drawing/2014/main" id="{6F836CEA-026C-4820-AF99-15AE6E307704}"/>
              </a:ext>
            </a:extLst>
          </p:cNvPr>
          <p:cNvSpPr/>
          <p:nvPr/>
        </p:nvSpPr>
        <p:spPr>
          <a:xfrm>
            <a:off x="4228116" y="2558716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36B4FE-D2AB-4FB6-AFE0-CBDB0D189402}"/>
              </a:ext>
            </a:extLst>
          </p:cNvPr>
          <p:cNvSpPr txBox="1"/>
          <p:nvPr/>
        </p:nvSpPr>
        <p:spPr>
          <a:xfrm>
            <a:off x="5366084" y="2652508"/>
            <a:ext cx="1946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Identification , Control, </a:t>
            </a:r>
          </a:p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Auditing, Reporting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7CC4C3-4E90-405C-BD7C-AD1D6DE319E0}"/>
              </a:ext>
            </a:extLst>
          </p:cNvPr>
          <p:cNvSpPr txBox="1"/>
          <p:nvPr/>
        </p:nvSpPr>
        <p:spPr>
          <a:xfrm>
            <a:off x="5366084" y="3320716"/>
            <a:ext cx="22015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Precision equal to accuracy</a:t>
            </a:r>
          </a:p>
        </p:txBody>
      </p:sp>
    </p:spTree>
    <p:extLst>
      <p:ext uri="{BB962C8B-B14F-4D97-AF65-F5344CB8AC3E}">
        <p14:creationId xmlns:p14="http://schemas.microsoft.com/office/powerpoint/2010/main" val="426567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5D54BB5-45F1-4549-8CDA-938E85C75A48}"/>
              </a:ext>
            </a:extLst>
          </p:cNvPr>
          <p:cNvGrpSpPr/>
          <p:nvPr/>
        </p:nvGrpSpPr>
        <p:grpSpPr>
          <a:xfrm>
            <a:off x="220174" y="168646"/>
            <a:ext cx="335559" cy="369332"/>
            <a:chOff x="369116" y="375299"/>
            <a:chExt cx="335559" cy="36933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6B6ABFB-0587-43A2-95FC-FB57C6F98FDF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421CAC-5AD4-40A1-BC99-C7B4C2313F1C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</p:grpSp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9BE2A26C-BFA9-4433-A9A3-D4B18F300E83}"/>
              </a:ext>
            </a:extLst>
          </p:cNvPr>
          <p:cNvSpPr/>
          <p:nvPr/>
        </p:nvSpPr>
        <p:spPr>
          <a:xfrm>
            <a:off x="4023554" y="3184376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AD3A19-2A2D-478D-8BF9-24DA25F64E68}"/>
              </a:ext>
            </a:extLst>
          </p:cNvPr>
          <p:cNvSpPr txBox="1"/>
          <p:nvPr/>
        </p:nvSpPr>
        <p:spPr>
          <a:xfrm>
            <a:off x="4018522" y="2574776"/>
            <a:ext cx="103201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Software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Configuration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AB113-C10E-42D4-BC30-BBB987633542}"/>
              </a:ext>
            </a:extLst>
          </p:cNvPr>
          <p:cNvSpPr txBox="1"/>
          <p:nvPr/>
        </p:nvSpPr>
        <p:spPr>
          <a:xfrm>
            <a:off x="4099754" y="3336776"/>
            <a:ext cx="849977" cy="2484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Estimation</a:t>
            </a:r>
          </a:p>
        </p:txBody>
      </p:sp>
      <p:sp>
        <p:nvSpPr>
          <p:cNvPr id="11" name="Rounded Rectangle 19">
            <a:extLst>
              <a:ext uri="{FF2B5EF4-FFF2-40B4-BE49-F238E27FC236}">
                <a16:creationId xmlns:a16="http://schemas.microsoft.com/office/drawing/2014/main" id="{6F8A72DD-4E3C-4E98-90F9-DC45A045BECE}"/>
              </a:ext>
            </a:extLst>
          </p:cNvPr>
          <p:cNvSpPr/>
          <p:nvPr/>
        </p:nvSpPr>
        <p:spPr>
          <a:xfrm>
            <a:off x="4023554" y="2574776"/>
            <a:ext cx="990600" cy="5334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BA7B9D-CFBE-4E71-A3D7-EF1402216620}"/>
              </a:ext>
            </a:extLst>
          </p:cNvPr>
          <p:cNvSpPr txBox="1"/>
          <p:nvPr/>
        </p:nvSpPr>
        <p:spPr>
          <a:xfrm>
            <a:off x="5081337" y="2293007"/>
            <a:ext cx="22097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Do not make a version -     a part of file’s name</a:t>
            </a:r>
          </a:p>
          <a:p>
            <a:endParaRPr lang="en-US" sz="14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Do not accumulate changes before implementing them</a:t>
            </a:r>
          </a:p>
          <a:p>
            <a:endParaRPr lang="en-US" sz="1400" b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Do not average estimates</a:t>
            </a:r>
          </a:p>
        </p:txBody>
      </p:sp>
    </p:spTree>
    <p:extLst>
      <p:ext uri="{BB962C8B-B14F-4D97-AF65-F5344CB8AC3E}">
        <p14:creationId xmlns:p14="http://schemas.microsoft.com/office/powerpoint/2010/main" val="402843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E51296B-F09F-47BA-B749-01F0768F5DB3}"/>
              </a:ext>
            </a:extLst>
          </p:cNvPr>
          <p:cNvGrpSpPr/>
          <p:nvPr/>
        </p:nvGrpSpPr>
        <p:grpSpPr>
          <a:xfrm>
            <a:off x="143745" y="98148"/>
            <a:ext cx="335559" cy="369332"/>
            <a:chOff x="369116" y="375299"/>
            <a:chExt cx="335559" cy="36933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716B59E-88A0-47FA-87E5-3B64DE0BCA0A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8EFEC9-C482-42B0-89C8-C7D5257CB3BE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66A62C-E3AE-49D9-B2F8-AA7DFC762C41}"/>
              </a:ext>
            </a:extLst>
          </p:cNvPr>
          <p:cNvSpPr/>
          <p:nvPr/>
        </p:nvSpPr>
        <p:spPr>
          <a:xfrm>
            <a:off x="1957133" y="168442"/>
            <a:ext cx="845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logical conclusion can you derive from the chart below? Select one among these three options.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B9930FF-6671-4769-B36E-E1B13FE7D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85933" y="749467"/>
            <a:ext cx="669607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A5B1ACF-C1FC-4A63-A3FD-60F95BFD41B4}"/>
              </a:ext>
            </a:extLst>
          </p:cNvPr>
          <p:cNvSpPr/>
          <p:nvPr/>
        </p:nvSpPr>
        <p:spPr>
          <a:xfrm>
            <a:off x="1957133" y="5197642"/>
            <a:ext cx="8458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US" sz="1400" dirty="0"/>
              <a:t>Since 'discovery rate' keeps rising, we should slow down the testing effort and then ship the product.</a:t>
            </a:r>
          </a:p>
          <a:p>
            <a:pPr marL="342900" indent="-342900">
              <a:buFont typeface="+mj-lt"/>
              <a:buAutoNum type="alphaLcParenR"/>
            </a:pPr>
            <a:endParaRPr lang="en-US" sz="1400" dirty="0"/>
          </a:p>
          <a:p>
            <a:pPr marL="342900" indent="-342900">
              <a:buFont typeface="+mj-lt"/>
              <a:buAutoNum type="alphaLcParenR"/>
            </a:pPr>
            <a:r>
              <a:rPr lang="en-US" sz="1400" dirty="0"/>
              <a:t>Since the 'closure rate' is approximately equal to the 'discovery rate' and the number of outstanding defects is below acceptable limit, the product could be shipped.</a:t>
            </a:r>
          </a:p>
          <a:p>
            <a:pPr marL="342900" indent="-342900">
              <a:buFont typeface="+mj-lt"/>
              <a:buAutoNum type="alphaLcParenR"/>
            </a:pPr>
            <a:endParaRPr lang="en-US" sz="1400" dirty="0"/>
          </a:p>
          <a:p>
            <a:pPr marL="342900" indent="-342900">
              <a:buFont typeface="+mj-lt"/>
              <a:buAutoNum type="alphaLcParenR"/>
            </a:pPr>
            <a:r>
              <a:rPr lang="en-US" sz="1400" dirty="0"/>
              <a:t>The product is not ready for shipment</a:t>
            </a:r>
          </a:p>
        </p:txBody>
      </p:sp>
    </p:spTree>
    <p:extLst>
      <p:ext uri="{BB962C8B-B14F-4D97-AF65-F5344CB8AC3E}">
        <p14:creationId xmlns:p14="http://schemas.microsoft.com/office/powerpoint/2010/main" val="416585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E6EF33B-C250-4834-9F6F-97CE1D42E324}"/>
              </a:ext>
            </a:extLst>
          </p:cNvPr>
          <p:cNvSpPr/>
          <p:nvPr/>
        </p:nvSpPr>
        <p:spPr>
          <a:xfrm>
            <a:off x="1934778" y="2017113"/>
            <a:ext cx="79030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u="sng" dirty="0"/>
              <a:t>Question. </a:t>
            </a:r>
            <a:r>
              <a:rPr lang="en-US" dirty="0"/>
              <a:t>Should I take the role on a project that I am most comfortable with or a role that I am interested to learn about ?</a:t>
            </a:r>
          </a:p>
          <a:p>
            <a:endParaRPr lang="en-US" dirty="0"/>
          </a:p>
          <a:p>
            <a:r>
              <a:rPr lang="en-US" u="sng" dirty="0"/>
              <a:t>Answer. </a:t>
            </a:r>
            <a:r>
              <a:rPr lang="en-US" dirty="0"/>
              <a:t>You should take the role that you are most comfortable with. For example, if you are a professional </a:t>
            </a:r>
            <a:r>
              <a:rPr lang="en-US" dirty="0" err="1"/>
              <a:t>Ux</a:t>
            </a:r>
            <a:r>
              <a:rPr lang="en-US" dirty="0"/>
              <a:t> Engineer, you should design wireframes for the term project. The timeline is short, hence the way you learn here is through interacting with peers and through completing a useful app.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C492EA-10BC-4829-81C0-59530994A377}"/>
              </a:ext>
            </a:extLst>
          </p:cNvPr>
          <p:cNvGrpSpPr/>
          <p:nvPr/>
        </p:nvGrpSpPr>
        <p:grpSpPr>
          <a:xfrm>
            <a:off x="174604" y="147180"/>
            <a:ext cx="335559" cy="369332"/>
            <a:chOff x="369116" y="375299"/>
            <a:chExt cx="335559" cy="36933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4D4C46F-FBCE-4AEB-BE5E-A582E62A1D7D}"/>
                </a:ext>
              </a:extLst>
            </p:cNvPr>
            <p:cNvSpPr/>
            <p:nvPr/>
          </p:nvSpPr>
          <p:spPr>
            <a:xfrm>
              <a:off x="369116" y="411061"/>
              <a:ext cx="335559" cy="29780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415B3D-3B26-42FB-B6DA-3C06BDF0CFA8}"/>
                </a:ext>
              </a:extLst>
            </p:cNvPr>
            <p:cNvSpPr txBox="1"/>
            <p:nvPr/>
          </p:nvSpPr>
          <p:spPr>
            <a:xfrm>
              <a:off x="394601" y="37529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13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215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Elentukh</dc:creator>
  <cp:lastModifiedBy>Alex Elentukh</cp:lastModifiedBy>
  <cp:revision>15</cp:revision>
  <dcterms:created xsi:type="dcterms:W3CDTF">2025-09-17T02:23:28Z</dcterms:created>
  <dcterms:modified xsi:type="dcterms:W3CDTF">2025-10-12T01:05:10Z</dcterms:modified>
</cp:coreProperties>
</file>