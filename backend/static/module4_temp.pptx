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0" r:id="rId5"/>
    <p:sldId id="261" r:id="rId6"/>
    <p:sldId id="262"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95" autoAdjust="0"/>
    <p:restoredTop sz="94660"/>
  </p:normalViewPr>
  <p:slideViewPr>
    <p:cSldViewPr snapToGrid="0">
      <p:cViewPr varScale="1">
        <p:scale>
          <a:sx n="68" d="100"/>
          <a:sy n="68" d="100"/>
        </p:scale>
        <p:origin x="62" y="1591"/>
      </p:cViewPr>
      <p:guideLst/>
    </p:cSldViewPr>
  </p:slideViewPr>
  <p:notesTextViewPr>
    <p:cViewPr>
      <p:scale>
        <a:sx n="1" d="1"/>
        <a:sy n="1" d="1"/>
      </p:scale>
      <p:origin x="0" y="0"/>
    </p:cViewPr>
  </p:notesTextViewPr>
  <p:sorterViewPr>
    <p:cViewPr varScale="1">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C7430E-0C14-4779-90EA-EDE70E0A399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CB15004-56D3-4530-B02E-933E8FDD953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BE89A47-33D8-4BC3-9AFC-9F80285B5EBB}"/>
              </a:ext>
            </a:extLst>
          </p:cNvPr>
          <p:cNvSpPr>
            <a:spLocks noGrp="1"/>
          </p:cNvSpPr>
          <p:nvPr>
            <p:ph type="dt" sz="half" idx="10"/>
          </p:nvPr>
        </p:nvSpPr>
        <p:spPr/>
        <p:txBody>
          <a:bodyPr/>
          <a:lstStyle/>
          <a:p>
            <a:fld id="{0AC495BC-B0F0-4740-8A08-4EF0FB1F306C}" type="datetimeFigureOut">
              <a:rPr lang="en-US" smtClean="0"/>
              <a:t>10/12/2025</a:t>
            </a:fld>
            <a:endParaRPr lang="en-US"/>
          </a:p>
        </p:txBody>
      </p:sp>
      <p:sp>
        <p:nvSpPr>
          <p:cNvPr id="5" name="Footer Placeholder 4">
            <a:extLst>
              <a:ext uri="{FF2B5EF4-FFF2-40B4-BE49-F238E27FC236}">
                <a16:creationId xmlns:a16="http://schemas.microsoft.com/office/drawing/2014/main" id="{5702591A-90C7-4109-9CB3-9174636486F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FB0ADB0-BC73-400D-9243-D70FA896D835}"/>
              </a:ext>
            </a:extLst>
          </p:cNvPr>
          <p:cNvSpPr>
            <a:spLocks noGrp="1"/>
          </p:cNvSpPr>
          <p:nvPr>
            <p:ph type="sldNum" sz="quarter" idx="12"/>
          </p:nvPr>
        </p:nvSpPr>
        <p:spPr/>
        <p:txBody>
          <a:bodyPr/>
          <a:lstStyle/>
          <a:p>
            <a:fld id="{A642225C-A4C6-4098-84E6-B8E2DBF4C0DD}" type="slidenum">
              <a:rPr lang="en-US" smtClean="0"/>
              <a:t>‹#›</a:t>
            </a:fld>
            <a:endParaRPr lang="en-US"/>
          </a:p>
        </p:txBody>
      </p:sp>
    </p:spTree>
    <p:extLst>
      <p:ext uri="{BB962C8B-B14F-4D97-AF65-F5344CB8AC3E}">
        <p14:creationId xmlns:p14="http://schemas.microsoft.com/office/powerpoint/2010/main" val="4174813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98C1CA-ADDD-408D-822D-EE9462EBA12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059ECAA-101A-4A86-8981-A2BE6D860F1B}"/>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F06E2D5-2175-42B1-8C6E-032A339D278A}"/>
              </a:ext>
            </a:extLst>
          </p:cNvPr>
          <p:cNvSpPr>
            <a:spLocks noGrp="1"/>
          </p:cNvSpPr>
          <p:nvPr>
            <p:ph type="dt" sz="half" idx="10"/>
          </p:nvPr>
        </p:nvSpPr>
        <p:spPr/>
        <p:txBody>
          <a:bodyPr/>
          <a:lstStyle/>
          <a:p>
            <a:fld id="{0AC495BC-B0F0-4740-8A08-4EF0FB1F306C}" type="datetimeFigureOut">
              <a:rPr lang="en-US" smtClean="0"/>
              <a:t>10/12/2025</a:t>
            </a:fld>
            <a:endParaRPr lang="en-US"/>
          </a:p>
        </p:txBody>
      </p:sp>
      <p:sp>
        <p:nvSpPr>
          <p:cNvPr id="5" name="Footer Placeholder 4">
            <a:extLst>
              <a:ext uri="{FF2B5EF4-FFF2-40B4-BE49-F238E27FC236}">
                <a16:creationId xmlns:a16="http://schemas.microsoft.com/office/drawing/2014/main" id="{8F22F3F7-1A04-45E0-A013-3EBECA1F7C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E7E0AD-8F77-4E62-9CB5-6B091BB5D5FF}"/>
              </a:ext>
            </a:extLst>
          </p:cNvPr>
          <p:cNvSpPr>
            <a:spLocks noGrp="1"/>
          </p:cNvSpPr>
          <p:nvPr>
            <p:ph type="sldNum" sz="quarter" idx="12"/>
          </p:nvPr>
        </p:nvSpPr>
        <p:spPr/>
        <p:txBody>
          <a:bodyPr/>
          <a:lstStyle/>
          <a:p>
            <a:fld id="{A642225C-A4C6-4098-84E6-B8E2DBF4C0DD}" type="slidenum">
              <a:rPr lang="en-US" smtClean="0"/>
              <a:t>‹#›</a:t>
            </a:fld>
            <a:endParaRPr lang="en-US"/>
          </a:p>
        </p:txBody>
      </p:sp>
    </p:spTree>
    <p:extLst>
      <p:ext uri="{BB962C8B-B14F-4D97-AF65-F5344CB8AC3E}">
        <p14:creationId xmlns:p14="http://schemas.microsoft.com/office/powerpoint/2010/main" val="7297375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0655BF-01DD-4A4C-A344-97D557BA19D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7E87561-A204-4596-8E15-E8844953E00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1210353E-995A-4340-B53D-0C08B1C4ED31}"/>
              </a:ext>
            </a:extLst>
          </p:cNvPr>
          <p:cNvSpPr>
            <a:spLocks noGrp="1"/>
          </p:cNvSpPr>
          <p:nvPr>
            <p:ph type="dt" sz="half" idx="10"/>
          </p:nvPr>
        </p:nvSpPr>
        <p:spPr/>
        <p:txBody>
          <a:bodyPr/>
          <a:lstStyle/>
          <a:p>
            <a:fld id="{0AC495BC-B0F0-4740-8A08-4EF0FB1F306C}" type="datetimeFigureOut">
              <a:rPr lang="en-US" smtClean="0"/>
              <a:t>10/12/2025</a:t>
            </a:fld>
            <a:endParaRPr lang="en-US"/>
          </a:p>
        </p:txBody>
      </p:sp>
      <p:sp>
        <p:nvSpPr>
          <p:cNvPr id="5" name="Footer Placeholder 4">
            <a:extLst>
              <a:ext uri="{FF2B5EF4-FFF2-40B4-BE49-F238E27FC236}">
                <a16:creationId xmlns:a16="http://schemas.microsoft.com/office/drawing/2014/main" id="{2BFFA2C4-2078-4CFC-8571-CC21AC61902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B8976F-D94E-4D8A-9EE7-E165DA4072F0}"/>
              </a:ext>
            </a:extLst>
          </p:cNvPr>
          <p:cNvSpPr>
            <a:spLocks noGrp="1"/>
          </p:cNvSpPr>
          <p:nvPr>
            <p:ph type="sldNum" sz="quarter" idx="12"/>
          </p:nvPr>
        </p:nvSpPr>
        <p:spPr/>
        <p:txBody>
          <a:bodyPr/>
          <a:lstStyle/>
          <a:p>
            <a:fld id="{A642225C-A4C6-4098-84E6-B8E2DBF4C0DD}" type="slidenum">
              <a:rPr lang="en-US" smtClean="0"/>
              <a:t>‹#›</a:t>
            </a:fld>
            <a:endParaRPr lang="en-US"/>
          </a:p>
        </p:txBody>
      </p:sp>
    </p:spTree>
    <p:extLst>
      <p:ext uri="{BB962C8B-B14F-4D97-AF65-F5344CB8AC3E}">
        <p14:creationId xmlns:p14="http://schemas.microsoft.com/office/powerpoint/2010/main" val="28333864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76786-0589-4519-88F3-8BC1971A6B9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691B85D-5BE7-412D-9FD5-893051763BBE}"/>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ADA64DF-5364-4DF2-8CE9-2650A318B787}"/>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8074275-6160-49BE-9B78-0C5C21487915}"/>
              </a:ext>
            </a:extLst>
          </p:cNvPr>
          <p:cNvSpPr>
            <a:spLocks noGrp="1"/>
          </p:cNvSpPr>
          <p:nvPr>
            <p:ph type="dt" sz="half" idx="10"/>
          </p:nvPr>
        </p:nvSpPr>
        <p:spPr/>
        <p:txBody>
          <a:bodyPr/>
          <a:lstStyle/>
          <a:p>
            <a:fld id="{0AC495BC-B0F0-4740-8A08-4EF0FB1F306C}" type="datetimeFigureOut">
              <a:rPr lang="en-US" smtClean="0"/>
              <a:t>10/12/2025</a:t>
            </a:fld>
            <a:endParaRPr lang="en-US"/>
          </a:p>
        </p:txBody>
      </p:sp>
      <p:sp>
        <p:nvSpPr>
          <p:cNvPr id="6" name="Footer Placeholder 5">
            <a:extLst>
              <a:ext uri="{FF2B5EF4-FFF2-40B4-BE49-F238E27FC236}">
                <a16:creationId xmlns:a16="http://schemas.microsoft.com/office/drawing/2014/main" id="{A1F80AEC-A618-4A2E-BB9A-D04E62BEEBD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349E9CF-1E5C-42AD-A1C4-15E66EC229F9}"/>
              </a:ext>
            </a:extLst>
          </p:cNvPr>
          <p:cNvSpPr>
            <a:spLocks noGrp="1"/>
          </p:cNvSpPr>
          <p:nvPr>
            <p:ph type="sldNum" sz="quarter" idx="12"/>
          </p:nvPr>
        </p:nvSpPr>
        <p:spPr/>
        <p:txBody>
          <a:bodyPr/>
          <a:lstStyle/>
          <a:p>
            <a:fld id="{A642225C-A4C6-4098-84E6-B8E2DBF4C0DD}" type="slidenum">
              <a:rPr lang="en-US" smtClean="0"/>
              <a:t>‹#›</a:t>
            </a:fld>
            <a:endParaRPr lang="en-US"/>
          </a:p>
        </p:txBody>
      </p:sp>
    </p:spTree>
    <p:extLst>
      <p:ext uri="{BB962C8B-B14F-4D97-AF65-F5344CB8AC3E}">
        <p14:creationId xmlns:p14="http://schemas.microsoft.com/office/powerpoint/2010/main" val="15387924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B921-1768-4C70-A081-9ED10E4B6CA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D9DADB7-4A21-47D2-82D1-EEDA903973C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89DD6C46-41BD-4C97-9899-ED13E2E45C0E}"/>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6CC3B2A-29CC-4EA1-AC4D-00D56FE38D1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594F0630-BBA5-4E49-A56F-47ABE6ABA995}"/>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DEDF45B-DB08-4990-98EB-58B9DE3B4835}"/>
              </a:ext>
            </a:extLst>
          </p:cNvPr>
          <p:cNvSpPr>
            <a:spLocks noGrp="1"/>
          </p:cNvSpPr>
          <p:nvPr>
            <p:ph type="dt" sz="half" idx="10"/>
          </p:nvPr>
        </p:nvSpPr>
        <p:spPr/>
        <p:txBody>
          <a:bodyPr/>
          <a:lstStyle/>
          <a:p>
            <a:fld id="{0AC495BC-B0F0-4740-8A08-4EF0FB1F306C}" type="datetimeFigureOut">
              <a:rPr lang="en-US" smtClean="0"/>
              <a:t>10/12/2025</a:t>
            </a:fld>
            <a:endParaRPr lang="en-US"/>
          </a:p>
        </p:txBody>
      </p:sp>
      <p:sp>
        <p:nvSpPr>
          <p:cNvPr id="8" name="Footer Placeholder 7">
            <a:extLst>
              <a:ext uri="{FF2B5EF4-FFF2-40B4-BE49-F238E27FC236}">
                <a16:creationId xmlns:a16="http://schemas.microsoft.com/office/drawing/2014/main" id="{45910E93-91D0-4E12-B867-AC70A024C5E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A7105E7-46AB-4827-B6D5-53456AED4F20}"/>
              </a:ext>
            </a:extLst>
          </p:cNvPr>
          <p:cNvSpPr>
            <a:spLocks noGrp="1"/>
          </p:cNvSpPr>
          <p:nvPr>
            <p:ph type="sldNum" sz="quarter" idx="12"/>
          </p:nvPr>
        </p:nvSpPr>
        <p:spPr/>
        <p:txBody>
          <a:bodyPr/>
          <a:lstStyle/>
          <a:p>
            <a:fld id="{A642225C-A4C6-4098-84E6-B8E2DBF4C0DD}" type="slidenum">
              <a:rPr lang="en-US" smtClean="0"/>
              <a:t>‹#›</a:t>
            </a:fld>
            <a:endParaRPr lang="en-US"/>
          </a:p>
        </p:txBody>
      </p:sp>
    </p:spTree>
    <p:extLst>
      <p:ext uri="{BB962C8B-B14F-4D97-AF65-F5344CB8AC3E}">
        <p14:creationId xmlns:p14="http://schemas.microsoft.com/office/powerpoint/2010/main" val="8532087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024518-08B3-44DA-890A-88AF5827F7E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107FD31-F04E-4FC3-9032-6578601C8DCB}"/>
              </a:ext>
            </a:extLst>
          </p:cNvPr>
          <p:cNvSpPr>
            <a:spLocks noGrp="1"/>
          </p:cNvSpPr>
          <p:nvPr>
            <p:ph type="dt" sz="half" idx="10"/>
          </p:nvPr>
        </p:nvSpPr>
        <p:spPr/>
        <p:txBody>
          <a:bodyPr/>
          <a:lstStyle/>
          <a:p>
            <a:fld id="{0AC495BC-B0F0-4740-8A08-4EF0FB1F306C}" type="datetimeFigureOut">
              <a:rPr lang="en-US" smtClean="0"/>
              <a:t>10/12/2025</a:t>
            </a:fld>
            <a:endParaRPr lang="en-US"/>
          </a:p>
        </p:txBody>
      </p:sp>
      <p:sp>
        <p:nvSpPr>
          <p:cNvPr id="4" name="Footer Placeholder 3">
            <a:extLst>
              <a:ext uri="{FF2B5EF4-FFF2-40B4-BE49-F238E27FC236}">
                <a16:creationId xmlns:a16="http://schemas.microsoft.com/office/drawing/2014/main" id="{975795B2-51E0-4A4C-A905-7D79D850EE3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E32158D-063C-40F1-946C-450FF5D78506}"/>
              </a:ext>
            </a:extLst>
          </p:cNvPr>
          <p:cNvSpPr>
            <a:spLocks noGrp="1"/>
          </p:cNvSpPr>
          <p:nvPr>
            <p:ph type="sldNum" sz="quarter" idx="12"/>
          </p:nvPr>
        </p:nvSpPr>
        <p:spPr/>
        <p:txBody>
          <a:bodyPr/>
          <a:lstStyle/>
          <a:p>
            <a:fld id="{A642225C-A4C6-4098-84E6-B8E2DBF4C0DD}" type="slidenum">
              <a:rPr lang="en-US" smtClean="0"/>
              <a:t>‹#›</a:t>
            </a:fld>
            <a:endParaRPr lang="en-US"/>
          </a:p>
        </p:txBody>
      </p:sp>
    </p:spTree>
    <p:extLst>
      <p:ext uri="{BB962C8B-B14F-4D97-AF65-F5344CB8AC3E}">
        <p14:creationId xmlns:p14="http://schemas.microsoft.com/office/powerpoint/2010/main" val="22036345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A223F14-36B9-4F3B-91AD-22D17B7FC1E7}"/>
              </a:ext>
            </a:extLst>
          </p:cNvPr>
          <p:cNvSpPr>
            <a:spLocks noGrp="1"/>
          </p:cNvSpPr>
          <p:nvPr>
            <p:ph type="dt" sz="half" idx="10"/>
          </p:nvPr>
        </p:nvSpPr>
        <p:spPr/>
        <p:txBody>
          <a:bodyPr/>
          <a:lstStyle/>
          <a:p>
            <a:fld id="{0AC495BC-B0F0-4740-8A08-4EF0FB1F306C}" type="datetimeFigureOut">
              <a:rPr lang="en-US" smtClean="0"/>
              <a:t>10/12/2025</a:t>
            </a:fld>
            <a:endParaRPr lang="en-US"/>
          </a:p>
        </p:txBody>
      </p:sp>
      <p:sp>
        <p:nvSpPr>
          <p:cNvPr id="3" name="Footer Placeholder 2">
            <a:extLst>
              <a:ext uri="{FF2B5EF4-FFF2-40B4-BE49-F238E27FC236}">
                <a16:creationId xmlns:a16="http://schemas.microsoft.com/office/drawing/2014/main" id="{E97930E5-373E-4312-AA2D-576168A2E73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FC86834-B28B-405D-BF94-69C50D45AF7F}"/>
              </a:ext>
            </a:extLst>
          </p:cNvPr>
          <p:cNvSpPr>
            <a:spLocks noGrp="1"/>
          </p:cNvSpPr>
          <p:nvPr>
            <p:ph type="sldNum" sz="quarter" idx="12"/>
          </p:nvPr>
        </p:nvSpPr>
        <p:spPr/>
        <p:txBody>
          <a:bodyPr/>
          <a:lstStyle/>
          <a:p>
            <a:fld id="{A642225C-A4C6-4098-84E6-B8E2DBF4C0DD}" type="slidenum">
              <a:rPr lang="en-US" smtClean="0"/>
              <a:t>‹#›</a:t>
            </a:fld>
            <a:endParaRPr lang="en-US"/>
          </a:p>
        </p:txBody>
      </p:sp>
    </p:spTree>
    <p:extLst>
      <p:ext uri="{BB962C8B-B14F-4D97-AF65-F5344CB8AC3E}">
        <p14:creationId xmlns:p14="http://schemas.microsoft.com/office/powerpoint/2010/main" val="2666881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1A7036-E8AF-4F47-8700-3AEDCE6460D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747A818-A9AC-4F9D-BD81-B3C7FCF6FA0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BA5C4B4-D67F-4C5C-A225-DED95F7F70A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60CE1D50-F959-4ADB-B7E0-21BEFDC58112}"/>
              </a:ext>
            </a:extLst>
          </p:cNvPr>
          <p:cNvSpPr>
            <a:spLocks noGrp="1"/>
          </p:cNvSpPr>
          <p:nvPr>
            <p:ph type="dt" sz="half" idx="10"/>
          </p:nvPr>
        </p:nvSpPr>
        <p:spPr/>
        <p:txBody>
          <a:bodyPr/>
          <a:lstStyle/>
          <a:p>
            <a:fld id="{0AC495BC-B0F0-4740-8A08-4EF0FB1F306C}" type="datetimeFigureOut">
              <a:rPr lang="en-US" smtClean="0"/>
              <a:t>10/12/2025</a:t>
            </a:fld>
            <a:endParaRPr lang="en-US"/>
          </a:p>
        </p:txBody>
      </p:sp>
      <p:sp>
        <p:nvSpPr>
          <p:cNvPr id="6" name="Footer Placeholder 5">
            <a:extLst>
              <a:ext uri="{FF2B5EF4-FFF2-40B4-BE49-F238E27FC236}">
                <a16:creationId xmlns:a16="http://schemas.microsoft.com/office/drawing/2014/main" id="{0CDAAE9B-70B3-4D80-823F-C28F9F2F9B3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B2DB69B-A212-4B52-BC9D-DD3701FB547B}"/>
              </a:ext>
            </a:extLst>
          </p:cNvPr>
          <p:cNvSpPr>
            <a:spLocks noGrp="1"/>
          </p:cNvSpPr>
          <p:nvPr>
            <p:ph type="sldNum" sz="quarter" idx="12"/>
          </p:nvPr>
        </p:nvSpPr>
        <p:spPr/>
        <p:txBody>
          <a:bodyPr/>
          <a:lstStyle/>
          <a:p>
            <a:fld id="{A642225C-A4C6-4098-84E6-B8E2DBF4C0DD}" type="slidenum">
              <a:rPr lang="en-US" smtClean="0"/>
              <a:t>‹#›</a:t>
            </a:fld>
            <a:endParaRPr lang="en-US"/>
          </a:p>
        </p:txBody>
      </p:sp>
    </p:spTree>
    <p:extLst>
      <p:ext uri="{BB962C8B-B14F-4D97-AF65-F5344CB8AC3E}">
        <p14:creationId xmlns:p14="http://schemas.microsoft.com/office/powerpoint/2010/main" val="8500204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DEC6C-2E8F-42DD-852D-89D13CAADCD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788A430-D085-4BC4-BE56-E7730710404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59055DA-A209-405A-BBA7-CA222CF3B70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EF74A62-D133-4A2A-AE45-501D343A8F84}"/>
              </a:ext>
            </a:extLst>
          </p:cNvPr>
          <p:cNvSpPr>
            <a:spLocks noGrp="1"/>
          </p:cNvSpPr>
          <p:nvPr>
            <p:ph type="dt" sz="half" idx="10"/>
          </p:nvPr>
        </p:nvSpPr>
        <p:spPr/>
        <p:txBody>
          <a:bodyPr/>
          <a:lstStyle/>
          <a:p>
            <a:fld id="{0AC495BC-B0F0-4740-8A08-4EF0FB1F306C}" type="datetimeFigureOut">
              <a:rPr lang="en-US" smtClean="0"/>
              <a:t>10/12/2025</a:t>
            </a:fld>
            <a:endParaRPr lang="en-US"/>
          </a:p>
        </p:txBody>
      </p:sp>
      <p:sp>
        <p:nvSpPr>
          <p:cNvPr id="6" name="Footer Placeholder 5">
            <a:extLst>
              <a:ext uri="{FF2B5EF4-FFF2-40B4-BE49-F238E27FC236}">
                <a16:creationId xmlns:a16="http://schemas.microsoft.com/office/drawing/2014/main" id="{B853C2CE-2837-456B-B7E4-5BFD397913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518D466-A4C1-4601-BAB9-E81785D30DF8}"/>
              </a:ext>
            </a:extLst>
          </p:cNvPr>
          <p:cNvSpPr>
            <a:spLocks noGrp="1"/>
          </p:cNvSpPr>
          <p:nvPr>
            <p:ph type="sldNum" sz="quarter" idx="12"/>
          </p:nvPr>
        </p:nvSpPr>
        <p:spPr/>
        <p:txBody>
          <a:bodyPr/>
          <a:lstStyle/>
          <a:p>
            <a:fld id="{A642225C-A4C6-4098-84E6-B8E2DBF4C0DD}" type="slidenum">
              <a:rPr lang="en-US" smtClean="0"/>
              <a:t>‹#›</a:t>
            </a:fld>
            <a:endParaRPr lang="en-US"/>
          </a:p>
        </p:txBody>
      </p:sp>
    </p:spTree>
    <p:extLst>
      <p:ext uri="{BB962C8B-B14F-4D97-AF65-F5344CB8AC3E}">
        <p14:creationId xmlns:p14="http://schemas.microsoft.com/office/powerpoint/2010/main" val="11054125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88B347-1D97-433A-98A8-8232827A969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528D241-1CD7-46D0-970E-15D6BF9D3538}"/>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ACEB93-0F69-4C25-A777-B20647477BDC}"/>
              </a:ext>
            </a:extLst>
          </p:cNvPr>
          <p:cNvSpPr>
            <a:spLocks noGrp="1"/>
          </p:cNvSpPr>
          <p:nvPr>
            <p:ph type="dt" sz="half" idx="10"/>
          </p:nvPr>
        </p:nvSpPr>
        <p:spPr/>
        <p:txBody>
          <a:bodyPr/>
          <a:lstStyle/>
          <a:p>
            <a:fld id="{0AC495BC-B0F0-4740-8A08-4EF0FB1F306C}" type="datetimeFigureOut">
              <a:rPr lang="en-US" smtClean="0"/>
              <a:t>10/12/2025</a:t>
            </a:fld>
            <a:endParaRPr lang="en-US"/>
          </a:p>
        </p:txBody>
      </p:sp>
      <p:sp>
        <p:nvSpPr>
          <p:cNvPr id="5" name="Footer Placeholder 4">
            <a:extLst>
              <a:ext uri="{FF2B5EF4-FFF2-40B4-BE49-F238E27FC236}">
                <a16:creationId xmlns:a16="http://schemas.microsoft.com/office/drawing/2014/main" id="{40C0A3E1-CA6D-4B8B-8710-BB1A94268D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E87906-8A38-4B8C-B352-366FC801856E}"/>
              </a:ext>
            </a:extLst>
          </p:cNvPr>
          <p:cNvSpPr>
            <a:spLocks noGrp="1"/>
          </p:cNvSpPr>
          <p:nvPr>
            <p:ph type="sldNum" sz="quarter" idx="12"/>
          </p:nvPr>
        </p:nvSpPr>
        <p:spPr/>
        <p:txBody>
          <a:bodyPr/>
          <a:lstStyle/>
          <a:p>
            <a:fld id="{A642225C-A4C6-4098-84E6-B8E2DBF4C0DD}" type="slidenum">
              <a:rPr lang="en-US" smtClean="0"/>
              <a:t>‹#›</a:t>
            </a:fld>
            <a:endParaRPr lang="en-US"/>
          </a:p>
        </p:txBody>
      </p:sp>
    </p:spTree>
    <p:extLst>
      <p:ext uri="{BB962C8B-B14F-4D97-AF65-F5344CB8AC3E}">
        <p14:creationId xmlns:p14="http://schemas.microsoft.com/office/powerpoint/2010/main" val="35107740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BE5F74-6490-4E94-9966-CEBF0C427C3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DD0C57E-679F-499E-A59A-4AC82F491B87}"/>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F0BA3E-BF26-452E-A1CC-9103F04F1413}"/>
              </a:ext>
            </a:extLst>
          </p:cNvPr>
          <p:cNvSpPr>
            <a:spLocks noGrp="1"/>
          </p:cNvSpPr>
          <p:nvPr>
            <p:ph type="dt" sz="half" idx="10"/>
          </p:nvPr>
        </p:nvSpPr>
        <p:spPr/>
        <p:txBody>
          <a:bodyPr/>
          <a:lstStyle/>
          <a:p>
            <a:fld id="{0AC495BC-B0F0-4740-8A08-4EF0FB1F306C}" type="datetimeFigureOut">
              <a:rPr lang="en-US" smtClean="0"/>
              <a:t>10/12/2025</a:t>
            </a:fld>
            <a:endParaRPr lang="en-US"/>
          </a:p>
        </p:txBody>
      </p:sp>
      <p:sp>
        <p:nvSpPr>
          <p:cNvPr id="5" name="Footer Placeholder 4">
            <a:extLst>
              <a:ext uri="{FF2B5EF4-FFF2-40B4-BE49-F238E27FC236}">
                <a16:creationId xmlns:a16="http://schemas.microsoft.com/office/drawing/2014/main" id="{27FD9670-D7F1-434E-837E-1634F8F96BC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8A987BD-E0BB-4FF0-A937-37F93EB20D6E}"/>
              </a:ext>
            </a:extLst>
          </p:cNvPr>
          <p:cNvSpPr>
            <a:spLocks noGrp="1"/>
          </p:cNvSpPr>
          <p:nvPr>
            <p:ph type="sldNum" sz="quarter" idx="12"/>
          </p:nvPr>
        </p:nvSpPr>
        <p:spPr/>
        <p:txBody>
          <a:bodyPr/>
          <a:lstStyle/>
          <a:p>
            <a:fld id="{A642225C-A4C6-4098-84E6-B8E2DBF4C0DD}" type="slidenum">
              <a:rPr lang="en-US" smtClean="0"/>
              <a:t>‹#›</a:t>
            </a:fld>
            <a:endParaRPr lang="en-US"/>
          </a:p>
        </p:txBody>
      </p:sp>
    </p:spTree>
    <p:extLst>
      <p:ext uri="{BB962C8B-B14F-4D97-AF65-F5344CB8AC3E}">
        <p14:creationId xmlns:p14="http://schemas.microsoft.com/office/powerpoint/2010/main" val="40614990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32BC254-C447-4262-B1B8-C54B7B45502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A85201D-31DB-4142-A9E4-2351BF2A78D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5CE78D-8372-4D06-9F39-FFD0132465A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AC495BC-B0F0-4740-8A08-4EF0FB1F306C}" type="datetimeFigureOut">
              <a:rPr lang="en-US" smtClean="0"/>
              <a:t>10/12/2025</a:t>
            </a:fld>
            <a:endParaRPr lang="en-US"/>
          </a:p>
        </p:txBody>
      </p:sp>
      <p:sp>
        <p:nvSpPr>
          <p:cNvPr id="5" name="Footer Placeholder 4">
            <a:extLst>
              <a:ext uri="{FF2B5EF4-FFF2-40B4-BE49-F238E27FC236}">
                <a16:creationId xmlns:a16="http://schemas.microsoft.com/office/drawing/2014/main" id="{202C0C76-A06B-4364-8685-BFEB79CEDCA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FE88A5E-2E25-4140-84EC-83040D091C0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642225C-A4C6-4098-84E6-B8E2DBF4C0DD}" type="slidenum">
              <a:rPr lang="en-US" smtClean="0"/>
              <a:t>‹#›</a:t>
            </a:fld>
            <a:endParaRPr lang="en-US"/>
          </a:p>
        </p:txBody>
      </p:sp>
    </p:spTree>
    <p:extLst>
      <p:ext uri="{BB962C8B-B14F-4D97-AF65-F5344CB8AC3E}">
        <p14:creationId xmlns:p14="http://schemas.microsoft.com/office/powerpoint/2010/main" val="19289764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59BF99F9-DB7F-48E2-9D32-B37B1776157A}"/>
              </a:ext>
            </a:extLst>
          </p:cNvPr>
          <p:cNvGrpSpPr/>
          <p:nvPr/>
        </p:nvGrpSpPr>
        <p:grpSpPr>
          <a:xfrm>
            <a:off x="169800" y="91156"/>
            <a:ext cx="335559" cy="369332"/>
            <a:chOff x="369116" y="375299"/>
            <a:chExt cx="335559" cy="369332"/>
          </a:xfrm>
        </p:grpSpPr>
        <p:sp>
          <p:nvSpPr>
            <p:cNvPr id="5" name="Oval 4">
              <a:extLst>
                <a:ext uri="{FF2B5EF4-FFF2-40B4-BE49-F238E27FC236}">
                  <a16:creationId xmlns:a16="http://schemas.microsoft.com/office/drawing/2014/main" id="{BD4F379B-4899-4BBF-A6BC-A4D677B2189A}"/>
                </a:ext>
              </a:extLst>
            </p:cNvPr>
            <p:cNvSpPr/>
            <p:nvPr/>
          </p:nvSpPr>
          <p:spPr>
            <a:xfrm>
              <a:off x="369116" y="411061"/>
              <a:ext cx="335559" cy="297809"/>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4F48F9F7-234A-4A7F-B37F-25682104D3E0}"/>
                </a:ext>
              </a:extLst>
            </p:cNvPr>
            <p:cNvSpPr txBox="1"/>
            <p:nvPr/>
          </p:nvSpPr>
          <p:spPr>
            <a:xfrm>
              <a:off x="394601" y="375299"/>
              <a:ext cx="301686" cy="369332"/>
            </a:xfrm>
            <a:prstGeom prst="rect">
              <a:avLst/>
            </a:prstGeom>
            <a:noFill/>
          </p:spPr>
          <p:txBody>
            <a:bodyPr wrap="none" rtlCol="0">
              <a:spAutoFit/>
            </a:bodyPr>
            <a:lstStyle/>
            <a:p>
              <a:r>
                <a:rPr lang="en-US" dirty="0"/>
                <a:t>1</a:t>
              </a:r>
            </a:p>
          </p:txBody>
        </p:sp>
      </p:grpSp>
      <p:sp>
        <p:nvSpPr>
          <p:cNvPr id="50" name="TextBox 49">
            <a:extLst>
              <a:ext uri="{FF2B5EF4-FFF2-40B4-BE49-F238E27FC236}">
                <a16:creationId xmlns:a16="http://schemas.microsoft.com/office/drawing/2014/main" id="{0838214C-A1A7-42F9-99CD-013E7129E3BE}"/>
              </a:ext>
            </a:extLst>
          </p:cNvPr>
          <p:cNvSpPr txBox="1"/>
          <p:nvPr/>
        </p:nvSpPr>
        <p:spPr>
          <a:xfrm>
            <a:off x="195285" y="588252"/>
            <a:ext cx="10824411" cy="2277547"/>
          </a:xfrm>
          <a:prstGeom prst="rect">
            <a:avLst/>
          </a:prstGeom>
          <a:noFill/>
        </p:spPr>
        <p:txBody>
          <a:bodyPr wrap="square" rtlCol="0">
            <a:spAutoFit/>
          </a:bodyPr>
          <a:lstStyle/>
          <a:p>
            <a:r>
              <a:rPr lang="en-US" dirty="0"/>
              <a:t>During project presentation, first show a wireframe, then show the actual screenshot.</a:t>
            </a:r>
          </a:p>
          <a:p>
            <a:r>
              <a:rPr lang="en-US" dirty="0"/>
              <a:t>Identify the gap. Bring examples of a peer review comments that were implemented. These comments are crucial in explaining the team’s thought process.</a:t>
            </a:r>
          </a:p>
          <a:p>
            <a:endParaRPr lang="en-US" sz="800" dirty="0"/>
          </a:p>
          <a:p>
            <a:r>
              <a:rPr lang="en-US" dirty="0"/>
              <a:t>As a starting point, you need to prove that you did follow the peer review process. You need to demonstrate that you did not jump to building UI, without considering inputs from everyone.</a:t>
            </a:r>
          </a:p>
          <a:p>
            <a:endParaRPr lang="en-US" sz="800" dirty="0"/>
          </a:p>
          <a:p>
            <a:r>
              <a:rPr lang="en-US" dirty="0"/>
              <a:t>Alleviate dependency between Functionality and Colors. Disengage. Do one-thing-at-a-time.</a:t>
            </a:r>
          </a:p>
          <a:p>
            <a:r>
              <a:rPr lang="en-US" dirty="0"/>
              <a:t>Functionality – first. Colors – second.</a:t>
            </a:r>
          </a:p>
        </p:txBody>
      </p:sp>
      <p:sp>
        <p:nvSpPr>
          <p:cNvPr id="51" name="Rectangle 50">
            <a:extLst>
              <a:ext uri="{FF2B5EF4-FFF2-40B4-BE49-F238E27FC236}">
                <a16:creationId xmlns:a16="http://schemas.microsoft.com/office/drawing/2014/main" id="{E00AA41B-F3EC-4F98-9786-B94D91D4C046}"/>
              </a:ext>
            </a:extLst>
          </p:cNvPr>
          <p:cNvSpPr/>
          <p:nvPr/>
        </p:nvSpPr>
        <p:spPr>
          <a:xfrm>
            <a:off x="685800" y="5429071"/>
            <a:ext cx="3632072" cy="1015663"/>
          </a:xfrm>
          <a:prstGeom prst="rect">
            <a:avLst/>
          </a:prstGeom>
        </p:spPr>
        <p:txBody>
          <a:bodyPr wrap="square">
            <a:spAutoFit/>
          </a:bodyPr>
          <a:lstStyle/>
          <a:p>
            <a:r>
              <a:rPr lang="en-US" sz="1200" dirty="0"/>
              <a:t>Each time the functionality is changed, it triggers the corresponding change in details and color. It’s ineffective to keep reviewing all together. The shorter path is to converge on functionality and then adjust details and color to match the functionality.</a:t>
            </a:r>
          </a:p>
        </p:txBody>
      </p:sp>
      <p:pic>
        <p:nvPicPr>
          <p:cNvPr id="52" name="Picture 2">
            <a:extLst>
              <a:ext uri="{FF2B5EF4-FFF2-40B4-BE49-F238E27FC236}">
                <a16:creationId xmlns:a16="http://schemas.microsoft.com/office/drawing/2014/main" id="{86478A16-DE65-4D03-AAE6-3290987CE93A}"/>
              </a:ext>
            </a:extLst>
          </p:cNvPr>
          <p:cNvPicPr>
            <a:picLocks noChangeAspect="1" noChangeArrowheads="1"/>
          </p:cNvPicPr>
          <p:nvPr/>
        </p:nvPicPr>
        <p:blipFill>
          <a:blip r:embed="rId2" cstate="print"/>
          <a:srcRect/>
          <a:stretch>
            <a:fillRect/>
          </a:stretch>
        </p:blipFill>
        <p:spPr bwMode="auto">
          <a:xfrm>
            <a:off x="5105399" y="3447871"/>
            <a:ext cx="3817803" cy="2295525"/>
          </a:xfrm>
          <a:prstGeom prst="rect">
            <a:avLst/>
          </a:prstGeom>
          <a:noFill/>
          <a:ln w="9525">
            <a:noFill/>
            <a:miter lim="800000"/>
            <a:headEnd/>
            <a:tailEnd/>
          </a:ln>
          <a:effectLst/>
        </p:spPr>
      </p:pic>
      <p:pic>
        <p:nvPicPr>
          <p:cNvPr id="53" name="Picture 3">
            <a:extLst>
              <a:ext uri="{FF2B5EF4-FFF2-40B4-BE49-F238E27FC236}">
                <a16:creationId xmlns:a16="http://schemas.microsoft.com/office/drawing/2014/main" id="{7DC48BF5-D622-41AD-B467-3E13FB63C692}"/>
              </a:ext>
            </a:extLst>
          </p:cNvPr>
          <p:cNvPicPr>
            <a:picLocks noChangeAspect="1" noChangeArrowheads="1"/>
          </p:cNvPicPr>
          <p:nvPr/>
        </p:nvPicPr>
        <p:blipFill>
          <a:blip r:embed="rId3" cstate="print"/>
          <a:srcRect/>
          <a:stretch>
            <a:fillRect/>
          </a:stretch>
        </p:blipFill>
        <p:spPr bwMode="auto">
          <a:xfrm>
            <a:off x="609600" y="3447871"/>
            <a:ext cx="3807485" cy="1724025"/>
          </a:xfrm>
          <a:prstGeom prst="rect">
            <a:avLst/>
          </a:prstGeom>
          <a:noFill/>
          <a:ln w="9525">
            <a:noFill/>
            <a:miter lim="800000"/>
            <a:headEnd/>
            <a:tailEnd/>
          </a:ln>
          <a:effectLst/>
        </p:spPr>
      </p:pic>
      <p:sp>
        <p:nvSpPr>
          <p:cNvPr id="54" name="TextBox 53">
            <a:extLst>
              <a:ext uri="{FF2B5EF4-FFF2-40B4-BE49-F238E27FC236}">
                <a16:creationId xmlns:a16="http://schemas.microsoft.com/office/drawing/2014/main" id="{527D403A-B1C3-4354-997F-73331A5EA3EA}"/>
              </a:ext>
            </a:extLst>
          </p:cNvPr>
          <p:cNvSpPr txBox="1"/>
          <p:nvPr/>
        </p:nvSpPr>
        <p:spPr>
          <a:xfrm>
            <a:off x="1295399" y="3048000"/>
            <a:ext cx="1064977" cy="369332"/>
          </a:xfrm>
          <a:prstGeom prst="rect">
            <a:avLst/>
          </a:prstGeom>
          <a:noFill/>
        </p:spPr>
        <p:txBody>
          <a:bodyPr wrap="square" rtlCol="0">
            <a:spAutoFit/>
          </a:bodyPr>
          <a:lstStyle/>
          <a:p>
            <a:r>
              <a:rPr lang="en-US" u="sng" dirty="0"/>
              <a:t>Effective</a:t>
            </a:r>
          </a:p>
        </p:txBody>
      </p:sp>
      <p:sp>
        <p:nvSpPr>
          <p:cNvPr id="55" name="TextBox 54">
            <a:extLst>
              <a:ext uri="{FF2B5EF4-FFF2-40B4-BE49-F238E27FC236}">
                <a16:creationId xmlns:a16="http://schemas.microsoft.com/office/drawing/2014/main" id="{CBFE48D1-21AC-4611-AB78-6D376E463C7E}"/>
              </a:ext>
            </a:extLst>
          </p:cNvPr>
          <p:cNvSpPr txBox="1"/>
          <p:nvPr/>
        </p:nvSpPr>
        <p:spPr>
          <a:xfrm>
            <a:off x="6172199" y="3048000"/>
            <a:ext cx="1268567" cy="369332"/>
          </a:xfrm>
          <a:prstGeom prst="rect">
            <a:avLst/>
          </a:prstGeom>
          <a:noFill/>
        </p:spPr>
        <p:txBody>
          <a:bodyPr wrap="square" rtlCol="0">
            <a:spAutoFit/>
          </a:bodyPr>
          <a:lstStyle/>
          <a:p>
            <a:r>
              <a:rPr lang="en-US" u="sng" dirty="0"/>
              <a:t>Ineffective</a:t>
            </a:r>
          </a:p>
        </p:txBody>
      </p:sp>
      <p:sp>
        <p:nvSpPr>
          <p:cNvPr id="56" name="TextBox 55">
            <a:extLst>
              <a:ext uri="{FF2B5EF4-FFF2-40B4-BE49-F238E27FC236}">
                <a16:creationId xmlns:a16="http://schemas.microsoft.com/office/drawing/2014/main" id="{471AF3FC-049C-43D9-A843-61E18BAD4399}"/>
              </a:ext>
            </a:extLst>
          </p:cNvPr>
          <p:cNvSpPr txBox="1"/>
          <p:nvPr/>
        </p:nvSpPr>
        <p:spPr>
          <a:xfrm>
            <a:off x="5181599" y="6019800"/>
            <a:ext cx="4127355" cy="461665"/>
          </a:xfrm>
          <a:prstGeom prst="rect">
            <a:avLst/>
          </a:prstGeom>
          <a:noFill/>
        </p:spPr>
        <p:txBody>
          <a:bodyPr wrap="square" rtlCol="0">
            <a:spAutoFit/>
          </a:bodyPr>
          <a:lstStyle/>
          <a:p>
            <a:r>
              <a:rPr lang="en-US" sz="1200" dirty="0"/>
              <a:t>Activities # 4, #7, #10 are redundant. </a:t>
            </a:r>
            <a:r>
              <a:rPr lang="en-US" sz="1200" u="sng" dirty="0"/>
              <a:t>Multiple</a:t>
            </a:r>
            <a:r>
              <a:rPr lang="en-US" sz="1200" dirty="0"/>
              <a:t> adjustment of colors instead of a </a:t>
            </a:r>
            <a:r>
              <a:rPr lang="en-US" sz="1200" u="sng" dirty="0"/>
              <a:t>single</a:t>
            </a:r>
            <a:r>
              <a:rPr lang="en-US" sz="1200" dirty="0"/>
              <a:t> adjustment of colors.</a:t>
            </a:r>
          </a:p>
        </p:txBody>
      </p:sp>
      <p:pic>
        <p:nvPicPr>
          <p:cNvPr id="57" name="Picture 5" descr="C:\Users\Alex Elentukh\AppData\Local\Microsoft\Windows\Temporary Internet Files\Content.IE5\LU13O1YK\821px-Red_Checkmark.svg[1].png">
            <a:extLst>
              <a:ext uri="{FF2B5EF4-FFF2-40B4-BE49-F238E27FC236}">
                <a16:creationId xmlns:a16="http://schemas.microsoft.com/office/drawing/2014/main" id="{8F31043C-F5ED-4EBC-AE24-F94F46BAFEE5}"/>
              </a:ext>
            </a:extLst>
          </p:cNvPr>
          <p:cNvPicPr>
            <a:picLocks noChangeAspect="1" noChangeArrowheads="1"/>
          </p:cNvPicPr>
          <p:nvPr/>
        </p:nvPicPr>
        <p:blipFill>
          <a:blip r:embed="rId4" cstate="print"/>
          <a:srcRect/>
          <a:stretch>
            <a:fillRect/>
          </a:stretch>
        </p:blipFill>
        <p:spPr bwMode="auto">
          <a:xfrm>
            <a:off x="2209799" y="2971800"/>
            <a:ext cx="337531" cy="388619"/>
          </a:xfrm>
          <a:prstGeom prst="rect">
            <a:avLst/>
          </a:prstGeom>
          <a:noFill/>
        </p:spPr>
      </p:pic>
      <p:sp>
        <p:nvSpPr>
          <p:cNvPr id="58" name="Rectangle 57">
            <a:extLst>
              <a:ext uri="{FF2B5EF4-FFF2-40B4-BE49-F238E27FC236}">
                <a16:creationId xmlns:a16="http://schemas.microsoft.com/office/drawing/2014/main" id="{361C78D6-3C8A-4551-88B4-48D55B3AB503}"/>
              </a:ext>
            </a:extLst>
          </p:cNvPr>
          <p:cNvSpPr/>
          <p:nvPr/>
        </p:nvSpPr>
        <p:spPr>
          <a:xfrm>
            <a:off x="1600199" y="-164449"/>
            <a:ext cx="9144000" cy="923330"/>
          </a:xfrm>
          <a:prstGeom prst="rect">
            <a:avLst/>
          </a:prstGeom>
        </p:spPr>
        <p:txBody>
          <a:bodyPr wrap="square">
            <a:spAutoFit/>
          </a:bodyPr>
          <a:lstStyle/>
          <a:p>
            <a:pPr algn="ctr">
              <a:buNone/>
            </a:pPr>
            <a:r>
              <a:rPr lang="en-US" sz="5400" b="1" dirty="0">
                <a:solidFill>
                  <a:srgbClr val="FF0000"/>
                </a:solidFill>
              </a:rPr>
              <a:t>W</a:t>
            </a:r>
            <a:r>
              <a:rPr lang="en-US" sz="5400" b="1" dirty="0">
                <a:solidFill>
                  <a:srgbClr val="00B050"/>
                </a:solidFill>
              </a:rPr>
              <a:t>i</a:t>
            </a:r>
            <a:r>
              <a:rPr lang="en-US" sz="5400" b="1" dirty="0">
                <a:solidFill>
                  <a:srgbClr val="7030A0"/>
                </a:solidFill>
              </a:rPr>
              <a:t>r</a:t>
            </a:r>
            <a:r>
              <a:rPr lang="en-US" sz="5400" b="1" dirty="0">
                <a:solidFill>
                  <a:srgbClr val="FFC000"/>
                </a:solidFill>
              </a:rPr>
              <a:t>e</a:t>
            </a:r>
            <a:r>
              <a:rPr lang="en-US" sz="5400" b="1" dirty="0">
                <a:solidFill>
                  <a:srgbClr val="FF0000"/>
                </a:solidFill>
              </a:rPr>
              <a:t>f</a:t>
            </a:r>
            <a:r>
              <a:rPr lang="en-US" sz="5400" b="1" dirty="0">
                <a:solidFill>
                  <a:srgbClr val="00B050"/>
                </a:solidFill>
              </a:rPr>
              <a:t>r</a:t>
            </a:r>
            <a:r>
              <a:rPr lang="en-US" sz="5400" b="1" dirty="0">
                <a:solidFill>
                  <a:srgbClr val="7030A0"/>
                </a:solidFill>
              </a:rPr>
              <a:t>a</a:t>
            </a:r>
            <a:r>
              <a:rPr lang="en-US" sz="5400" b="1" dirty="0">
                <a:solidFill>
                  <a:srgbClr val="FF0000"/>
                </a:solidFill>
              </a:rPr>
              <a:t>m</a:t>
            </a:r>
            <a:r>
              <a:rPr lang="en-US" sz="5400" b="1" dirty="0">
                <a:solidFill>
                  <a:srgbClr val="00B050"/>
                </a:solidFill>
              </a:rPr>
              <a:t>e</a:t>
            </a:r>
            <a:r>
              <a:rPr lang="en-US" sz="5400" b="1" dirty="0">
                <a:solidFill>
                  <a:srgbClr val="7030A0"/>
                </a:solidFill>
              </a:rPr>
              <a:t>s</a:t>
            </a:r>
            <a:r>
              <a:rPr lang="en-US" sz="5400" dirty="0"/>
              <a:t> </a:t>
            </a:r>
            <a:r>
              <a:rPr lang="en-US" sz="5400" b="1" dirty="0">
                <a:solidFill>
                  <a:srgbClr val="FF0000"/>
                </a:solidFill>
              </a:rPr>
              <a:t>H</a:t>
            </a:r>
            <a:r>
              <a:rPr lang="en-US" sz="5400" b="1" dirty="0">
                <a:solidFill>
                  <a:srgbClr val="FFC000"/>
                </a:solidFill>
              </a:rPr>
              <a:t>a</a:t>
            </a:r>
            <a:r>
              <a:rPr lang="en-US" sz="5400" b="1" dirty="0">
                <a:solidFill>
                  <a:srgbClr val="00B050"/>
                </a:solidFill>
              </a:rPr>
              <a:t>v</a:t>
            </a:r>
            <a:r>
              <a:rPr lang="en-US" sz="5400" b="1" dirty="0">
                <a:solidFill>
                  <a:srgbClr val="7030A0"/>
                </a:solidFill>
              </a:rPr>
              <a:t>e</a:t>
            </a:r>
            <a:r>
              <a:rPr lang="en-US" sz="5400" dirty="0"/>
              <a:t> </a:t>
            </a:r>
            <a:r>
              <a:rPr lang="en-US" sz="5400" b="1" dirty="0">
                <a:solidFill>
                  <a:srgbClr val="FFC000"/>
                </a:solidFill>
              </a:rPr>
              <a:t>N</a:t>
            </a:r>
            <a:r>
              <a:rPr lang="en-US" sz="5400" b="1" dirty="0">
                <a:solidFill>
                  <a:srgbClr val="FF0000"/>
                </a:solidFill>
              </a:rPr>
              <a:t>o</a:t>
            </a:r>
            <a:r>
              <a:rPr lang="en-US" sz="5400" dirty="0"/>
              <a:t> </a:t>
            </a:r>
            <a:r>
              <a:rPr lang="en-US" sz="5400" b="1" dirty="0">
                <a:solidFill>
                  <a:srgbClr val="FFC000"/>
                </a:solidFill>
              </a:rPr>
              <a:t>C</a:t>
            </a:r>
            <a:r>
              <a:rPr lang="en-US" sz="5400" b="1" dirty="0">
                <a:solidFill>
                  <a:srgbClr val="00B050"/>
                </a:solidFill>
              </a:rPr>
              <a:t>o</a:t>
            </a:r>
            <a:r>
              <a:rPr lang="en-US" sz="5400" b="1" dirty="0">
                <a:solidFill>
                  <a:srgbClr val="7030A0"/>
                </a:solidFill>
              </a:rPr>
              <a:t>l</a:t>
            </a:r>
            <a:r>
              <a:rPr lang="en-US" sz="5400" b="1" dirty="0">
                <a:solidFill>
                  <a:srgbClr val="FF0000"/>
                </a:solidFill>
              </a:rPr>
              <a:t>o</a:t>
            </a:r>
            <a:r>
              <a:rPr lang="en-US" sz="5400" b="1" dirty="0">
                <a:solidFill>
                  <a:srgbClr val="FFC000"/>
                </a:solidFill>
              </a:rPr>
              <a:t>r</a:t>
            </a:r>
          </a:p>
        </p:txBody>
      </p:sp>
    </p:spTree>
    <p:extLst>
      <p:ext uri="{BB962C8B-B14F-4D97-AF65-F5344CB8AC3E}">
        <p14:creationId xmlns:p14="http://schemas.microsoft.com/office/powerpoint/2010/main" val="35098875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DCFF47B3-377A-44B4-A9EA-ECF5D7908826}"/>
              </a:ext>
            </a:extLst>
          </p:cNvPr>
          <p:cNvGrpSpPr/>
          <p:nvPr/>
        </p:nvGrpSpPr>
        <p:grpSpPr>
          <a:xfrm>
            <a:off x="164814" y="92935"/>
            <a:ext cx="335559" cy="369332"/>
            <a:chOff x="369116" y="375299"/>
            <a:chExt cx="335559" cy="369332"/>
          </a:xfrm>
        </p:grpSpPr>
        <p:sp>
          <p:nvSpPr>
            <p:cNvPr id="5" name="Oval 4">
              <a:extLst>
                <a:ext uri="{FF2B5EF4-FFF2-40B4-BE49-F238E27FC236}">
                  <a16:creationId xmlns:a16="http://schemas.microsoft.com/office/drawing/2014/main" id="{A98C9148-4896-482E-9BC1-B7F77722A829}"/>
                </a:ext>
              </a:extLst>
            </p:cNvPr>
            <p:cNvSpPr/>
            <p:nvPr/>
          </p:nvSpPr>
          <p:spPr>
            <a:xfrm>
              <a:off x="369116" y="411061"/>
              <a:ext cx="335559" cy="297809"/>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0CED1D0-8825-4A2D-BBDF-53659BB5A61D}"/>
                </a:ext>
              </a:extLst>
            </p:cNvPr>
            <p:cNvSpPr txBox="1"/>
            <p:nvPr/>
          </p:nvSpPr>
          <p:spPr>
            <a:xfrm>
              <a:off x="394601" y="375299"/>
              <a:ext cx="301686" cy="369332"/>
            </a:xfrm>
            <a:prstGeom prst="rect">
              <a:avLst/>
            </a:prstGeom>
            <a:noFill/>
          </p:spPr>
          <p:txBody>
            <a:bodyPr wrap="none" rtlCol="0">
              <a:spAutoFit/>
            </a:bodyPr>
            <a:lstStyle/>
            <a:p>
              <a:r>
                <a:rPr lang="en-US" dirty="0"/>
                <a:t>2</a:t>
              </a:r>
            </a:p>
          </p:txBody>
        </p:sp>
      </p:grpSp>
      <p:sp>
        <p:nvSpPr>
          <p:cNvPr id="8" name="Title 1">
            <a:extLst>
              <a:ext uri="{FF2B5EF4-FFF2-40B4-BE49-F238E27FC236}">
                <a16:creationId xmlns:a16="http://schemas.microsoft.com/office/drawing/2014/main" id="{8DEE4D74-BF5F-407C-BE79-6BFE99741EB7}"/>
              </a:ext>
            </a:extLst>
          </p:cNvPr>
          <p:cNvSpPr>
            <a:spLocks noGrp="1"/>
          </p:cNvSpPr>
          <p:nvPr>
            <p:ph type="title"/>
          </p:nvPr>
        </p:nvSpPr>
        <p:spPr>
          <a:xfrm>
            <a:off x="1872911" y="0"/>
            <a:ext cx="8229600" cy="762000"/>
          </a:xfrm>
        </p:spPr>
        <p:txBody>
          <a:bodyPr>
            <a:noAutofit/>
          </a:bodyPr>
          <a:lstStyle/>
          <a:p>
            <a:r>
              <a:rPr lang="en-US" sz="3600" b="1" dirty="0">
                <a:solidFill>
                  <a:schemeClr val="accent1">
                    <a:lumMod val="75000"/>
                  </a:schemeClr>
                </a:solidFill>
                <a:latin typeface="+mn-lt"/>
                <a:ea typeface="+mn-ea"/>
                <a:cs typeface="+mn-cs"/>
              </a:rPr>
              <a:t>From Radio Button to Augmented Reality</a:t>
            </a:r>
          </a:p>
        </p:txBody>
      </p:sp>
      <p:pic>
        <p:nvPicPr>
          <p:cNvPr id="9" name="Picture 2">
            <a:extLst>
              <a:ext uri="{FF2B5EF4-FFF2-40B4-BE49-F238E27FC236}">
                <a16:creationId xmlns:a16="http://schemas.microsoft.com/office/drawing/2014/main" id="{8C6FF356-339E-42BA-AF86-E87241AF1573}"/>
              </a:ext>
            </a:extLst>
          </p:cNvPr>
          <p:cNvPicPr>
            <a:picLocks noChangeAspect="1" noChangeArrowheads="1"/>
          </p:cNvPicPr>
          <p:nvPr/>
        </p:nvPicPr>
        <p:blipFill>
          <a:blip r:embed="rId2" cstate="print"/>
          <a:srcRect/>
          <a:stretch>
            <a:fillRect/>
          </a:stretch>
        </p:blipFill>
        <p:spPr bwMode="auto">
          <a:xfrm>
            <a:off x="1644310" y="990600"/>
            <a:ext cx="2479454" cy="3124200"/>
          </a:xfrm>
          <a:prstGeom prst="rect">
            <a:avLst/>
          </a:prstGeom>
          <a:noFill/>
          <a:ln w="9525">
            <a:noFill/>
            <a:miter lim="800000"/>
            <a:headEnd/>
            <a:tailEnd/>
          </a:ln>
        </p:spPr>
      </p:pic>
      <p:pic>
        <p:nvPicPr>
          <p:cNvPr id="10" name="Picture 3">
            <a:extLst>
              <a:ext uri="{FF2B5EF4-FFF2-40B4-BE49-F238E27FC236}">
                <a16:creationId xmlns:a16="http://schemas.microsoft.com/office/drawing/2014/main" id="{C7234DE8-866B-4E03-B3C7-215ADCEE3DAB}"/>
              </a:ext>
            </a:extLst>
          </p:cNvPr>
          <p:cNvPicPr>
            <a:picLocks noChangeAspect="1" noChangeArrowheads="1"/>
          </p:cNvPicPr>
          <p:nvPr/>
        </p:nvPicPr>
        <p:blipFill>
          <a:blip r:embed="rId3" cstate="print"/>
          <a:srcRect/>
          <a:stretch>
            <a:fillRect/>
          </a:stretch>
        </p:blipFill>
        <p:spPr bwMode="auto">
          <a:xfrm>
            <a:off x="7892711" y="3421485"/>
            <a:ext cx="2576511" cy="3328985"/>
          </a:xfrm>
          <a:prstGeom prst="rect">
            <a:avLst/>
          </a:prstGeom>
          <a:noFill/>
          <a:ln w="9525">
            <a:noFill/>
            <a:miter lim="800000"/>
            <a:headEnd/>
            <a:tailEnd/>
          </a:ln>
        </p:spPr>
      </p:pic>
      <p:sp>
        <p:nvSpPr>
          <p:cNvPr id="11" name="AutoShape 4">
            <a:extLst>
              <a:ext uri="{FF2B5EF4-FFF2-40B4-BE49-F238E27FC236}">
                <a16:creationId xmlns:a16="http://schemas.microsoft.com/office/drawing/2014/main" id="{B2E46053-B533-433E-A95C-FC069F6ADE29}"/>
              </a:ext>
            </a:extLst>
          </p:cNvPr>
          <p:cNvSpPr>
            <a:spLocks noChangeAspect="1" noChangeArrowheads="1" noTextEdit="1"/>
          </p:cNvSpPr>
          <p:nvPr/>
        </p:nvSpPr>
        <p:spPr bwMode="auto">
          <a:xfrm>
            <a:off x="3320711" y="1143000"/>
            <a:ext cx="6753225" cy="5114925"/>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12" name="Rectangle 6">
            <a:extLst>
              <a:ext uri="{FF2B5EF4-FFF2-40B4-BE49-F238E27FC236}">
                <a16:creationId xmlns:a16="http://schemas.microsoft.com/office/drawing/2014/main" id="{47313A7B-FD5F-44B8-80C5-F0A28E68008A}"/>
              </a:ext>
            </a:extLst>
          </p:cNvPr>
          <p:cNvSpPr>
            <a:spLocks noChangeArrowheads="1"/>
          </p:cNvSpPr>
          <p:nvPr/>
        </p:nvSpPr>
        <p:spPr bwMode="auto">
          <a:xfrm>
            <a:off x="3498989" y="5715000"/>
            <a:ext cx="1237518" cy="487313"/>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ctr" defTabSz="914400" rtl="0" eaLnBrk="1" fontAlgn="base" latinLnBrk="0" hangingPunct="1">
              <a:lnSpc>
                <a:spcPts val="1900"/>
              </a:lnSpc>
              <a:spcBef>
                <a:spcPct val="0"/>
              </a:spcBef>
              <a:spcAft>
                <a:spcPct val="0"/>
              </a:spcAft>
              <a:buClrTx/>
              <a:buSzTx/>
              <a:buFontTx/>
              <a:buNone/>
              <a:tabLst/>
            </a:pPr>
            <a:r>
              <a:rPr kumimoji="0" lang="en-US" sz="1800" b="0" i="0" u="none" strike="noStrike" cap="none" normalizeH="0" baseline="0" dirty="0">
                <a:ln>
                  <a:noFill/>
                </a:ln>
                <a:solidFill>
                  <a:srgbClr val="0070C0"/>
                </a:solidFill>
                <a:effectLst/>
                <a:latin typeface="Times New Roman" pitchFamily="18" charset="0"/>
                <a:cs typeface="Arial" pitchFamily="34" charset="0"/>
              </a:rPr>
              <a:t>Radio Button</a:t>
            </a:r>
          </a:p>
          <a:p>
            <a:pPr marL="0" marR="0" lvl="0" indent="0" algn="ctr" defTabSz="914400" rtl="0" eaLnBrk="1" fontAlgn="base" latinLnBrk="0" hangingPunct="1">
              <a:lnSpc>
                <a:spcPts val="1900"/>
              </a:lnSpc>
              <a:spcBef>
                <a:spcPct val="0"/>
              </a:spcBef>
              <a:spcAft>
                <a:spcPct val="0"/>
              </a:spcAft>
              <a:buClrTx/>
              <a:buSzTx/>
              <a:buFontTx/>
              <a:buNone/>
              <a:tabLst/>
            </a:pPr>
            <a:r>
              <a:rPr lang="en-US" dirty="0">
                <a:solidFill>
                  <a:srgbClr val="0070C0"/>
                </a:solidFill>
                <a:latin typeface="Times New Roman" pitchFamily="18" charset="0"/>
                <a:cs typeface="Arial" pitchFamily="34" charset="0"/>
              </a:rPr>
              <a:t>Check Box</a:t>
            </a:r>
            <a:endParaRPr kumimoji="0" lang="en-US" sz="1800" b="0" i="0" u="none" strike="noStrike" cap="none" normalizeH="0" baseline="0" dirty="0">
              <a:ln>
                <a:noFill/>
              </a:ln>
              <a:solidFill>
                <a:schemeClr val="tx1"/>
              </a:solidFill>
              <a:effectLst/>
              <a:latin typeface="Arial" pitchFamily="34" charset="0"/>
              <a:cs typeface="Arial" pitchFamily="34" charset="0"/>
            </a:endParaRPr>
          </a:p>
        </p:txBody>
      </p:sp>
      <p:sp>
        <p:nvSpPr>
          <p:cNvPr id="13" name="Freeform 7">
            <a:extLst>
              <a:ext uri="{FF2B5EF4-FFF2-40B4-BE49-F238E27FC236}">
                <a16:creationId xmlns:a16="http://schemas.microsoft.com/office/drawing/2014/main" id="{1D89F86D-EE86-4731-8ECF-7D87D4638611}"/>
              </a:ext>
            </a:extLst>
          </p:cNvPr>
          <p:cNvSpPr>
            <a:spLocks noEditPoints="1"/>
          </p:cNvSpPr>
          <p:nvPr/>
        </p:nvSpPr>
        <p:spPr bwMode="auto">
          <a:xfrm>
            <a:off x="3334999" y="5640388"/>
            <a:ext cx="1571625" cy="603250"/>
          </a:xfrm>
          <a:custGeom>
            <a:avLst/>
            <a:gdLst/>
            <a:ahLst/>
            <a:cxnLst>
              <a:cxn ang="0">
                <a:pos x="4" y="181"/>
              </a:cxn>
              <a:cxn ang="0">
                <a:pos x="17" y="138"/>
              </a:cxn>
              <a:cxn ang="0">
                <a:pos x="58" y="72"/>
              </a:cxn>
              <a:cxn ang="0">
                <a:pos x="127" y="22"/>
              </a:cxn>
              <a:cxn ang="0">
                <a:pos x="170" y="6"/>
              </a:cxn>
              <a:cxn ang="0">
                <a:pos x="215" y="1"/>
              </a:cxn>
              <a:cxn ang="0">
                <a:pos x="2733" y="4"/>
              </a:cxn>
              <a:cxn ang="0">
                <a:pos x="2776" y="17"/>
              </a:cxn>
              <a:cxn ang="0">
                <a:pos x="2841" y="59"/>
              </a:cxn>
              <a:cxn ang="0">
                <a:pos x="2891" y="127"/>
              </a:cxn>
              <a:cxn ang="0">
                <a:pos x="2907" y="171"/>
              </a:cxn>
              <a:cxn ang="0">
                <a:pos x="2912" y="215"/>
              </a:cxn>
              <a:cxn ang="0">
                <a:pos x="2909" y="941"/>
              </a:cxn>
              <a:cxn ang="0">
                <a:pos x="2897" y="983"/>
              </a:cxn>
              <a:cxn ang="0">
                <a:pos x="2854" y="1050"/>
              </a:cxn>
              <a:cxn ang="0">
                <a:pos x="2788" y="1099"/>
              </a:cxn>
              <a:cxn ang="0">
                <a:pos x="2743" y="1115"/>
              </a:cxn>
              <a:cxn ang="0">
                <a:pos x="2699" y="1120"/>
              </a:cxn>
              <a:cxn ang="0">
                <a:pos x="181" y="1117"/>
              </a:cxn>
              <a:cxn ang="0">
                <a:pos x="139" y="1105"/>
              </a:cxn>
              <a:cxn ang="0">
                <a:pos x="72" y="1062"/>
              </a:cxn>
              <a:cxn ang="0">
                <a:pos x="23" y="995"/>
              </a:cxn>
              <a:cxn ang="0">
                <a:pos x="6" y="952"/>
              </a:cxn>
              <a:cxn ang="0">
                <a:pos x="1" y="907"/>
              </a:cxn>
              <a:cxn ang="0">
                <a:pos x="96" y="898"/>
              </a:cxn>
              <a:cxn ang="0">
                <a:pos x="97" y="921"/>
              </a:cxn>
              <a:cxn ang="0">
                <a:pos x="102" y="942"/>
              </a:cxn>
              <a:cxn ang="0">
                <a:pos x="125" y="983"/>
              </a:cxn>
              <a:cxn ang="0">
                <a:pos x="168" y="1014"/>
              </a:cxn>
              <a:cxn ang="0">
                <a:pos x="190" y="1022"/>
              </a:cxn>
              <a:cxn ang="0">
                <a:pos x="2690" y="1025"/>
              </a:cxn>
              <a:cxn ang="0">
                <a:pos x="2714" y="1024"/>
              </a:cxn>
              <a:cxn ang="0">
                <a:pos x="2733" y="1020"/>
              </a:cxn>
              <a:cxn ang="0">
                <a:pos x="2775" y="995"/>
              </a:cxn>
              <a:cxn ang="0">
                <a:pos x="2806" y="954"/>
              </a:cxn>
              <a:cxn ang="0">
                <a:pos x="2814" y="932"/>
              </a:cxn>
              <a:cxn ang="0">
                <a:pos x="2817" y="224"/>
              </a:cxn>
              <a:cxn ang="0">
                <a:pos x="2816" y="200"/>
              </a:cxn>
              <a:cxn ang="0">
                <a:pos x="2812" y="180"/>
              </a:cxn>
              <a:cxn ang="0">
                <a:pos x="2788" y="138"/>
              </a:cxn>
              <a:cxn ang="0">
                <a:pos x="2745" y="108"/>
              </a:cxn>
              <a:cxn ang="0">
                <a:pos x="2724" y="99"/>
              </a:cxn>
              <a:cxn ang="0">
                <a:pos x="224" y="96"/>
              </a:cxn>
              <a:cxn ang="0">
                <a:pos x="201" y="97"/>
              </a:cxn>
              <a:cxn ang="0">
                <a:pos x="180" y="103"/>
              </a:cxn>
              <a:cxn ang="0">
                <a:pos x="139" y="125"/>
              </a:cxn>
              <a:cxn ang="0">
                <a:pos x="108" y="169"/>
              </a:cxn>
              <a:cxn ang="0">
                <a:pos x="99" y="190"/>
              </a:cxn>
              <a:cxn ang="0">
                <a:pos x="96" y="898"/>
              </a:cxn>
            </a:cxnLst>
            <a:rect l="0" t="0" r="r" b="b"/>
            <a:pathLst>
              <a:path w="2912" h="1120">
                <a:moveTo>
                  <a:pt x="0" y="219"/>
                </a:moveTo>
                <a:lnTo>
                  <a:pt x="4" y="181"/>
                </a:lnTo>
                <a:cubicBezTo>
                  <a:pt x="4" y="177"/>
                  <a:pt x="5" y="174"/>
                  <a:pt x="6" y="170"/>
                </a:cubicBezTo>
                <a:lnTo>
                  <a:pt x="17" y="138"/>
                </a:lnTo>
                <a:cubicBezTo>
                  <a:pt x="18" y="134"/>
                  <a:pt x="20" y="131"/>
                  <a:pt x="22" y="127"/>
                </a:cubicBezTo>
                <a:lnTo>
                  <a:pt x="58" y="72"/>
                </a:lnTo>
                <a:cubicBezTo>
                  <a:pt x="62" y="67"/>
                  <a:pt x="67" y="62"/>
                  <a:pt x="72" y="58"/>
                </a:cubicBezTo>
                <a:lnTo>
                  <a:pt x="127" y="22"/>
                </a:lnTo>
                <a:cubicBezTo>
                  <a:pt x="131" y="20"/>
                  <a:pt x="134" y="18"/>
                  <a:pt x="138" y="17"/>
                </a:cubicBezTo>
                <a:lnTo>
                  <a:pt x="170" y="6"/>
                </a:lnTo>
                <a:cubicBezTo>
                  <a:pt x="174" y="5"/>
                  <a:pt x="177" y="4"/>
                  <a:pt x="181" y="4"/>
                </a:cubicBezTo>
                <a:lnTo>
                  <a:pt x="215" y="1"/>
                </a:lnTo>
                <a:lnTo>
                  <a:pt x="2694" y="0"/>
                </a:lnTo>
                <a:lnTo>
                  <a:pt x="2733" y="4"/>
                </a:lnTo>
                <a:cubicBezTo>
                  <a:pt x="2737" y="4"/>
                  <a:pt x="2740" y="5"/>
                  <a:pt x="2744" y="6"/>
                </a:cubicBezTo>
                <a:lnTo>
                  <a:pt x="2776" y="17"/>
                </a:lnTo>
                <a:cubicBezTo>
                  <a:pt x="2780" y="18"/>
                  <a:pt x="2784" y="20"/>
                  <a:pt x="2787" y="23"/>
                </a:cubicBezTo>
                <a:lnTo>
                  <a:pt x="2841" y="59"/>
                </a:lnTo>
                <a:cubicBezTo>
                  <a:pt x="2846" y="62"/>
                  <a:pt x="2851" y="66"/>
                  <a:pt x="2854" y="72"/>
                </a:cubicBezTo>
                <a:lnTo>
                  <a:pt x="2891" y="127"/>
                </a:lnTo>
                <a:cubicBezTo>
                  <a:pt x="2894" y="131"/>
                  <a:pt x="2896" y="135"/>
                  <a:pt x="2897" y="139"/>
                </a:cubicBezTo>
                <a:lnTo>
                  <a:pt x="2907" y="171"/>
                </a:lnTo>
                <a:cubicBezTo>
                  <a:pt x="2908" y="174"/>
                  <a:pt x="2909" y="178"/>
                  <a:pt x="2909" y="181"/>
                </a:cubicBezTo>
                <a:lnTo>
                  <a:pt x="2912" y="215"/>
                </a:lnTo>
                <a:lnTo>
                  <a:pt x="2912" y="902"/>
                </a:lnTo>
                <a:lnTo>
                  <a:pt x="2909" y="941"/>
                </a:lnTo>
                <a:cubicBezTo>
                  <a:pt x="2909" y="944"/>
                  <a:pt x="2908" y="947"/>
                  <a:pt x="2907" y="951"/>
                </a:cubicBezTo>
                <a:lnTo>
                  <a:pt x="2897" y="983"/>
                </a:lnTo>
                <a:cubicBezTo>
                  <a:pt x="2896" y="987"/>
                  <a:pt x="2894" y="992"/>
                  <a:pt x="2891" y="996"/>
                </a:cubicBezTo>
                <a:lnTo>
                  <a:pt x="2854" y="1050"/>
                </a:lnTo>
                <a:cubicBezTo>
                  <a:pt x="2851" y="1054"/>
                  <a:pt x="2846" y="1059"/>
                  <a:pt x="2842" y="1062"/>
                </a:cubicBezTo>
                <a:lnTo>
                  <a:pt x="2788" y="1099"/>
                </a:lnTo>
                <a:cubicBezTo>
                  <a:pt x="2784" y="1102"/>
                  <a:pt x="2779" y="1104"/>
                  <a:pt x="2775" y="1105"/>
                </a:cubicBezTo>
                <a:lnTo>
                  <a:pt x="2743" y="1115"/>
                </a:lnTo>
                <a:cubicBezTo>
                  <a:pt x="2740" y="1116"/>
                  <a:pt x="2736" y="1117"/>
                  <a:pt x="2733" y="1117"/>
                </a:cubicBezTo>
                <a:lnTo>
                  <a:pt x="2699" y="1120"/>
                </a:lnTo>
                <a:lnTo>
                  <a:pt x="219" y="1120"/>
                </a:lnTo>
                <a:lnTo>
                  <a:pt x="181" y="1117"/>
                </a:lnTo>
                <a:cubicBezTo>
                  <a:pt x="178" y="1117"/>
                  <a:pt x="174" y="1116"/>
                  <a:pt x="171" y="1115"/>
                </a:cubicBezTo>
                <a:lnTo>
                  <a:pt x="139" y="1105"/>
                </a:lnTo>
                <a:cubicBezTo>
                  <a:pt x="135" y="1104"/>
                  <a:pt x="131" y="1102"/>
                  <a:pt x="127" y="1099"/>
                </a:cubicBezTo>
                <a:lnTo>
                  <a:pt x="72" y="1062"/>
                </a:lnTo>
                <a:cubicBezTo>
                  <a:pt x="66" y="1059"/>
                  <a:pt x="62" y="1054"/>
                  <a:pt x="59" y="1049"/>
                </a:cubicBezTo>
                <a:lnTo>
                  <a:pt x="23" y="995"/>
                </a:lnTo>
                <a:cubicBezTo>
                  <a:pt x="20" y="992"/>
                  <a:pt x="18" y="988"/>
                  <a:pt x="17" y="984"/>
                </a:cubicBezTo>
                <a:lnTo>
                  <a:pt x="6" y="952"/>
                </a:lnTo>
                <a:cubicBezTo>
                  <a:pt x="5" y="948"/>
                  <a:pt x="4" y="945"/>
                  <a:pt x="4" y="941"/>
                </a:cubicBezTo>
                <a:lnTo>
                  <a:pt x="1" y="907"/>
                </a:lnTo>
                <a:lnTo>
                  <a:pt x="0" y="219"/>
                </a:lnTo>
                <a:close/>
                <a:moveTo>
                  <a:pt x="96" y="898"/>
                </a:moveTo>
                <a:lnTo>
                  <a:pt x="99" y="932"/>
                </a:lnTo>
                <a:lnTo>
                  <a:pt x="97" y="921"/>
                </a:lnTo>
                <a:lnTo>
                  <a:pt x="108" y="953"/>
                </a:lnTo>
                <a:lnTo>
                  <a:pt x="102" y="942"/>
                </a:lnTo>
                <a:lnTo>
                  <a:pt x="138" y="996"/>
                </a:lnTo>
                <a:lnTo>
                  <a:pt x="125" y="983"/>
                </a:lnTo>
                <a:lnTo>
                  <a:pt x="180" y="1020"/>
                </a:lnTo>
                <a:lnTo>
                  <a:pt x="168" y="1014"/>
                </a:lnTo>
                <a:lnTo>
                  <a:pt x="200" y="1024"/>
                </a:lnTo>
                <a:lnTo>
                  <a:pt x="190" y="1022"/>
                </a:lnTo>
                <a:lnTo>
                  <a:pt x="219" y="1024"/>
                </a:lnTo>
                <a:lnTo>
                  <a:pt x="2690" y="1025"/>
                </a:lnTo>
                <a:lnTo>
                  <a:pt x="2724" y="1022"/>
                </a:lnTo>
                <a:lnTo>
                  <a:pt x="2714" y="1024"/>
                </a:lnTo>
                <a:lnTo>
                  <a:pt x="2746" y="1014"/>
                </a:lnTo>
                <a:lnTo>
                  <a:pt x="2733" y="1020"/>
                </a:lnTo>
                <a:lnTo>
                  <a:pt x="2787" y="983"/>
                </a:lnTo>
                <a:lnTo>
                  <a:pt x="2775" y="995"/>
                </a:lnTo>
                <a:lnTo>
                  <a:pt x="2812" y="941"/>
                </a:lnTo>
                <a:lnTo>
                  <a:pt x="2806" y="954"/>
                </a:lnTo>
                <a:lnTo>
                  <a:pt x="2816" y="922"/>
                </a:lnTo>
                <a:lnTo>
                  <a:pt x="2814" y="932"/>
                </a:lnTo>
                <a:lnTo>
                  <a:pt x="2816" y="902"/>
                </a:lnTo>
                <a:lnTo>
                  <a:pt x="2817" y="224"/>
                </a:lnTo>
                <a:lnTo>
                  <a:pt x="2814" y="190"/>
                </a:lnTo>
                <a:lnTo>
                  <a:pt x="2816" y="200"/>
                </a:lnTo>
                <a:lnTo>
                  <a:pt x="2806" y="168"/>
                </a:lnTo>
                <a:lnTo>
                  <a:pt x="2812" y="180"/>
                </a:lnTo>
                <a:lnTo>
                  <a:pt x="2775" y="125"/>
                </a:lnTo>
                <a:lnTo>
                  <a:pt x="2788" y="138"/>
                </a:lnTo>
                <a:lnTo>
                  <a:pt x="2734" y="102"/>
                </a:lnTo>
                <a:lnTo>
                  <a:pt x="2745" y="108"/>
                </a:lnTo>
                <a:lnTo>
                  <a:pt x="2713" y="97"/>
                </a:lnTo>
                <a:lnTo>
                  <a:pt x="2724" y="99"/>
                </a:lnTo>
                <a:lnTo>
                  <a:pt x="2694" y="96"/>
                </a:lnTo>
                <a:lnTo>
                  <a:pt x="224" y="96"/>
                </a:lnTo>
                <a:lnTo>
                  <a:pt x="190" y="99"/>
                </a:lnTo>
                <a:lnTo>
                  <a:pt x="201" y="97"/>
                </a:lnTo>
                <a:lnTo>
                  <a:pt x="169" y="108"/>
                </a:lnTo>
                <a:lnTo>
                  <a:pt x="180" y="103"/>
                </a:lnTo>
                <a:lnTo>
                  <a:pt x="125" y="139"/>
                </a:lnTo>
                <a:lnTo>
                  <a:pt x="139" y="125"/>
                </a:lnTo>
                <a:lnTo>
                  <a:pt x="103" y="180"/>
                </a:lnTo>
                <a:lnTo>
                  <a:pt x="108" y="169"/>
                </a:lnTo>
                <a:lnTo>
                  <a:pt x="97" y="201"/>
                </a:lnTo>
                <a:lnTo>
                  <a:pt x="99" y="190"/>
                </a:lnTo>
                <a:lnTo>
                  <a:pt x="96" y="219"/>
                </a:lnTo>
                <a:lnTo>
                  <a:pt x="96" y="898"/>
                </a:lnTo>
                <a:close/>
              </a:path>
            </a:pathLst>
          </a:custGeom>
          <a:solidFill>
            <a:srgbClr val="0070C0"/>
          </a:solidFill>
          <a:ln w="0" cap="flat">
            <a:solidFill>
              <a:srgbClr val="0070C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4" name="Freeform 9">
            <a:extLst>
              <a:ext uri="{FF2B5EF4-FFF2-40B4-BE49-F238E27FC236}">
                <a16:creationId xmlns:a16="http://schemas.microsoft.com/office/drawing/2014/main" id="{662C6E8C-6BF3-4B81-95EF-8DF8310ACFE2}"/>
              </a:ext>
            </a:extLst>
          </p:cNvPr>
          <p:cNvSpPr>
            <a:spLocks noEditPoints="1"/>
          </p:cNvSpPr>
          <p:nvPr/>
        </p:nvSpPr>
        <p:spPr bwMode="auto">
          <a:xfrm>
            <a:off x="3817599" y="5089525"/>
            <a:ext cx="1571625" cy="603250"/>
          </a:xfrm>
          <a:custGeom>
            <a:avLst/>
            <a:gdLst/>
            <a:ahLst/>
            <a:cxnLst>
              <a:cxn ang="0">
                <a:pos x="4" y="181"/>
              </a:cxn>
              <a:cxn ang="0">
                <a:pos x="17" y="138"/>
              </a:cxn>
              <a:cxn ang="0">
                <a:pos x="58" y="72"/>
              </a:cxn>
              <a:cxn ang="0">
                <a:pos x="127" y="22"/>
              </a:cxn>
              <a:cxn ang="0">
                <a:pos x="170" y="6"/>
              </a:cxn>
              <a:cxn ang="0">
                <a:pos x="215" y="1"/>
              </a:cxn>
              <a:cxn ang="0">
                <a:pos x="2733" y="4"/>
              </a:cxn>
              <a:cxn ang="0">
                <a:pos x="2776" y="17"/>
              </a:cxn>
              <a:cxn ang="0">
                <a:pos x="2841" y="59"/>
              </a:cxn>
              <a:cxn ang="0">
                <a:pos x="2891" y="127"/>
              </a:cxn>
              <a:cxn ang="0">
                <a:pos x="2907" y="171"/>
              </a:cxn>
              <a:cxn ang="0">
                <a:pos x="2912" y="215"/>
              </a:cxn>
              <a:cxn ang="0">
                <a:pos x="2909" y="941"/>
              </a:cxn>
              <a:cxn ang="0">
                <a:pos x="2897" y="983"/>
              </a:cxn>
              <a:cxn ang="0">
                <a:pos x="2854" y="1050"/>
              </a:cxn>
              <a:cxn ang="0">
                <a:pos x="2788" y="1099"/>
              </a:cxn>
              <a:cxn ang="0">
                <a:pos x="2743" y="1115"/>
              </a:cxn>
              <a:cxn ang="0">
                <a:pos x="2699" y="1120"/>
              </a:cxn>
              <a:cxn ang="0">
                <a:pos x="181" y="1117"/>
              </a:cxn>
              <a:cxn ang="0">
                <a:pos x="139" y="1105"/>
              </a:cxn>
              <a:cxn ang="0">
                <a:pos x="72" y="1062"/>
              </a:cxn>
              <a:cxn ang="0">
                <a:pos x="23" y="995"/>
              </a:cxn>
              <a:cxn ang="0">
                <a:pos x="6" y="952"/>
              </a:cxn>
              <a:cxn ang="0">
                <a:pos x="1" y="907"/>
              </a:cxn>
              <a:cxn ang="0">
                <a:pos x="96" y="898"/>
              </a:cxn>
              <a:cxn ang="0">
                <a:pos x="97" y="921"/>
              </a:cxn>
              <a:cxn ang="0">
                <a:pos x="102" y="942"/>
              </a:cxn>
              <a:cxn ang="0">
                <a:pos x="125" y="983"/>
              </a:cxn>
              <a:cxn ang="0">
                <a:pos x="168" y="1014"/>
              </a:cxn>
              <a:cxn ang="0">
                <a:pos x="190" y="1022"/>
              </a:cxn>
              <a:cxn ang="0">
                <a:pos x="2690" y="1025"/>
              </a:cxn>
              <a:cxn ang="0">
                <a:pos x="2714" y="1024"/>
              </a:cxn>
              <a:cxn ang="0">
                <a:pos x="2733" y="1020"/>
              </a:cxn>
              <a:cxn ang="0">
                <a:pos x="2775" y="995"/>
              </a:cxn>
              <a:cxn ang="0">
                <a:pos x="2806" y="954"/>
              </a:cxn>
              <a:cxn ang="0">
                <a:pos x="2814" y="932"/>
              </a:cxn>
              <a:cxn ang="0">
                <a:pos x="2817" y="224"/>
              </a:cxn>
              <a:cxn ang="0">
                <a:pos x="2816" y="200"/>
              </a:cxn>
              <a:cxn ang="0">
                <a:pos x="2812" y="180"/>
              </a:cxn>
              <a:cxn ang="0">
                <a:pos x="2788" y="138"/>
              </a:cxn>
              <a:cxn ang="0">
                <a:pos x="2745" y="108"/>
              </a:cxn>
              <a:cxn ang="0">
                <a:pos x="2724" y="99"/>
              </a:cxn>
              <a:cxn ang="0">
                <a:pos x="224" y="96"/>
              </a:cxn>
              <a:cxn ang="0">
                <a:pos x="201" y="97"/>
              </a:cxn>
              <a:cxn ang="0">
                <a:pos x="180" y="103"/>
              </a:cxn>
              <a:cxn ang="0">
                <a:pos x="139" y="125"/>
              </a:cxn>
              <a:cxn ang="0">
                <a:pos x="108" y="169"/>
              </a:cxn>
              <a:cxn ang="0">
                <a:pos x="99" y="190"/>
              </a:cxn>
              <a:cxn ang="0">
                <a:pos x="96" y="898"/>
              </a:cxn>
            </a:cxnLst>
            <a:rect l="0" t="0" r="r" b="b"/>
            <a:pathLst>
              <a:path w="2912" h="1120">
                <a:moveTo>
                  <a:pt x="0" y="219"/>
                </a:moveTo>
                <a:lnTo>
                  <a:pt x="4" y="181"/>
                </a:lnTo>
                <a:cubicBezTo>
                  <a:pt x="4" y="177"/>
                  <a:pt x="5" y="174"/>
                  <a:pt x="6" y="170"/>
                </a:cubicBezTo>
                <a:lnTo>
                  <a:pt x="17" y="138"/>
                </a:lnTo>
                <a:cubicBezTo>
                  <a:pt x="18" y="134"/>
                  <a:pt x="20" y="131"/>
                  <a:pt x="22" y="127"/>
                </a:cubicBezTo>
                <a:lnTo>
                  <a:pt x="58" y="72"/>
                </a:lnTo>
                <a:cubicBezTo>
                  <a:pt x="62" y="67"/>
                  <a:pt x="67" y="62"/>
                  <a:pt x="72" y="58"/>
                </a:cubicBezTo>
                <a:lnTo>
                  <a:pt x="127" y="22"/>
                </a:lnTo>
                <a:cubicBezTo>
                  <a:pt x="131" y="20"/>
                  <a:pt x="134" y="18"/>
                  <a:pt x="138" y="17"/>
                </a:cubicBezTo>
                <a:lnTo>
                  <a:pt x="170" y="6"/>
                </a:lnTo>
                <a:cubicBezTo>
                  <a:pt x="174" y="5"/>
                  <a:pt x="177" y="4"/>
                  <a:pt x="181" y="4"/>
                </a:cubicBezTo>
                <a:lnTo>
                  <a:pt x="215" y="1"/>
                </a:lnTo>
                <a:lnTo>
                  <a:pt x="2694" y="0"/>
                </a:lnTo>
                <a:lnTo>
                  <a:pt x="2733" y="4"/>
                </a:lnTo>
                <a:cubicBezTo>
                  <a:pt x="2737" y="4"/>
                  <a:pt x="2740" y="5"/>
                  <a:pt x="2744" y="6"/>
                </a:cubicBezTo>
                <a:lnTo>
                  <a:pt x="2776" y="17"/>
                </a:lnTo>
                <a:cubicBezTo>
                  <a:pt x="2780" y="18"/>
                  <a:pt x="2784" y="20"/>
                  <a:pt x="2787" y="23"/>
                </a:cubicBezTo>
                <a:lnTo>
                  <a:pt x="2841" y="59"/>
                </a:lnTo>
                <a:cubicBezTo>
                  <a:pt x="2846" y="62"/>
                  <a:pt x="2851" y="66"/>
                  <a:pt x="2854" y="72"/>
                </a:cubicBezTo>
                <a:lnTo>
                  <a:pt x="2891" y="127"/>
                </a:lnTo>
                <a:cubicBezTo>
                  <a:pt x="2894" y="131"/>
                  <a:pt x="2896" y="135"/>
                  <a:pt x="2897" y="139"/>
                </a:cubicBezTo>
                <a:lnTo>
                  <a:pt x="2907" y="171"/>
                </a:lnTo>
                <a:cubicBezTo>
                  <a:pt x="2908" y="174"/>
                  <a:pt x="2909" y="178"/>
                  <a:pt x="2909" y="181"/>
                </a:cubicBezTo>
                <a:lnTo>
                  <a:pt x="2912" y="215"/>
                </a:lnTo>
                <a:lnTo>
                  <a:pt x="2912" y="902"/>
                </a:lnTo>
                <a:lnTo>
                  <a:pt x="2909" y="941"/>
                </a:lnTo>
                <a:cubicBezTo>
                  <a:pt x="2909" y="944"/>
                  <a:pt x="2908" y="947"/>
                  <a:pt x="2907" y="951"/>
                </a:cubicBezTo>
                <a:lnTo>
                  <a:pt x="2897" y="983"/>
                </a:lnTo>
                <a:cubicBezTo>
                  <a:pt x="2896" y="987"/>
                  <a:pt x="2894" y="992"/>
                  <a:pt x="2891" y="996"/>
                </a:cubicBezTo>
                <a:lnTo>
                  <a:pt x="2854" y="1050"/>
                </a:lnTo>
                <a:cubicBezTo>
                  <a:pt x="2851" y="1054"/>
                  <a:pt x="2846" y="1059"/>
                  <a:pt x="2842" y="1062"/>
                </a:cubicBezTo>
                <a:lnTo>
                  <a:pt x="2788" y="1099"/>
                </a:lnTo>
                <a:cubicBezTo>
                  <a:pt x="2784" y="1102"/>
                  <a:pt x="2779" y="1104"/>
                  <a:pt x="2775" y="1105"/>
                </a:cubicBezTo>
                <a:lnTo>
                  <a:pt x="2743" y="1115"/>
                </a:lnTo>
                <a:cubicBezTo>
                  <a:pt x="2740" y="1116"/>
                  <a:pt x="2736" y="1117"/>
                  <a:pt x="2733" y="1117"/>
                </a:cubicBezTo>
                <a:lnTo>
                  <a:pt x="2699" y="1120"/>
                </a:lnTo>
                <a:lnTo>
                  <a:pt x="219" y="1120"/>
                </a:lnTo>
                <a:lnTo>
                  <a:pt x="181" y="1117"/>
                </a:lnTo>
                <a:cubicBezTo>
                  <a:pt x="178" y="1117"/>
                  <a:pt x="174" y="1116"/>
                  <a:pt x="171" y="1115"/>
                </a:cubicBezTo>
                <a:lnTo>
                  <a:pt x="139" y="1105"/>
                </a:lnTo>
                <a:cubicBezTo>
                  <a:pt x="135" y="1104"/>
                  <a:pt x="131" y="1102"/>
                  <a:pt x="127" y="1099"/>
                </a:cubicBezTo>
                <a:lnTo>
                  <a:pt x="72" y="1062"/>
                </a:lnTo>
                <a:cubicBezTo>
                  <a:pt x="66" y="1059"/>
                  <a:pt x="62" y="1054"/>
                  <a:pt x="59" y="1049"/>
                </a:cubicBezTo>
                <a:lnTo>
                  <a:pt x="23" y="995"/>
                </a:lnTo>
                <a:cubicBezTo>
                  <a:pt x="20" y="992"/>
                  <a:pt x="18" y="988"/>
                  <a:pt x="17" y="984"/>
                </a:cubicBezTo>
                <a:lnTo>
                  <a:pt x="6" y="952"/>
                </a:lnTo>
                <a:cubicBezTo>
                  <a:pt x="5" y="948"/>
                  <a:pt x="4" y="945"/>
                  <a:pt x="4" y="941"/>
                </a:cubicBezTo>
                <a:lnTo>
                  <a:pt x="1" y="907"/>
                </a:lnTo>
                <a:lnTo>
                  <a:pt x="0" y="219"/>
                </a:lnTo>
                <a:close/>
                <a:moveTo>
                  <a:pt x="96" y="898"/>
                </a:moveTo>
                <a:lnTo>
                  <a:pt x="99" y="932"/>
                </a:lnTo>
                <a:lnTo>
                  <a:pt x="97" y="921"/>
                </a:lnTo>
                <a:lnTo>
                  <a:pt x="108" y="953"/>
                </a:lnTo>
                <a:lnTo>
                  <a:pt x="102" y="942"/>
                </a:lnTo>
                <a:lnTo>
                  <a:pt x="138" y="996"/>
                </a:lnTo>
                <a:lnTo>
                  <a:pt x="125" y="983"/>
                </a:lnTo>
                <a:lnTo>
                  <a:pt x="180" y="1020"/>
                </a:lnTo>
                <a:lnTo>
                  <a:pt x="168" y="1014"/>
                </a:lnTo>
                <a:lnTo>
                  <a:pt x="200" y="1024"/>
                </a:lnTo>
                <a:lnTo>
                  <a:pt x="190" y="1022"/>
                </a:lnTo>
                <a:lnTo>
                  <a:pt x="219" y="1024"/>
                </a:lnTo>
                <a:lnTo>
                  <a:pt x="2690" y="1025"/>
                </a:lnTo>
                <a:lnTo>
                  <a:pt x="2724" y="1022"/>
                </a:lnTo>
                <a:lnTo>
                  <a:pt x="2714" y="1024"/>
                </a:lnTo>
                <a:lnTo>
                  <a:pt x="2746" y="1014"/>
                </a:lnTo>
                <a:lnTo>
                  <a:pt x="2733" y="1020"/>
                </a:lnTo>
                <a:lnTo>
                  <a:pt x="2787" y="983"/>
                </a:lnTo>
                <a:lnTo>
                  <a:pt x="2775" y="995"/>
                </a:lnTo>
                <a:lnTo>
                  <a:pt x="2812" y="941"/>
                </a:lnTo>
                <a:lnTo>
                  <a:pt x="2806" y="954"/>
                </a:lnTo>
                <a:lnTo>
                  <a:pt x="2816" y="922"/>
                </a:lnTo>
                <a:lnTo>
                  <a:pt x="2814" y="932"/>
                </a:lnTo>
                <a:lnTo>
                  <a:pt x="2816" y="902"/>
                </a:lnTo>
                <a:lnTo>
                  <a:pt x="2817" y="224"/>
                </a:lnTo>
                <a:lnTo>
                  <a:pt x="2814" y="190"/>
                </a:lnTo>
                <a:lnTo>
                  <a:pt x="2816" y="200"/>
                </a:lnTo>
                <a:lnTo>
                  <a:pt x="2806" y="168"/>
                </a:lnTo>
                <a:lnTo>
                  <a:pt x="2812" y="180"/>
                </a:lnTo>
                <a:lnTo>
                  <a:pt x="2775" y="125"/>
                </a:lnTo>
                <a:lnTo>
                  <a:pt x="2788" y="138"/>
                </a:lnTo>
                <a:lnTo>
                  <a:pt x="2734" y="102"/>
                </a:lnTo>
                <a:lnTo>
                  <a:pt x="2745" y="108"/>
                </a:lnTo>
                <a:lnTo>
                  <a:pt x="2713" y="97"/>
                </a:lnTo>
                <a:lnTo>
                  <a:pt x="2724" y="99"/>
                </a:lnTo>
                <a:lnTo>
                  <a:pt x="2694" y="96"/>
                </a:lnTo>
                <a:lnTo>
                  <a:pt x="224" y="96"/>
                </a:lnTo>
                <a:lnTo>
                  <a:pt x="190" y="99"/>
                </a:lnTo>
                <a:lnTo>
                  <a:pt x="201" y="97"/>
                </a:lnTo>
                <a:lnTo>
                  <a:pt x="169" y="108"/>
                </a:lnTo>
                <a:lnTo>
                  <a:pt x="180" y="103"/>
                </a:lnTo>
                <a:lnTo>
                  <a:pt x="125" y="139"/>
                </a:lnTo>
                <a:lnTo>
                  <a:pt x="139" y="125"/>
                </a:lnTo>
                <a:lnTo>
                  <a:pt x="103" y="180"/>
                </a:lnTo>
                <a:lnTo>
                  <a:pt x="108" y="169"/>
                </a:lnTo>
                <a:lnTo>
                  <a:pt x="97" y="201"/>
                </a:lnTo>
                <a:lnTo>
                  <a:pt x="99" y="190"/>
                </a:lnTo>
                <a:lnTo>
                  <a:pt x="96" y="219"/>
                </a:lnTo>
                <a:lnTo>
                  <a:pt x="96" y="898"/>
                </a:lnTo>
                <a:close/>
              </a:path>
            </a:pathLst>
          </a:custGeom>
          <a:solidFill>
            <a:srgbClr val="0070C0"/>
          </a:solidFill>
          <a:ln w="0" cap="flat">
            <a:solidFill>
              <a:srgbClr val="0070C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5" name="Freeform 11">
            <a:extLst>
              <a:ext uri="{FF2B5EF4-FFF2-40B4-BE49-F238E27FC236}">
                <a16:creationId xmlns:a16="http://schemas.microsoft.com/office/drawing/2014/main" id="{431B58BF-E1AA-4C72-811A-09ED1DB2AEC5}"/>
              </a:ext>
            </a:extLst>
          </p:cNvPr>
          <p:cNvSpPr>
            <a:spLocks noEditPoints="1"/>
          </p:cNvSpPr>
          <p:nvPr/>
        </p:nvSpPr>
        <p:spPr bwMode="auto">
          <a:xfrm>
            <a:off x="4231936" y="4537075"/>
            <a:ext cx="1571625" cy="603250"/>
          </a:xfrm>
          <a:custGeom>
            <a:avLst/>
            <a:gdLst/>
            <a:ahLst/>
            <a:cxnLst>
              <a:cxn ang="0">
                <a:pos x="4" y="181"/>
              </a:cxn>
              <a:cxn ang="0">
                <a:pos x="17" y="138"/>
              </a:cxn>
              <a:cxn ang="0">
                <a:pos x="58" y="72"/>
              </a:cxn>
              <a:cxn ang="0">
                <a:pos x="127" y="22"/>
              </a:cxn>
              <a:cxn ang="0">
                <a:pos x="170" y="6"/>
              </a:cxn>
              <a:cxn ang="0">
                <a:pos x="215" y="1"/>
              </a:cxn>
              <a:cxn ang="0">
                <a:pos x="2733" y="4"/>
              </a:cxn>
              <a:cxn ang="0">
                <a:pos x="2776" y="17"/>
              </a:cxn>
              <a:cxn ang="0">
                <a:pos x="2841" y="59"/>
              </a:cxn>
              <a:cxn ang="0">
                <a:pos x="2891" y="127"/>
              </a:cxn>
              <a:cxn ang="0">
                <a:pos x="2907" y="171"/>
              </a:cxn>
              <a:cxn ang="0">
                <a:pos x="2912" y="215"/>
              </a:cxn>
              <a:cxn ang="0">
                <a:pos x="2909" y="941"/>
              </a:cxn>
              <a:cxn ang="0">
                <a:pos x="2897" y="983"/>
              </a:cxn>
              <a:cxn ang="0">
                <a:pos x="2854" y="1050"/>
              </a:cxn>
              <a:cxn ang="0">
                <a:pos x="2788" y="1099"/>
              </a:cxn>
              <a:cxn ang="0">
                <a:pos x="2743" y="1115"/>
              </a:cxn>
              <a:cxn ang="0">
                <a:pos x="2699" y="1120"/>
              </a:cxn>
              <a:cxn ang="0">
                <a:pos x="181" y="1117"/>
              </a:cxn>
              <a:cxn ang="0">
                <a:pos x="139" y="1105"/>
              </a:cxn>
              <a:cxn ang="0">
                <a:pos x="72" y="1062"/>
              </a:cxn>
              <a:cxn ang="0">
                <a:pos x="23" y="995"/>
              </a:cxn>
              <a:cxn ang="0">
                <a:pos x="6" y="952"/>
              </a:cxn>
              <a:cxn ang="0">
                <a:pos x="1" y="907"/>
              </a:cxn>
              <a:cxn ang="0">
                <a:pos x="96" y="898"/>
              </a:cxn>
              <a:cxn ang="0">
                <a:pos x="97" y="921"/>
              </a:cxn>
              <a:cxn ang="0">
                <a:pos x="102" y="942"/>
              </a:cxn>
              <a:cxn ang="0">
                <a:pos x="125" y="983"/>
              </a:cxn>
              <a:cxn ang="0">
                <a:pos x="168" y="1014"/>
              </a:cxn>
              <a:cxn ang="0">
                <a:pos x="190" y="1022"/>
              </a:cxn>
              <a:cxn ang="0">
                <a:pos x="2690" y="1025"/>
              </a:cxn>
              <a:cxn ang="0">
                <a:pos x="2714" y="1024"/>
              </a:cxn>
              <a:cxn ang="0">
                <a:pos x="2733" y="1020"/>
              </a:cxn>
              <a:cxn ang="0">
                <a:pos x="2775" y="995"/>
              </a:cxn>
              <a:cxn ang="0">
                <a:pos x="2806" y="954"/>
              </a:cxn>
              <a:cxn ang="0">
                <a:pos x="2814" y="932"/>
              </a:cxn>
              <a:cxn ang="0">
                <a:pos x="2817" y="224"/>
              </a:cxn>
              <a:cxn ang="0">
                <a:pos x="2816" y="200"/>
              </a:cxn>
              <a:cxn ang="0">
                <a:pos x="2812" y="180"/>
              </a:cxn>
              <a:cxn ang="0">
                <a:pos x="2788" y="138"/>
              </a:cxn>
              <a:cxn ang="0">
                <a:pos x="2745" y="108"/>
              </a:cxn>
              <a:cxn ang="0">
                <a:pos x="2724" y="99"/>
              </a:cxn>
              <a:cxn ang="0">
                <a:pos x="224" y="96"/>
              </a:cxn>
              <a:cxn ang="0">
                <a:pos x="201" y="97"/>
              </a:cxn>
              <a:cxn ang="0">
                <a:pos x="180" y="103"/>
              </a:cxn>
              <a:cxn ang="0">
                <a:pos x="139" y="125"/>
              </a:cxn>
              <a:cxn ang="0">
                <a:pos x="108" y="169"/>
              </a:cxn>
              <a:cxn ang="0">
                <a:pos x="99" y="190"/>
              </a:cxn>
              <a:cxn ang="0">
                <a:pos x="96" y="898"/>
              </a:cxn>
            </a:cxnLst>
            <a:rect l="0" t="0" r="r" b="b"/>
            <a:pathLst>
              <a:path w="2912" h="1120">
                <a:moveTo>
                  <a:pt x="0" y="219"/>
                </a:moveTo>
                <a:lnTo>
                  <a:pt x="4" y="181"/>
                </a:lnTo>
                <a:cubicBezTo>
                  <a:pt x="4" y="177"/>
                  <a:pt x="5" y="174"/>
                  <a:pt x="6" y="170"/>
                </a:cubicBezTo>
                <a:lnTo>
                  <a:pt x="17" y="138"/>
                </a:lnTo>
                <a:cubicBezTo>
                  <a:pt x="18" y="134"/>
                  <a:pt x="20" y="131"/>
                  <a:pt x="22" y="127"/>
                </a:cubicBezTo>
                <a:lnTo>
                  <a:pt x="58" y="72"/>
                </a:lnTo>
                <a:cubicBezTo>
                  <a:pt x="62" y="67"/>
                  <a:pt x="67" y="62"/>
                  <a:pt x="72" y="58"/>
                </a:cubicBezTo>
                <a:lnTo>
                  <a:pt x="127" y="22"/>
                </a:lnTo>
                <a:cubicBezTo>
                  <a:pt x="131" y="20"/>
                  <a:pt x="134" y="18"/>
                  <a:pt x="138" y="17"/>
                </a:cubicBezTo>
                <a:lnTo>
                  <a:pt x="170" y="6"/>
                </a:lnTo>
                <a:cubicBezTo>
                  <a:pt x="174" y="5"/>
                  <a:pt x="177" y="4"/>
                  <a:pt x="181" y="4"/>
                </a:cubicBezTo>
                <a:lnTo>
                  <a:pt x="215" y="1"/>
                </a:lnTo>
                <a:lnTo>
                  <a:pt x="2694" y="0"/>
                </a:lnTo>
                <a:lnTo>
                  <a:pt x="2733" y="4"/>
                </a:lnTo>
                <a:cubicBezTo>
                  <a:pt x="2737" y="4"/>
                  <a:pt x="2740" y="5"/>
                  <a:pt x="2744" y="6"/>
                </a:cubicBezTo>
                <a:lnTo>
                  <a:pt x="2776" y="17"/>
                </a:lnTo>
                <a:cubicBezTo>
                  <a:pt x="2780" y="18"/>
                  <a:pt x="2784" y="20"/>
                  <a:pt x="2787" y="23"/>
                </a:cubicBezTo>
                <a:lnTo>
                  <a:pt x="2841" y="59"/>
                </a:lnTo>
                <a:cubicBezTo>
                  <a:pt x="2846" y="62"/>
                  <a:pt x="2851" y="66"/>
                  <a:pt x="2854" y="72"/>
                </a:cubicBezTo>
                <a:lnTo>
                  <a:pt x="2891" y="127"/>
                </a:lnTo>
                <a:cubicBezTo>
                  <a:pt x="2894" y="131"/>
                  <a:pt x="2896" y="135"/>
                  <a:pt x="2897" y="139"/>
                </a:cubicBezTo>
                <a:lnTo>
                  <a:pt x="2907" y="171"/>
                </a:lnTo>
                <a:cubicBezTo>
                  <a:pt x="2908" y="174"/>
                  <a:pt x="2909" y="178"/>
                  <a:pt x="2909" y="181"/>
                </a:cubicBezTo>
                <a:lnTo>
                  <a:pt x="2912" y="215"/>
                </a:lnTo>
                <a:lnTo>
                  <a:pt x="2912" y="902"/>
                </a:lnTo>
                <a:lnTo>
                  <a:pt x="2909" y="941"/>
                </a:lnTo>
                <a:cubicBezTo>
                  <a:pt x="2909" y="944"/>
                  <a:pt x="2908" y="947"/>
                  <a:pt x="2907" y="951"/>
                </a:cubicBezTo>
                <a:lnTo>
                  <a:pt x="2897" y="983"/>
                </a:lnTo>
                <a:cubicBezTo>
                  <a:pt x="2896" y="987"/>
                  <a:pt x="2894" y="992"/>
                  <a:pt x="2891" y="996"/>
                </a:cubicBezTo>
                <a:lnTo>
                  <a:pt x="2854" y="1050"/>
                </a:lnTo>
                <a:cubicBezTo>
                  <a:pt x="2851" y="1054"/>
                  <a:pt x="2846" y="1059"/>
                  <a:pt x="2842" y="1062"/>
                </a:cubicBezTo>
                <a:lnTo>
                  <a:pt x="2788" y="1099"/>
                </a:lnTo>
                <a:cubicBezTo>
                  <a:pt x="2784" y="1102"/>
                  <a:pt x="2779" y="1104"/>
                  <a:pt x="2775" y="1105"/>
                </a:cubicBezTo>
                <a:lnTo>
                  <a:pt x="2743" y="1115"/>
                </a:lnTo>
                <a:cubicBezTo>
                  <a:pt x="2740" y="1116"/>
                  <a:pt x="2736" y="1117"/>
                  <a:pt x="2733" y="1117"/>
                </a:cubicBezTo>
                <a:lnTo>
                  <a:pt x="2699" y="1120"/>
                </a:lnTo>
                <a:lnTo>
                  <a:pt x="219" y="1120"/>
                </a:lnTo>
                <a:lnTo>
                  <a:pt x="181" y="1117"/>
                </a:lnTo>
                <a:cubicBezTo>
                  <a:pt x="178" y="1117"/>
                  <a:pt x="174" y="1116"/>
                  <a:pt x="171" y="1115"/>
                </a:cubicBezTo>
                <a:lnTo>
                  <a:pt x="139" y="1105"/>
                </a:lnTo>
                <a:cubicBezTo>
                  <a:pt x="135" y="1104"/>
                  <a:pt x="131" y="1102"/>
                  <a:pt x="127" y="1099"/>
                </a:cubicBezTo>
                <a:lnTo>
                  <a:pt x="72" y="1062"/>
                </a:lnTo>
                <a:cubicBezTo>
                  <a:pt x="66" y="1059"/>
                  <a:pt x="62" y="1054"/>
                  <a:pt x="59" y="1049"/>
                </a:cubicBezTo>
                <a:lnTo>
                  <a:pt x="23" y="995"/>
                </a:lnTo>
                <a:cubicBezTo>
                  <a:pt x="20" y="992"/>
                  <a:pt x="18" y="988"/>
                  <a:pt x="17" y="984"/>
                </a:cubicBezTo>
                <a:lnTo>
                  <a:pt x="6" y="952"/>
                </a:lnTo>
                <a:cubicBezTo>
                  <a:pt x="5" y="948"/>
                  <a:pt x="4" y="945"/>
                  <a:pt x="4" y="941"/>
                </a:cubicBezTo>
                <a:lnTo>
                  <a:pt x="1" y="907"/>
                </a:lnTo>
                <a:lnTo>
                  <a:pt x="0" y="219"/>
                </a:lnTo>
                <a:close/>
                <a:moveTo>
                  <a:pt x="96" y="898"/>
                </a:moveTo>
                <a:lnTo>
                  <a:pt x="99" y="932"/>
                </a:lnTo>
                <a:lnTo>
                  <a:pt x="97" y="921"/>
                </a:lnTo>
                <a:lnTo>
                  <a:pt x="108" y="953"/>
                </a:lnTo>
                <a:lnTo>
                  <a:pt x="102" y="942"/>
                </a:lnTo>
                <a:lnTo>
                  <a:pt x="138" y="996"/>
                </a:lnTo>
                <a:lnTo>
                  <a:pt x="125" y="983"/>
                </a:lnTo>
                <a:lnTo>
                  <a:pt x="180" y="1020"/>
                </a:lnTo>
                <a:lnTo>
                  <a:pt x="168" y="1014"/>
                </a:lnTo>
                <a:lnTo>
                  <a:pt x="200" y="1024"/>
                </a:lnTo>
                <a:lnTo>
                  <a:pt x="190" y="1022"/>
                </a:lnTo>
                <a:lnTo>
                  <a:pt x="219" y="1024"/>
                </a:lnTo>
                <a:lnTo>
                  <a:pt x="2690" y="1025"/>
                </a:lnTo>
                <a:lnTo>
                  <a:pt x="2724" y="1022"/>
                </a:lnTo>
                <a:lnTo>
                  <a:pt x="2714" y="1024"/>
                </a:lnTo>
                <a:lnTo>
                  <a:pt x="2746" y="1014"/>
                </a:lnTo>
                <a:lnTo>
                  <a:pt x="2733" y="1020"/>
                </a:lnTo>
                <a:lnTo>
                  <a:pt x="2787" y="983"/>
                </a:lnTo>
                <a:lnTo>
                  <a:pt x="2775" y="995"/>
                </a:lnTo>
                <a:lnTo>
                  <a:pt x="2812" y="941"/>
                </a:lnTo>
                <a:lnTo>
                  <a:pt x="2806" y="954"/>
                </a:lnTo>
                <a:lnTo>
                  <a:pt x="2816" y="922"/>
                </a:lnTo>
                <a:lnTo>
                  <a:pt x="2814" y="932"/>
                </a:lnTo>
                <a:lnTo>
                  <a:pt x="2816" y="902"/>
                </a:lnTo>
                <a:lnTo>
                  <a:pt x="2817" y="224"/>
                </a:lnTo>
                <a:lnTo>
                  <a:pt x="2814" y="190"/>
                </a:lnTo>
                <a:lnTo>
                  <a:pt x="2816" y="200"/>
                </a:lnTo>
                <a:lnTo>
                  <a:pt x="2806" y="168"/>
                </a:lnTo>
                <a:lnTo>
                  <a:pt x="2812" y="180"/>
                </a:lnTo>
                <a:lnTo>
                  <a:pt x="2775" y="125"/>
                </a:lnTo>
                <a:lnTo>
                  <a:pt x="2788" y="138"/>
                </a:lnTo>
                <a:lnTo>
                  <a:pt x="2734" y="102"/>
                </a:lnTo>
                <a:lnTo>
                  <a:pt x="2745" y="108"/>
                </a:lnTo>
                <a:lnTo>
                  <a:pt x="2713" y="97"/>
                </a:lnTo>
                <a:lnTo>
                  <a:pt x="2724" y="99"/>
                </a:lnTo>
                <a:lnTo>
                  <a:pt x="2694" y="96"/>
                </a:lnTo>
                <a:lnTo>
                  <a:pt x="224" y="96"/>
                </a:lnTo>
                <a:lnTo>
                  <a:pt x="190" y="99"/>
                </a:lnTo>
                <a:lnTo>
                  <a:pt x="201" y="97"/>
                </a:lnTo>
                <a:lnTo>
                  <a:pt x="169" y="108"/>
                </a:lnTo>
                <a:lnTo>
                  <a:pt x="180" y="103"/>
                </a:lnTo>
                <a:lnTo>
                  <a:pt x="125" y="139"/>
                </a:lnTo>
                <a:lnTo>
                  <a:pt x="139" y="125"/>
                </a:lnTo>
                <a:lnTo>
                  <a:pt x="103" y="180"/>
                </a:lnTo>
                <a:lnTo>
                  <a:pt x="108" y="169"/>
                </a:lnTo>
                <a:lnTo>
                  <a:pt x="97" y="201"/>
                </a:lnTo>
                <a:lnTo>
                  <a:pt x="99" y="190"/>
                </a:lnTo>
                <a:lnTo>
                  <a:pt x="96" y="219"/>
                </a:lnTo>
                <a:lnTo>
                  <a:pt x="96" y="898"/>
                </a:lnTo>
                <a:close/>
              </a:path>
            </a:pathLst>
          </a:custGeom>
          <a:solidFill>
            <a:srgbClr val="0070C0"/>
          </a:solidFill>
          <a:ln w="0" cap="flat">
            <a:solidFill>
              <a:srgbClr val="0070C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6" name="Freeform 14">
            <a:extLst>
              <a:ext uri="{FF2B5EF4-FFF2-40B4-BE49-F238E27FC236}">
                <a16:creationId xmlns:a16="http://schemas.microsoft.com/office/drawing/2014/main" id="{260A4929-8323-4766-8423-FCBF733BBF08}"/>
              </a:ext>
            </a:extLst>
          </p:cNvPr>
          <p:cNvSpPr>
            <a:spLocks noEditPoints="1"/>
          </p:cNvSpPr>
          <p:nvPr/>
        </p:nvSpPr>
        <p:spPr bwMode="auto">
          <a:xfrm>
            <a:off x="4646274" y="3984625"/>
            <a:ext cx="1571625" cy="603250"/>
          </a:xfrm>
          <a:custGeom>
            <a:avLst/>
            <a:gdLst/>
            <a:ahLst/>
            <a:cxnLst>
              <a:cxn ang="0">
                <a:pos x="4" y="181"/>
              </a:cxn>
              <a:cxn ang="0">
                <a:pos x="17" y="138"/>
              </a:cxn>
              <a:cxn ang="0">
                <a:pos x="58" y="72"/>
              </a:cxn>
              <a:cxn ang="0">
                <a:pos x="127" y="22"/>
              </a:cxn>
              <a:cxn ang="0">
                <a:pos x="170" y="6"/>
              </a:cxn>
              <a:cxn ang="0">
                <a:pos x="215" y="1"/>
              </a:cxn>
              <a:cxn ang="0">
                <a:pos x="2733" y="4"/>
              </a:cxn>
              <a:cxn ang="0">
                <a:pos x="2776" y="17"/>
              </a:cxn>
              <a:cxn ang="0">
                <a:pos x="2841" y="59"/>
              </a:cxn>
              <a:cxn ang="0">
                <a:pos x="2891" y="127"/>
              </a:cxn>
              <a:cxn ang="0">
                <a:pos x="2907" y="171"/>
              </a:cxn>
              <a:cxn ang="0">
                <a:pos x="2912" y="215"/>
              </a:cxn>
              <a:cxn ang="0">
                <a:pos x="2909" y="941"/>
              </a:cxn>
              <a:cxn ang="0">
                <a:pos x="2897" y="983"/>
              </a:cxn>
              <a:cxn ang="0">
                <a:pos x="2854" y="1050"/>
              </a:cxn>
              <a:cxn ang="0">
                <a:pos x="2788" y="1099"/>
              </a:cxn>
              <a:cxn ang="0">
                <a:pos x="2743" y="1115"/>
              </a:cxn>
              <a:cxn ang="0">
                <a:pos x="2699" y="1120"/>
              </a:cxn>
              <a:cxn ang="0">
                <a:pos x="181" y="1117"/>
              </a:cxn>
              <a:cxn ang="0">
                <a:pos x="139" y="1105"/>
              </a:cxn>
              <a:cxn ang="0">
                <a:pos x="72" y="1062"/>
              </a:cxn>
              <a:cxn ang="0">
                <a:pos x="23" y="995"/>
              </a:cxn>
              <a:cxn ang="0">
                <a:pos x="6" y="952"/>
              </a:cxn>
              <a:cxn ang="0">
                <a:pos x="1" y="907"/>
              </a:cxn>
              <a:cxn ang="0">
                <a:pos x="96" y="898"/>
              </a:cxn>
              <a:cxn ang="0">
                <a:pos x="97" y="921"/>
              </a:cxn>
              <a:cxn ang="0">
                <a:pos x="102" y="942"/>
              </a:cxn>
              <a:cxn ang="0">
                <a:pos x="125" y="983"/>
              </a:cxn>
              <a:cxn ang="0">
                <a:pos x="168" y="1014"/>
              </a:cxn>
              <a:cxn ang="0">
                <a:pos x="190" y="1022"/>
              </a:cxn>
              <a:cxn ang="0">
                <a:pos x="2690" y="1025"/>
              </a:cxn>
              <a:cxn ang="0">
                <a:pos x="2714" y="1024"/>
              </a:cxn>
              <a:cxn ang="0">
                <a:pos x="2733" y="1020"/>
              </a:cxn>
              <a:cxn ang="0">
                <a:pos x="2775" y="995"/>
              </a:cxn>
              <a:cxn ang="0">
                <a:pos x="2806" y="954"/>
              </a:cxn>
              <a:cxn ang="0">
                <a:pos x="2814" y="932"/>
              </a:cxn>
              <a:cxn ang="0">
                <a:pos x="2817" y="224"/>
              </a:cxn>
              <a:cxn ang="0">
                <a:pos x="2816" y="200"/>
              </a:cxn>
              <a:cxn ang="0">
                <a:pos x="2812" y="180"/>
              </a:cxn>
              <a:cxn ang="0">
                <a:pos x="2788" y="138"/>
              </a:cxn>
              <a:cxn ang="0">
                <a:pos x="2745" y="108"/>
              </a:cxn>
              <a:cxn ang="0">
                <a:pos x="2724" y="99"/>
              </a:cxn>
              <a:cxn ang="0">
                <a:pos x="224" y="96"/>
              </a:cxn>
              <a:cxn ang="0">
                <a:pos x="201" y="97"/>
              </a:cxn>
              <a:cxn ang="0">
                <a:pos x="180" y="103"/>
              </a:cxn>
              <a:cxn ang="0">
                <a:pos x="139" y="125"/>
              </a:cxn>
              <a:cxn ang="0">
                <a:pos x="108" y="169"/>
              </a:cxn>
              <a:cxn ang="0">
                <a:pos x="99" y="190"/>
              </a:cxn>
              <a:cxn ang="0">
                <a:pos x="96" y="898"/>
              </a:cxn>
            </a:cxnLst>
            <a:rect l="0" t="0" r="r" b="b"/>
            <a:pathLst>
              <a:path w="2912" h="1120">
                <a:moveTo>
                  <a:pt x="0" y="219"/>
                </a:moveTo>
                <a:lnTo>
                  <a:pt x="4" y="181"/>
                </a:lnTo>
                <a:cubicBezTo>
                  <a:pt x="4" y="177"/>
                  <a:pt x="5" y="174"/>
                  <a:pt x="6" y="170"/>
                </a:cubicBezTo>
                <a:lnTo>
                  <a:pt x="17" y="138"/>
                </a:lnTo>
                <a:cubicBezTo>
                  <a:pt x="18" y="134"/>
                  <a:pt x="20" y="131"/>
                  <a:pt x="22" y="127"/>
                </a:cubicBezTo>
                <a:lnTo>
                  <a:pt x="58" y="72"/>
                </a:lnTo>
                <a:cubicBezTo>
                  <a:pt x="62" y="67"/>
                  <a:pt x="67" y="62"/>
                  <a:pt x="72" y="58"/>
                </a:cubicBezTo>
                <a:lnTo>
                  <a:pt x="127" y="22"/>
                </a:lnTo>
                <a:cubicBezTo>
                  <a:pt x="131" y="20"/>
                  <a:pt x="134" y="18"/>
                  <a:pt x="138" y="17"/>
                </a:cubicBezTo>
                <a:lnTo>
                  <a:pt x="170" y="6"/>
                </a:lnTo>
                <a:cubicBezTo>
                  <a:pt x="174" y="5"/>
                  <a:pt x="177" y="4"/>
                  <a:pt x="181" y="4"/>
                </a:cubicBezTo>
                <a:lnTo>
                  <a:pt x="215" y="1"/>
                </a:lnTo>
                <a:lnTo>
                  <a:pt x="2694" y="0"/>
                </a:lnTo>
                <a:lnTo>
                  <a:pt x="2733" y="4"/>
                </a:lnTo>
                <a:cubicBezTo>
                  <a:pt x="2737" y="4"/>
                  <a:pt x="2740" y="5"/>
                  <a:pt x="2744" y="6"/>
                </a:cubicBezTo>
                <a:lnTo>
                  <a:pt x="2776" y="17"/>
                </a:lnTo>
                <a:cubicBezTo>
                  <a:pt x="2780" y="18"/>
                  <a:pt x="2784" y="20"/>
                  <a:pt x="2787" y="23"/>
                </a:cubicBezTo>
                <a:lnTo>
                  <a:pt x="2841" y="59"/>
                </a:lnTo>
                <a:cubicBezTo>
                  <a:pt x="2846" y="62"/>
                  <a:pt x="2851" y="66"/>
                  <a:pt x="2854" y="72"/>
                </a:cubicBezTo>
                <a:lnTo>
                  <a:pt x="2891" y="127"/>
                </a:lnTo>
                <a:cubicBezTo>
                  <a:pt x="2894" y="131"/>
                  <a:pt x="2896" y="135"/>
                  <a:pt x="2897" y="139"/>
                </a:cubicBezTo>
                <a:lnTo>
                  <a:pt x="2907" y="171"/>
                </a:lnTo>
                <a:cubicBezTo>
                  <a:pt x="2908" y="174"/>
                  <a:pt x="2909" y="178"/>
                  <a:pt x="2909" y="181"/>
                </a:cubicBezTo>
                <a:lnTo>
                  <a:pt x="2912" y="215"/>
                </a:lnTo>
                <a:lnTo>
                  <a:pt x="2912" y="902"/>
                </a:lnTo>
                <a:lnTo>
                  <a:pt x="2909" y="941"/>
                </a:lnTo>
                <a:cubicBezTo>
                  <a:pt x="2909" y="944"/>
                  <a:pt x="2908" y="947"/>
                  <a:pt x="2907" y="951"/>
                </a:cubicBezTo>
                <a:lnTo>
                  <a:pt x="2897" y="983"/>
                </a:lnTo>
                <a:cubicBezTo>
                  <a:pt x="2896" y="987"/>
                  <a:pt x="2894" y="992"/>
                  <a:pt x="2891" y="996"/>
                </a:cubicBezTo>
                <a:lnTo>
                  <a:pt x="2854" y="1050"/>
                </a:lnTo>
                <a:cubicBezTo>
                  <a:pt x="2851" y="1054"/>
                  <a:pt x="2846" y="1059"/>
                  <a:pt x="2842" y="1062"/>
                </a:cubicBezTo>
                <a:lnTo>
                  <a:pt x="2788" y="1099"/>
                </a:lnTo>
                <a:cubicBezTo>
                  <a:pt x="2784" y="1102"/>
                  <a:pt x="2779" y="1104"/>
                  <a:pt x="2775" y="1105"/>
                </a:cubicBezTo>
                <a:lnTo>
                  <a:pt x="2743" y="1115"/>
                </a:lnTo>
                <a:cubicBezTo>
                  <a:pt x="2740" y="1116"/>
                  <a:pt x="2736" y="1117"/>
                  <a:pt x="2733" y="1117"/>
                </a:cubicBezTo>
                <a:lnTo>
                  <a:pt x="2699" y="1120"/>
                </a:lnTo>
                <a:lnTo>
                  <a:pt x="219" y="1120"/>
                </a:lnTo>
                <a:lnTo>
                  <a:pt x="181" y="1117"/>
                </a:lnTo>
                <a:cubicBezTo>
                  <a:pt x="178" y="1117"/>
                  <a:pt x="174" y="1116"/>
                  <a:pt x="171" y="1115"/>
                </a:cubicBezTo>
                <a:lnTo>
                  <a:pt x="139" y="1105"/>
                </a:lnTo>
                <a:cubicBezTo>
                  <a:pt x="135" y="1104"/>
                  <a:pt x="131" y="1102"/>
                  <a:pt x="127" y="1099"/>
                </a:cubicBezTo>
                <a:lnTo>
                  <a:pt x="72" y="1062"/>
                </a:lnTo>
                <a:cubicBezTo>
                  <a:pt x="66" y="1059"/>
                  <a:pt x="62" y="1054"/>
                  <a:pt x="59" y="1049"/>
                </a:cubicBezTo>
                <a:lnTo>
                  <a:pt x="23" y="995"/>
                </a:lnTo>
                <a:cubicBezTo>
                  <a:pt x="20" y="992"/>
                  <a:pt x="18" y="988"/>
                  <a:pt x="17" y="984"/>
                </a:cubicBezTo>
                <a:lnTo>
                  <a:pt x="6" y="952"/>
                </a:lnTo>
                <a:cubicBezTo>
                  <a:pt x="5" y="948"/>
                  <a:pt x="4" y="945"/>
                  <a:pt x="4" y="941"/>
                </a:cubicBezTo>
                <a:lnTo>
                  <a:pt x="1" y="907"/>
                </a:lnTo>
                <a:lnTo>
                  <a:pt x="0" y="219"/>
                </a:lnTo>
                <a:close/>
                <a:moveTo>
                  <a:pt x="96" y="898"/>
                </a:moveTo>
                <a:lnTo>
                  <a:pt x="99" y="932"/>
                </a:lnTo>
                <a:lnTo>
                  <a:pt x="97" y="921"/>
                </a:lnTo>
                <a:lnTo>
                  <a:pt x="108" y="953"/>
                </a:lnTo>
                <a:lnTo>
                  <a:pt x="102" y="942"/>
                </a:lnTo>
                <a:lnTo>
                  <a:pt x="138" y="996"/>
                </a:lnTo>
                <a:lnTo>
                  <a:pt x="125" y="983"/>
                </a:lnTo>
                <a:lnTo>
                  <a:pt x="180" y="1020"/>
                </a:lnTo>
                <a:lnTo>
                  <a:pt x="168" y="1014"/>
                </a:lnTo>
                <a:lnTo>
                  <a:pt x="200" y="1024"/>
                </a:lnTo>
                <a:lnTo>
                  <a:pt x="190" y="1022"/>
                </a:lnTo>
                <a:lnTo>
                  <a:pt x="219" y="1024"/>
                </a:lnTo>
                <a:lnTo>
                  <a:pt x="2690" y="1025"/>
                </a:lnTo>
                <a:lnTo>
                  <a:pt x="2724" y="1022"/>
                </a:lnTo>
                <a:lnTo>
                  <a:pt x="2714" y="1024"/>
                </a:lnTo>
                <a:lnTo>
                  <a:pt x="2746" y="1014"/>
                </a:lnTo>
                <a:lnTo>
                  <a:pt x="2733" y="1020"/>
                </a:lnTo>
                <a:lnTo>
                  <a:pt x="2787" y="983"/>
                </a:lnTo>
                <a:lnTo>
                  <a:pt x="2775" y="995"/>
                </a:lnTo>
                <a:lnTo>
                  <a:pt x="2812" y="941"/>
                </a:lnTo>
                <a:lnTo>
                  <a:pt x="2806" y="954"/>
                </a:lnTo>
                <a:lnTo>
                  <a:pt x="2816" y="922"/>
                </a:lnTo>
                <a:lnTo>
                  <a:pt x="2814" y="932"/>
                </a:lnTo>
                <a:lnTo>
                  <a:pt x="2816" y="902"/>
                </a:lnTo>
                <a:lnTo>
                  <a:pt x="2817" y="224"/>
                </a:lnTo>
                <a:lnTo>
                  <a:pt x="2814" y="190"/>
                </a:lnTo>
                <a:lnTo>
                  <a:pt x="2816" y="200"/>
                </a:lnTo>
                <a:lnTo>
                  <a:pt x="2806" y="168"/>
                </a:lnTo>
                <a:lnTo>
                  <a:pt x="2812" y="180"/>
                </a:lnTo>
                <a:lnTo>
                  <a:pt x="2775" y="125"/>
                </a:lnTo>
                <a:lnTo>
                  <a:pt x="2788" y="138"/>
                </a:lnTo>
                <a:lnTo>
                  <a:pt x="2734" y="102"/>
                </a:lnTo>
                <a:lnTo>
                  <a:pt x="2745" y="108"/>
                </a:lnTo>
                <a:lnTo>
                  <a:pt x="2713" y="97"/>
                </a:lnTo>
                <a:lnTo>
                  <a:pt x="2724" y="99"/>
                </a:lnTo>
                <a:lnTo>
                  <a:pt x="2694" y="96"/>
                </a:lnTo>
                <a:lnTo>
                  <a:pt x="224" y="96"/>
                </a:lnTo>
                <a:lnTo>
                  <a:pt x="190" y="99"/>
                </a:lnTo>
                <a:lnTo>
                  <a:pt x="201" y="97"/>
                </a:lnTo>
                <a:lnTo>
                  <a:pt x="169" y="108"/>
                </a:lnTo>
                <a:lnTo>
                  <a:pt x="180" y="103"/>
                </a:lnTo>
                <a:lnTo>
                  <a:pt x="125" y="139"/>
                </a:lnTo>
                <a:lnTo>
                  <a:pt x="139" y="125"/>
                </a:lnTo>
                <a:lnTo>
                  <a:pt x="103" y="180"/>
                </a:lnTo>
                <a:lnTo>
                  <a:pt x="108" y="169"/>
                </a:lnTo>
                <a:lnTo>
                  <a:pt x="97" y="201"/>
                </a:lnTo>
                <a:lnTo>
                  <a:pt x="99" y="190"/>
                </a:lnTo>
                <a:lnTo>
                  <a:pt x="96" y="219"/>
                </a:lnTo>
                <a:lnTo>
                  <a:pt x="96" y="898"/>
                </a:lnTo>
                <a:close/>
              </a:path>
            </a:pathLst>
          </a:custGeom>
          <a:solidFill>
            <a:srgbClr val="0070C0"/>
          </a:solidFill>
          <a:ln w="0" cap="flat">
            <a:solidFill>
              <a:srgbClr val="0070C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7" name="Freeform 17">
            <a:extLst>
              <a:ext uri="{FF2B5EF4-FFF2-40B4-BE49-F238E27FC236}">
                <a16:creationId xmlns:a16="http://schemas.microsoft.com/office/drawing/2014/main" id="{A321BD32-FACA-46F6-8B5E-A09F2D05F558}"/>
              </a:ext>
            </a:extLst>
          </p:cNvPr>
          <p:cNvSpPr>
            <a:spLocks noEditPoints="1"/>
          </p:cNvSpPr>
          <p:nvPr/>
        </p:nvSpPr>
        <p:spPr bwMode="auto">
          <a:xfrm>
            <a:off x="5060611" y="3433763"/>
            <a:ext cx="1571625" cy="603250"/>
          </a:xfrm>
          <a:custGeom>
            <a:avLst/>
            <a:gdLst/>
            <a:ahLst/>
            <a:cxnLst>
              <a:cxn ang="0">
                <a:pos x="4" y="181"/>
              </a:cxn>
              <a:cxn ang="0">
                <a:pos x="17" y="138"/>
              </a:cxn>
              <a:cxn ang="0">
                <a:pos x="58" y="72"/>
              </a:cxn>
              <a:cxn ang="0">
                <a:pos x="127" y="22"/>
              </a:cxn>
              <a:cxn ang="0">
                <a:pos x="170" y="6"/>
              </a:cxn>
              <a:cxn ang="0">
                <a:pos x="215" y="1"/>
              </a:cxn>
              <a:cxn ang="0">
                <a:pos x="2733" y="4"/>
              </a:cxn>
              <a:cxn ang="0">
                <a:pos x="2776" y="17"/>
              </a:cxn>
              <a:cxn ang="0">
                <a:pos x="2841" y="59"/>
              </a:cxn>
              <a:cxn ang="0">
                <a:pos x="2891" y="127"/>
              </a:cxn>
              <a:cxn ang="0">
                <a:pos x="2907" y="171"/>
              </a:cxn>
              <a:cxn ang="0">
                <a:pos x="2912" y="215"/>
              </a:cxn>
              <a:cxn ang="0">
                <a:pos x="2909" y="941"/>
              </a:cxn>
              <a:cxn ang="0">
                <a:pos x="2897" y="983"/>
              </a:cxn>
              <a:cxn ang="0">
                <a:pos x="2854" y="1050"/>
              </a:cxn>
              <a:cxn ang="0">
                <a:pos x="2788" y="1099"/>
              </a:cxn>
              <a:cxn ang="0">
                <a:pos x="2743" y="1115"/>
              </a:cxn>
              <a:cxn ang="0">
                <a:pos x="2699" y="1120"/>
              </a:cxn>
              <a:cxn ang="0">
                <a:pos x="181" y="1117"/>
              </a:cxn>
              <a:cxn ang="0">
                <a:pos x="139" y="1105"/>
              </a:cxn>
              <a:cxn ang="0">
                <a:pos x="72" y="1062"/>
              </a:cxn>
              <a:cxn ang="0">
                <a:pos x="23" y="995"/>
              </a:cxn>
              <a:cxn ang="0">
                <a:pos x="6" y="952"/>
              </a:cxn>
              <a:cxn ang="0">
                <a:pos x="1" y="907"/>
              </a:cxn>
              <a:cxn ang="0">
                <a:pos x="96" y="898"/>
              </a:cxn>
              <a:cxn ang="0">
                <a:pos x="97" y="921"/>
              </a:cxn>
              <a:cxn ang="0">
                <a:pos x="102" y="942"/>
              </a:cxn>
              <a:cxn ang="0">
                <a:pos x="125" y="983"/>
              </a:cxn>
              <a:cxn ang="0">
                <a:pos x="168" y="1014"/>
              </a:cxn>
              <a:cxn ang="0">
                <a:pos x="190" y="1022"/>
              </a:cxn>
              <a:cxn ang="0">
                <a:pos x="2690" y="1025"/>
              </a:cxn>
              <a:cxn ang="0">
                <a:pos x="2714" y="1024"/>
              </a:cxn>
              <a:cxn ang="0">
                <a:pos x="2733" y="1020"/>
              </a:cxn>
              <a:cxn ang="0">
                <a:pos x="2775" y="995"/>
              </a:cxn>
              <a:cxn ang="0">
                <a:pos x="2806" y="954"/>
              </a:cxn>
              <a:cxn ang="0">
                <a:pos x="2814" y="932"/>
              </a:cxn>
              <a:cxn ang="0">
                <a:pos x="2817" y="224"/>
              </a:cxn>
              <a:cxn ang="0">
                <a:pos x="2816" y="200"/>
              </a:cxn>
              <a:cxn ang="0">
                <a:pos x="2812" y="180"/>
              </a:cxn>
              <a:cxn ang="0">
                <a:pos x="2788" y="138"/>
              </a:cxn>
              <a:cxn ang="0">
                <a:pos x="2745" y="108"/>
              </a:cxn>
              <a:cxn ang="0">
                <a:pos x="2724" y="99"/>
              </a:cxn>
              <a:cxn ang="0">
                <a:pos x="224" y="96"/>
              </a:cxn>
              <a:cxn ang="0">
                <a:pos x="201" y="97"/>
              </a:cxn>
              <a:cxn ang="0">
                <a:pos x="180" y="103"/>
              </a:cxn>
              <a:cxn ang="0">
                <a:pos x="139" y="125"/>
              </a:cxn>
              <a:cxn ang="0">
                <a:pos x="108" y="169"/>
              </a:cxn>
              <a:cxn ang="0">
                <a:pos x="99" y="190"/>
              </a:cxn>
              <a:cxn ang="0">
                <a:pos x="96" y="898"/>
              </a:cxn>
            </a:cxnLst>
            <a:rect l="0" t="0" r="r" b="b"/>
            <a:pathLst>
              <a:path w="2912" h="1120">
                <a:moveTo>
                  <a:pt x="0" y="219"/>
                </a:moveTo>
                <a:lnTo>
                  <a:pt x="4" y="181"/>
                </a:lnTo>
                <a:cubicBezTo>
                  <a:pt x="4" y="177"/>
                  <a:pt x="5" y="174"/>
                  <a:pt x="6" y="170"/>
                </a:cubicBezTo>
                <a:lnTo>
                  <a:pt x="17" y="138"/>
                </a:lnTo>
                <a:cubicBezTo>
                  <a:pt x="18" y="134"/>
                  <a:pt x="20" y="131"/>
                  <a:pt x="22" y="127"/>
                </a:cubicBezTo>
                <a:lnTo>
                  <a:pt x="58" y="72"/>
                </a:lnTo>
                <a:cubicBezTo>
                  <a:pt x="62" y="67"/>
                  <a:pt x="67" y="62"/>
                  <a:pt x="72" y="58"/>
                </a:cubicBezTo>
                <a:lnTo>
                  <a:pt x="127" y="22"/>
                </a:lnTo>
                <a:cubicBezTo>
                  <a:pt x="131" y="20"/>
                  <a:pt x="134" y="18"/>
                  <a:pt x="138" y="17"/>
                </a:cubicBezTo>
                <a:lnTo>
                  <a:pt x="170" y="6"/>
                </a:lnTo>
                <a:cubicBezTo>
                  <a:pt x="174" y="5"/>
                  <a:pt x="177" y="4"/>
                  <a:pt x="181" y="4"/>
                </a:cubicBezTo>
                <a:lnTo>
                  <a:pt x="215" y="1"/>
                </a:lnTo>
                <a:lnTo>
                  <a:pt x="2694" y="0"/>
                </a:lnTo>
                <a:lnTo>
                  <a:pt x="2733" y="4"/>
                </a:lnTo>
                <a:cubicBezTo>
                  <a:pt x="2737" y="4"/>
                  <a:pt x="2740" y="5"/>
                  <a:pt x="2744" y="6"/>
                </a:cubicBezTo>
                <a:lnTo>
                  <a:pt x="2776" y="17"/>
                </a:lnTo>
                <a:cubicBezTo>
                  <a:pt x="2780" y="18"/>
                  <a:pt x="2784" y="20"/>
                  <a:pt x="2787" y="23"/>
                </a:cubicBezTo>
                <a:lnTo>
                  <a:pt x="2841" y="59"/>
                </a:lnTo>
                <a:cubicBezTo>
                  <a:pt x="2846" y="62"/>
                  <a:pt x="2851" y="66"/>
                  <a:pt x="2854" y="72"/>
                </a:cubicBezTo>
                <a:lnTo>
                  <a:pt x="2891" y="127"/>
                </a:lnTo>
                <a:cubicBezTo>
                  <a:pt x="2894" y="131"/>
                  <a:pt x="2896" y="135"/>
                  <a:pt x="2897" y="139"/>
                </a:cubicBezTo>
                <a:lnTo>
                  <a:pt x="2907" y="171"/>
                </a:lnTo>
                <a:cubicBezTo>
                  <a:pt x="2908" y="174"/>
                  <a:pt x="2909" y="178"/>
                  <a:pt x="2909" y="181"/>
                </a:cubicBezTo>
                <a:lnTo>
                  <a:pt x="2912" y="215"/>
                </a:lnTo>
                <a:lnTo>
                  <a:pt x="2912" y="902"/>
                </a:lnTo>
                <a:lnTo>
                  <a:pt x="2909" y="941"/>
                </a:lnTo>
                <a:cubicBezTo>
                  <a:pt x="2909" y="944"/>
                  <a:pt x="2908" y="947"/>
                  <a:pt x="2907" y="951"/>
                </a:cubicBezTo>
                <a:lnTo>
                  <a:pt x="2897" y="983"/>
                </a:lnTo>
                <a:cubicBezTo>
                  <a:pt x="2896" y="987"/>
                  <a:pt x="2894" y="992"/>
                  <a:pt x="2891" y="996"/>
                </a:cubicBezTo>
                <a:lnTo>
                  <a:pt x="2854" y="1050"/>
                </a:lnTo>
                <a:cubicBezTo>
                  <a:pt x="2851" y="1054"/>
                  <a:pt x="2846" y="1059"/>
                  <a:pt x="2842" y="1062"/>
                </a:cubicBezTo>
                <a:lnTo>
                  <a:pt x="2788" y="1099"/>
                </a:lnTo>
                <a:cubicBezTo>
                  <a:pt x="2784" y="1102"/>
                  <a:pt x="2779" y="1104"/>
                  <a:pt x="2775" y="1105"/>
                </a:cubicBezTo>
                <a:lnTo>
                  <a:pt x="2743" y="1115"/>
                </a:lnTo>
                <a:cubicBezTo>
                  <a:pt x="2740" y="1116"/>
                  <a:pt x="2736" y="1117"/>
                  <a:pt x="2733" y="1117"/>
                </a:cubicBezTo>
                <a:lnTo>
                  <a:pt x="2699" y="1120"/>
                </a:lnTo>
                <a:lnTo>
                  <a:pt x="219" y="1120"/>
                </a:lnTo>
                <a:lnTo>
                  <a:pt x="181" y="1117"/>
                </a:lnTo>
                <a:cubicBezTo>
                  <a:pt x="178" y="1117"/>
                  <a:pt x="174" y="1116"/>
                  <a:pt x="171" y="1115"/>
                </a:cubicBezTo>
                <a:lnTo>
                  <a:pt x="139" y="1105"/>
                </a:lnTo>
                <a:cubicBezTo>
                  <a:pt x="135" y="1104"/>
                  <a:pt x="131" y="1102"/>
                  <a:pt x="127" y="1099"/>
                </a:cubicBezTo>
                <a:lnTo>
                  <a:pt x="72" y="1062"/>
                </a:lnTo>
                <a:cubicBezTo>
                  <a:pt x="66" y="1059"/>
                  <a:pt x="62" y="1054"/>
                  <a:pt x="59" y="1049"/>
                </a:cubicBezTo>
                <a:lnTo>
                  <a:pt x="23" y="995"/>
                </a:lnTo>
                <a:cubicBezTo>
                  <a:pt x="20" y="992"/>
                  <a:pt x="18" y="988"/>
                  <a:pt x="17" y="984"/>
                </a:cubicBezTo>
                <a:lnTo>
                  <a:pt x="6" y="952"/>
                </a:lnTo>
                <a:cubicBezTo>
                  <a:pt x="5" y="948"/>
                  <a:pt x="4" y="945"/>
                  <a:pt x="4" y="941"/>
                </a:cubicBezTo>
                <a:lnTo>
                  <a:pt x="1" y="907"/>
                </a:lnTo>
                <a:lnTo>
                  <a:pt x="0" y="219"/>
                </a:lnTo>
                <a:close/>
                <a:moveTo>
                  <a:pt x="96" y="898"/>
                </a:moveTo>
                <a:lnTo>
                  <a:pt x="99" y="932"/>
                </a:lnTo>
                <a:lnTo>
                  <a:pt x="97" y="921"/>
                </a:lnTo>
                <a:lnTo>
                  <a:pt x="108" y="953"/>
                </a:lnTo>
                <a:lnTo>
                  <a:pt x="102" y="942"/>
                </a:lnTo>
                <a:lnTo>
                  <a:pt x="138" y="996"/>
                </a:lnTo>
                <a:lnTo>
                  <a:pt x="125" y="983"/>
                </a:lnTo>
                <a:lnTo>
                  <a:pt x="180" y="1020"/>
                </a:lnTo>
                <a:lnTo>
                  <a:pt x="168" y="1014"/>
                </a:lnTo>
                <a:lnTo>
                  <a:pt x="200" y="1024"/>
                </a:lnTo>
                <a:lnTo>
                  <a:pt x="190" y="1022"/>
                </a:lnTo>
                <a:lnTo>
                  <a:pt x="219" y="1024"/>
                </a:lnTo>
                <a:lnTo>
                  <a:pt x="2690" y="1025"/>
                </a:lnTo>
                <a:lnTo>
                  <a:pt x="2724" y="1022"/>
                </a:lnTo>
                <a:lnTo>
                  <a:pt x="2714" y="1024"/>
                </a:lnTo>
                <a:lnTo>
                  <a:pt x="2746" y="1014"/>
                </a:lnTo>
                <a:lnTo>
                  <a:pt x="2733" y="1020"/>
                </a:lnTo>
                <a:lnTo>
                  <a:pt x="2787" y="983"/>
                </a:lnTo>
                <a:lnTo>
                  <a:pt x="2775" y="995"/>
                </a:lnTo>
                <a:lnTo>
                  <a:pt x="2812" y="941"/>
                </a:lnTo>
                <a:lnTo>
                  <a:pt x="2806" y="954"/>
                </a:lnTo>
                <a:lnTo>
                  <a:pt x="2816" y="922"/>
                </a:lnTo>
                <a:lnTo>
                  <a:pt x="2814" y="932"/>
                </a:lnTo>
                <a:lnTo>
                  <a:pt x="2816" y="902"/>
                </a:lnTo>
                <a:lnTo>
                  <a:pt x="2817" y="224"/>
                </a:lnTo>
                <a:lnTo>
                  <a:pt x="2814" y="190"/>
                </a:lnTo>
                <a:lnTo>
                  <a:pt x="2816" y="200"/>
                </a:lnTo>
                <a:lnTo>
                  <a:pt x="2806" y="168"/>
                </a:lnTo>
                <a:lnTo>
                  <a:pt x="2812" y="180"/>
                </a:lnTo>
                <a:lnTo>
                  <a:pt x="2775" y="125"/>
                </a:lnTo>
                <a:lnTo>
                  <a:pt x="2788" y="138"/>
                </a:lnTo>
                <a:lnTo>
                  <a:pt x="2734" y="102"/>
                </a:lnTo>
                <a:lnTo>
                  <a:pt x="2745" y="108"/>
                </a:lnTo>
                <a:lnTo>
                  <a:pt x="2713" y="97"/>
                </a:lnTo>
                <a:lnTo>
                  <a:pt x="2724" y="99"/>
                </a:lnTo>
                <a:lnTo>
                  <a:pt x="2694" y="96"/>
                </a:lnTo>
                <a:lnTo>
                  <a:pt x="224" y="96"/>
                </a:lnTo>
                <a:lnTo>
                  <a:pt x="190" y="99"/>
                </a:lnTo>
                <a:lnTo>
                  <a:pt x="201" y="97"/>
                </a:lnTo>
                <a:lnTo>
                  <a:pt x="169" y="108"/>
                </a:lnTo>
                <a:lnTo>
                  <a:pt x="180" y="103"/>
                </a:lnTo>
                <a:lnTo>
                  <a:pt x="125" y="139"/>
                </a:lnTo>
                <a:lnTo>
                  <a:pt x="139" y="125"/>
                </a:lnTo>
                <a:lnTo>
                  <a:pt x="103" y="180"/>
                </a:lnTo>
                <a:lnTo>
                  <a:pt x="108" y="169"/>
                </a:lnTo>
                <a:lnTo>
                  <a:pt x="97" y="201"/>
                </a:lnTo>
                <a:lnTo>
                  <a:pt x="99" y="190"/>
                </a:lnTo>
                <a:lnTo>
                  <a:pt x="96" y="219"/>
                </a:lnTo>
                <a:lnTo>
                  <a:pt x="96" y="898"/>
                </a:lnTo>
                <a:close/>
              </a:path>
            </a:pathLst>
          </a:custGeom>
          <a:solidFill>
            <a:srgbClr val="0070C0"/>
          </a:solidFill>
          <a:ln w="0" cap="flat">
            <a:solidFill>
              <a:srgbClr val="0070C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8" name="Freeform 20">
            <a:extLst>
              <a:ext uri="{FF2B5EF4-FFF2-40B4-BE49-F238E27FC236}">
                <a16:creationId xmlns:a16="http://schemas.microsoft.com/office/drawing/2014/main" id="{1A13A94D-C1AE-474D-8E23-6DD3D0B5518B}"/>
              </a:ext>
            </a:extLst>
          </p:cNvPr>
          <p:cNvSpPr>
            <a:spLocks noEditPoints="1"/>
          </p:cNvSpPr>
          <p:nvPr/>
        </p:nvSpPr>
        <p:spPr bwMode="auto">
          <a:xfrm>
            <a:off x="5544799" y="2881313"/>
            <a:ext cx="1571625" cy="603250"/>
          </a:xfrm>
          <a:custGeom>
            <a:avLst/>
            <a:gdLst/>
            <a:ahLst/>
            <a:cxnLst>
              <a:cxn ang="0">
                <a:pos x="4" y="181"/>
              </a:cxn>
              <a:cxn ang="0">
                <a:pos x="17" y="138"/>
              </a:cxn>
              <a:cxn ang="0">
                <a:pos x="58" y="72"/>
              </a:cxn>
              <a:cxn ang="0">
                <a:pos x="127" y="22"/>
              </a:cxn>
              <a:cxn ang="0">
                <a:pos x="170" y="6"/>
              </a:cxn>
              <a:cxn ang="0">
                <a:pos x="215" y="1"/>
              </a:cxn>
              <a:cxn ang="0">
                <a:pos x="2733" y="4"/>
              </a:cxn>
              <a:cxn ang="0">
                <a:pos x="2776" y="17"/>
              </a:cxn>
              <a:cxn ang="0">
                <a:pos x="2841" y="59"/>
              </a:cxn>
              <a:cxn ang="0">
                <a:pos x="2891" y="127"/>
              </a:cxn>
              <a:cxn ang="0">
                <a:pos x="2907" y="171"/>
              </a:cxn>
              <a:cxn ang="0">
                <a:pos x="2912" y="215"/>
              </a:cxn>
              <a:cxn ang="0">
                <a:pos x="2909" y="941"/>
              </a:cxn>
              <a:cxn ang="0">
                <a:pos x="2897" y="983"/>
              </a:cxn>
              <a:cxn ang="0">
                <a:pos x="2854" y="1050"/>
              </a:cxn>
              <a:cxn ang="0">
                <a:pos x="2788" y="1099"/>
              </a:cxn>
              <a:cxn ang="0">
                <a:pos x="2743" y="1115"/>
              </a:cxn>
              <a:cxn ang="0">
                <a:pos x="2699" y="1120"/>
              </a:cxn>
              <a:cxn ang="0">
                <a:pos x="181" y="1117"/>
              </a:cxn>
              <a:cxn ang="0">
                <a:pos x="139" y="1105"/>
              </a:cxn>
              <a:cxn ang="0">
                <a:pos x="72" y="1062"/>
              </a:cxn>
              <a:cxn ang="0">
                <a:pos x="23" y="995"/>
              </a:cxn>
              <a:cxn ang="0">
                <a:pos x="6" y="952"/>
              </a:cxn>
              <a:cxn ang="0">
                <a:pos x="1" y="907"/>
              </a:cxn>
              <a:cxn ang="0">
                <a:pos x="96" y="898"/>
              </a:cxn>
              <a:cxn ang="0">
                <a:pos x="97" y="921"/>
              </a:cxn>
              <a:cxn ang="0">
                <a:pos x="102" y="942"/>
              </a:cxn>
              <a:cxn ang="0">
                <a:pos x="125" y="983"/>
              </a:cxn>
              <a:cxn ang="0">
                <a:pos x="168" y="1014"/>
              </a:cxn>
              <a:cxn ang="0">
                <a:pos x="190" y="1022"/>
              </a:cxn>
              <a:cxn ang="0">
                <a:pos x="2690" y="1025"/>
              </a:cxn>
              <a:cxn ang="0">
                <a:pos x="2714" y="1024"/>
              </a:cxn>
              <a:cxn ang="0">
                <a:pos x="2733" y="1020"/>
              </a:cxn>
              <a:cxn ang="0">
                <a:pos x="2775" y="995"/>
              </a:cxn>
              <a:cxn ang="0">
                <a:pos x="2806" y="954"/>
              </a:cxn>
              <a:cxn ang="0">
                <a:pos x="2814" y="932"/>
              </a:cxn>
              <a:cxn ang="0">
                <a:pos x="2817" y="224"/>
              </a:cxn>
              <a:cxn ang="0">
                <a:pos x="2816" y="200"/>
              </a:cxn>
              <a:cxn ang="0">
                <a:pos x="2812" y="180"/>
              </a:cxn>
              <a:cxn ang="0">
                <a:pos x="2788" y="138"/>
              </a:cxn>
              <a:cxn ang="0">
                <a:pos x="2745" y="108"/>
              </a:cxn>
              <a:cxn ang="0">
                <a:pos x="2724" y="99"/>
              </a:cxn>
              <a:cxn ang="0">
                <a:pos x="224" y="96"/>
              </a:cxn>
              <a:cxn ang="0">
                <a:pos x="201" y="97"/>
              </a:cxn>
              <a:cxn ang="0">
                <a:pos x="180" y="103"/>
              </a:cxn>
              <a:cxn ang="0">
                <a:pos x="139" y="125"/>
              </a:cxn>
              <a:cxn ang="0">
                <a:pos x="108" y="169"/>
              </a:cxn>
              <a:cxn ang="0">
                <a:pos x="99" y="190"/>
              </a:cxn>
              <a:cxn ang="0">
                <a:pos x="96" y="898"/>
              </a:cxn>
            </a:cxnLst>
            <a:rect l="0" t="0" r="r" b="b"/>
            <a:pathLst>
              <a:path w="2912" h="1120">
                <a:moveTo>
                  <a:pt x="0" y="219"/>
                </a:moveTo>
                <a:lnTo>
                  <a:pt x="4" y="181"/>
                </a:lnTo>
                <a:cubicBezTo>
                  <a:pt x="4" y="177"/>
                  <a:pt x="5" y="174"/>
                  <a:pt x="6" y="170"/>
                </a:cubicBezTo>
                <a:lnTo>
                  <a:pt x="17" y="138"/>
                </a:lnTo>
                <a:cubicBezTo>
                  <a:pt x="18" y="134"/>
                  <a:pt x="20" y="131"/>
                  <a:pt x="22" y="127"/>
                </a:cubicBezTo>
                <a:lnTo>
                  <a:pt x="58" y="72"/>
                </a:lnTo>
                <a:cubicBezTo>
                  <a:pt x="62" y="67"/>
                  <a:pt x="67" y="62"/>
                  <a:pt x="72" y="58"/>
                </a:cubicBezTo>
                <a:lnTo>
                  <a:pt x="127" y="22"/>
                </a:lnTo>
                <a:cubicBezTo>
                  <a:pt x="131" y="20"/>
                  <a:pt x="134" y="18"/>
                  <a:pt x="138" y="17"/>
                </a:cubicBezTo>
                <a:lnTo>
                  <a:pt x="170" y="6"/>
                </a:lnTo>
                <a:cubicBezTo>
                  <a:pt x="174" y="5"/>
                  <a:pt x="177" y="4"/>
                  <a:pt x="181" y="4"/>
                </a:cubicBezTo>
                <a:lnTo>
                  <a:pt x="215" y="1"/>
                </a:lnTo>
                <a:lnTo>
                  <a:pt x="2694" y="0"/>
                </a:lnTo>
                <a:lnTo>
                  <a:pt x="2733" y="4"/>
                </a:lnTo>
                <a:cubicBezTo>
                  <a:pt x="2737" y="4"/>
                  <a:pt x="2740" y="5"/>
                  <a:pt x="2744" y="6"/>
                </a:cubicBezTo>
                <a:lnTo>
                  <a:pt x="2776" y="17"/>
                </a:lnTo>
                <a:cubicBezTo>
                  <a:pt x="2780" y="18"/>
                  <a:pt x="2784" y="20"/>
                  <a:pt x="2787" y="23"/>
                </a:cubicBezTo>
                <a:lnTo>
                  <a:pt x="2841" y="59"/>
                </a:lnTo>
                <a:cubicBezTo>
                  <a:pt x="2846" y="62"/>
                  <a:pt x="2851" y="66"/>
                  <a:pt x="2854" y="72"/>
                </a:cubicBezTo>
                <a:lnTo>
                  <a:pt x="2891" y="127"/>
                </a:lnTo>
                <a:cubicBezTo>
                  <a:pt x="2894" y="131"/>
                  <a:pt x="2896" y="135"/>
                  <a:pt x="2897" y="139"/>
                </a:cubicBezTo>
                <a:lnTo>
                  <a:pt x="2907" y="171"/>
                </a:lnTo>
                <a:cubicBezTo>
                  <a:pt x="2908" y="174"/>
                  <a:pt x="2909" y="178"/>
                  <a:pt x="2909" y="181"/>
                </a:cubicBezTo>
                <a:lnTo>
                  <a:pt x="2912" y="215"/>
                </a:lnTo>
                <a:lnTo>
                  <a:pt x="2912" y="902"/>
                </a:lnTo>
                <a:lnTo>
                  <a:pt x="2909" y="941"/>
                </a:lnTo>
                <a:cubicBezTo>
                  <a:pt x="2909" y="944"/>
                  <a:pt x="2908" y="947"/>
                  <a:pt x="2907" y="951"/>
                </a:cubicBezTo>
                <a:lnTo>
                  <a:pt x="2897" y="983"/>
                </a:lnTo>
                <a:cubicBezTo>
                  <a:pt x="2896" y="987"/>
                  <a:pt x="2894" y="992"/>
                  <a:pt x="2891" y="996"/>
                </a:cubicBezTo>
                <a:lnTo>
                  <a:pt x="2854" y="1050"/>
                </a:lnTo>
                <a:cubicBezTo>
                  <a:pt x="2851" y="1054"/>
                  <a:pt x="2846" y="1059"/>
                  <a:pt x="2842" y="1062"/>
                </a:cubicBezTo>
                <a:lnTo>
                  <a:pt x="2788" y="1099"/>
                </a:lnTo>
                <a:cubicBezTo>
                  <a:pt x="2784" y="1102"/>
                  <a:pt x="2779" y="1104"/>
                  <a:pt x="2775" y="1105"/>
                </a:cubicBezTo>
                <a:lnTo>
                  <a:pt x="2743" y="1115"/>
                </a:lnTo>
                <a:cubicBezTo>
                  <a:pt x="2740" y="1116"/>
                  <a:pt x="2736" y="1117"/>
                  <a:pt x="2733" y="1117"/>
                </a:cubicBezTo>
                <a:lnTo>
                  <a:pt x="2699" y="1120"/>
                </a:lnTo>
                <a:lnTo>
                  <a:pt x="219" y="1120"/>
                </a:lnTo>
                <a:lnTo>
                  <a:pt x="181" y="1117"/>
                </a:lnTo>
                <a:cubicBezTo>
                  <a:pt x="178" y="1117"/>
                  <a:pt x="174" y="1116"/>
                  <a:pt x="171" y="1115"/>
                </a:cubicBezTo>
                <a:lnTo>
                  <a:pt x="139" y="1105"/>
                </a:lnTo>
                <a:cubicBezTo>
                  <a:pt x="135" y="1104"/>
                  <a:pt x="131" y="1102"/>
                  <a:pt x="127" y="1099"/>
                </a:cubicBezTo>
                <a:lnTo>
                  <a:pt x="72" y="1062"/>
                </a:lnTo>
                <a:cubicBezTo>
                  <a:pt x="66" y="1059"/>
                  <a:pt x="62" y="1054"/>
                  <a:pt x="59" y="1049"/>
                </a:cubicBezTo>
                <a:lnTo>
                  <a:pt x="23" y="995"/>
                </a:lnTo>
                <a:cubicBezTo>
                  <a:pt x="20" y="992"/>
                  <a:pt x="18" y="988"/>
                  <a:pt x="17" y="984"/>
                </a:cubicBezTo>
                <a:lnTo>
                  <a:pt x="6" y="952"/>
                </a:lnTo>
                <a:cubicBezTo>
                  <a:pt x="5" y="948"/>
                  <a:pt x="4" y="945"/>
                  <a:pt x="4" y="941"/>
                </a:cubicBezTo>
                <a:lnTo>
                  <a:pt x="1" y="907"/>
                </a:lnTo>
                <a:lnTo>
                  <a:pt x="0" y="219"/>
                </a:lnTo>
                <a:close/>
                <a:moveTo>
                  <a:pt x="96" y="898"/>
                </a:moveTo>
                <a:lnTo>
                  <a:pt x="99" y="932"/>
                </a:lnTo>
                <a:lnTo>
                  <a:pt x="97" y="921"/>
                </a:lnTo>
                <a:lnTo>
                  <a:pt x="108" y="953"/>
                </a:lnTo>
                <a:lnTo>
                  <a:pt x="102" y="942"/>
                </a:lnTo>
                <a:lnTo>
                  <a:pt x="138" y="996"/>
                </a:lnTo>
                <a:lnTo>
                  <a:pt x="125" y="983"/>
                </a:lnTo>
                <a:lnTo>
                  <a:pt x="180" y="1020"/>
                </a:lnTo>
                <a:lnTo>
                  <a:pt x="168" y="1014"/>
                </a:lnTo>
                <a:lnTo>
                  <a:pt x="200" y="1024"/>
                </a:lnTo>
                <a:lnTo>
                  <a:pt x="190" y="1022"/>
                </a:lnTo>
                <a:lnTo>
                  <a:pt x="219" y="1024"/>
                </a:lnTo>
                <a:lnTo>
                  <a:pt x="2690" y="1025"/>
                </a:lnTo>
                <a:lnTo>
                  <a:pt x="2724" y="1022"/>
                </a:lnTo>
                <a:lnTo>
                  <a:pt x="2714" y="1024"/>
                </a:lnTo>
                <a:lnTo>
                  <a:pt x="2746" y="1014"/>
                </a:lnTo>
                <a:lnTo>
                  <a:pt x="2733" y="1020"/>
                </a:lnTo>
                <a:lnTo>
                  <a:pt x="2787" y="983"/>
                </a:lnTo>
                <a:lnTo>
                  <a:pt x="2775" y="995"/>
                </a:lnTo>
                <a:lnTo>
                  <a:pt x="2812" y="941"/>
                </a:lnTo>
                <a:lnTo>
                  <a:pt x="2806" y="954"/>
                </a:lnTo>
                <a:lnTo>
                  <a:pt x="2816" y="922"/>
                </a:lnTo>
                <a:lnTo>
                  <a:pt x="2814" y="932"/>
                </a:lnTo>
                <a:lnTo>
                  <a:pt x="2816" y="902"/>
                </a:lnTo>
                <a:lnTo>
                  <a:pt x="2817" y="224"/>
                </a:lnTo>
                <a:lnTo>
                  <a:pt x="2814" y="190"/>
                </a:lnTo>
                <a:lnTo>
                  <a:pt x="2816" y="200"/>
                </a:lnTo>
                <a:lnTo>
                  <a:pt x="2806" y="168"/>
                </a:lnTo>
                <a:lnTo>
                  <a:pt x="2812" y="180"/>
                </a:lnTo>
                <a:lnTo>
                  <a:pt x="2775" y="125"/>
                </a:lnTo>
                <a:lnTo>
                  <a:pt x="2788" y="138"/>
                </a:lnTo>
                <a:lnTo>
                  <a:pt x="2734" y="102"/>
                </a:lnTo>
                <a:lnTo>
                  <a:pt x="2745" y="108"/>
                </a:lnTo>
                <a:lnTo>
                  <a:pt x="2713" y="97"/>
                </a:lnTo>
                <a:lnTo>
                  <a:pt x="2724" y="99"/>
                </a:lnTo>
                <a:lnTo>
                  <a:pt x="2694" y="96"/>
                </a:lnTo>
                <a:lnTo>
                  <a:pt x="224" y="96"/>
                </a:lnTo>
                <a:lnTo>
                  <a:pt x="190" y="99"/>
                </a:lnTo>
                <a:lnTo>
                  <a:pt x="201" y="97"/>
                </a:lnTo>
                <a:lnTo>
                  <a:pt x="169" y="108"/>
                </a:lnTo>
                <a:lnTo>
                  <a:pt x="180" y="103"/>
                </a:lnTo>
                <a:lnTo>
                  <a:pt x="125" y="139"/>
                </a:lnTo>
                <a:lnTo>
                  <a:pt x="139" y="125"/>
                </a:lnTo>
                <a:lnTo>
                  <a:pt x="103" y="180"/>
                </a:lnTo>
                <a:lnTo>
                  <a:pt x="108" y="169"/>
                </a:lnTo>
                <a:lnTo>
                  <a:pt x="97" y="201"/>
                </a:lnTo>
                <a:lnTo>
                  <a:pt x="99" y="190"/>
                </a:lnTo>
                <a:lnTo>
                  <a:pt x="96" y="219"/>
                </a:lnTo>
                <a:lnTo>
                  <a:pt x="96" y="898"/>
                </a:lnTo>
                <a:close/>
              </a:path>
            </a:pathLst>
          </a:custGeom>
          <a:solidFill>
            <a:srgbClr val="0070C0"/>
          </a:solidFill>
          <a:ln w="0" cap="flat">
            <a:solidFill>
              <a:srgbClr val="0070C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9" name="Freeform 22">
            <a:extLst>
              <a:ext uri="{FF2B5EF4-FFF2-40B4-BE49-F238E27FC236}">
                <a16:creationId xmlns:a16="http://schemas.microsoft.com/office/drawing/2014/main" id="{D0ADD8A8-8063-4825-A2CB-AE575F245E47}"/>
              </a:ext>
            </a:extLst>
          </p:cNvPr>
          <p:cNvSpPr>
            <a:spLocks noEditPoints="1"/>
          </p:cNvSpPr>
          <p:nvPr/>
        </p:nvSpPr>
        <p:spPr bwMode="auto">
          <a:xfrm>
            <a:off x="5959136" y="2328863"/>
            <a:ext cx="1571625" cy="604838"/>
          </a:xfrm>
          <a:custGeom>
            <a:avLst/>
            <a:gdLst/>
            <a:ahLst/>
            <a:cxnLst>
              <a:cxn ang="0">
                <a:pos x="4" y="181"/>
              </a:cxn>
              <a:cxn ang="0">
                <a:pos x="17" y="138"/>
              </a:cxn>
              <a:cxn ang="0">
                <a:pos x="58" y="72"/>
              </a:cxn>
              <a:cxn ang="0">
                <a:pos x="127" y="22"/>
              </a:cxn>
              <a:cxn ang="0">
                <a:pos x="170" y="6"/>
              </a:cxn>
              <a:cxn ang="0">
                <a:pos x="215" y="1"/>
              </a:cxn>
              <a:cxn ang="0">
                <a:pos x="2733" y="4"/>
              </a:cxn>
              <a:cxn ang="0">
                <a:pos x="2776" y="17"/>
              </a:cxn>
              <a:cxn ang="0">
                <a:pos x="2841" y="59"/>
              </a:cxn>
              <a:cxn ang="0">
                <a:pos x="2891" y="127"/>
              </a:cxn>
              <a:cxn ang="0">
                <a:pos x="2907" y="171"/>
              </a:cxn>
              <a:cxn ang="0">
                <a:pos x="2912" y="215"/>
              </a:cxn>
              <a:cxn ang="0">
                <a:pos x="2909" y="941"/>
              </a:cxn>
              <a:cxn ang="0">
                <a:pos x="2897" y="983"/>
              </a:cxn>
              <a:cxn ang="0">
                <a:pos x="2854" y="1050"/>
              </a:cxn>
              <a:cxn ang="0">
                <a:pos x="2788" y="1099"/>
              </a:cxn>
              <a:cxn ang="0">
                <a:pos x="2743" y="1115"/>
              </a:cxn>
              <a:cxn ang="0">
                <a:pos x="2699" y="1120"/>
              </a:cxn>
              <a:cxn ang="0">
                <a:pos x="181" y="1117"/>
              </a:cxn>
              <a:cxn ang="0">
                <a:pos x="139" y="1105"/>
              </a:cxn>
              <a:cxn ang="0">
                <a:pos x="72" y="1062"/>
              </a:cxn>
              <a:cxn ang="0">
                <a:pos x="23" y="995"/>
              </a:cxn>
              <a:cxn ang="0">
                <a:pos x="6" y="952"/>
              </a:cxn>
              <a:cxn ang="0">
                <a:pos x="1" y="907"/>
              </a:cxn>
              <a:cxn ang="0">
                <a:pos x="96" y="898"/>
              </a:cxn>
              <a:cxn ang="0">
                <a:pos x="97" y="921"/>
              </a:cxn>
              <a:cxn ang="0">
                <a:pos x="102" y="942"/>
              </a:cxn>
              <a:cxn ang="0">
                <a:pos x="125" y="983"/>
              </a:cxn>
              <a:cxn ang="0">
                <a:pos x="168" y="1014"/>
              </a:cxn>
              <a:cxn ang="0">
                <a:pos x="190" y="1022"/>
              </a:cxn>
              <a:cxn ang="0">
                <a:pos x="2690" y="1025"/>
              </a:cxn>
              <a:cxn ang="0">
                <a:pos x="2714" y="1024"/>
              </a:cxn>
              <a:cxn ang="0">
                <a:pos x="2733" y="1020"/>
              </a:cxn>
              <a:cxn ang="0">
                <a:pos x="2775" y="995"/>
              </a:cxn>
              <a:cxn ang="0">
                <a:pos x="2806" y="954"/>
              </a:cxn>
              <a:cxn ang="0">
                <a:pos x="2814" y="932"/>
              </a:cxn>
              <a:cxn ang="0">
                <a:pos x="2817" y="224"/>
              </a:cxn>
              <a:cxn ang="0">
                <a:pos x="2816" y="200"/>
              </a:cxn>
              <a:cxn ang="0">
                <a:pos x="2812" y="180"/>
              </a:cxn>
              <a:cxn ang="0">
                <a:pos x="2788" y="138"/>
              </a:cxn>
              <a:cxn ang="0">
                <a:pos x="2745" y="108"/>
              </a:cxn>
              <a:cxn ang="0">
                <a:pos x="2724" y="99"/>
              </a:cxn>
              <a:cxn ang="0">
                <a:pos x="224" y="96"/>
              </a:cxn>
              <a:cxn ang="0">
                <a:pos x="201" y="97"/>
              </a:cxn>
              <a:cxn ang="0">
                <a:pos x="180" y="103"/>
              </a:cxn>
              <a:cxn ang="0">
                <a:pos x="139" y="125"/>
              </a:cxn>
              <a:cxn ang="0">
                <a:pos x="108" y="169"/>
              </a:cxn>
              <a:cxn ang="0">
                <a:pos x="99" y="190"/>
              </a:cxn>
              <a:cxn ang="0">
                <a:pos x="96" y="898"/>
              </a:cxn>
            </a:cxnLst>
            <a:rect l="0" t="0" r="r" b="b"/>
            <a:pathLst>
              <a:path w="2912" h="1120">
                <a:moveTo>
                  <a:pt x="0" y="219"/>
                </a:moveTo>
                <a:lnTo>
                  <a:pt x="4" y="181"/>
                </a:lnTo>
                <a:cubicBezTo>
                  <a:pt x="4" y="177"/>
                  <a:pt x="5" y="174"/>
                  <a:pt x="6" y="170"/>
                </a:cubicBezTo>
                <a:lnTo>
                  <a:pt x="17" y="138"/>
                </a:lnTo>
                <a:cubicBezTo>
                  <a:pt x="18" y="134"/>
                  <a:pt x="20" y="131"/>
                  <a:pt x="22" y="127"/>
                </a:cubicBezTo>
                <a:lnTo>
                  <a:pt x="58" y="72"/>
                </a:lnTo>
                <a:cubicBezTo>
                  <a:pt x="62" y="67"/>
                  <a:pt x="67" y="62"/>
                  <a:pt x="72" y="58"/>
                </a:cubicBezTo>
                <a:lnTo>
                  <a:pt x="127" y="22"/>
                </a:lnTo>
                <a:cubicBezTo>
                  <a:pt x="131" y="20"/>
                  <a:pt x="134" y="18"/>
                  <a:pt x="138" y="17"/>
                </a:cubicBezTo>
                <a:lnTo>
                  <a:pt x="170" y="6"/>
                </a:lnTo>
                <a:cubicBezTo>
                  <a:pt x="174" y="5"/>
                  <a:pt x="177" y="4"/>
                  <a:pt x="181" y="4"/>
                </a:cubicBezTo>
                <a:lnTo>
                  <a:pt x="215" y="1"/>
                </a:lnTo>
                <a:lnTo>
                  <a:pt x="2694" y="0"/>
                </a:lnTo>
                <a:lnTo>
                  <a:pt x="2733" y="4"/>
                </a:lnTo>
                <a:cubicBezTo>
                  <a:pt x="2737" y="4"/>
                  <a:pt x="2740" y="5"/>
                  <a:pt x="2744" y="6"/>
                </a:cubicBezTo>
                <a:lnTo>
                  <a:pt x="2776" y="17"/>
                </a:lnTo>
                <a:cubicBezTo>
                  <a:pt x="2780" y="18"/>
                  <a:pt x="2784" y="20"/>
                  <a:pt x="2787" y="23"/>
                </a:cubicBezTo>
                <a:lnTo>
                  <a:pt x="2841" y="59"/>
                </a:lnTo>
                <a:cubicBezTo>
                  <a:pt x="2846" y="62"/>
                  <a:pt x="2851" y="66"/>
                  <a:pt x="2854" y="72"/>
                </a:cubicBezTo>
                <a:lnTo>
                  <a:pt x="2891" y="127"/>
                </a:lnTo>
                <a:cubicBezTo>
                  <a:pt x="2894" y="131"/>
                  <a:pt x="2896" y="135"/>
                  <a:pt x="2897" y="139"/>
                </a:cubicBezTo>
                <a:lnTo>
                  <a:pt x="2907" y="171"/>
                </a:lnTo>
                <a:cubicBezTo>
                  <a:pt x="2908" y="174"/>
                  <a:pt x="2909" y="178"/>
                  <a:pt x="2909" y="181"/>
                </a:cubicBezTo>
                <a:lnTo>
                  <a:pt x="2912" y="215"/>
                </a:lnTo>
                <a:lnTo>
                  <a:pt x="2912" y="902"/>
                </a:lnTo>
                <a:lnTo>
                  <a:pt x="2909" y="941"/>
                </a:lnTo>
                <a:cubicBezTo>
                  <a:pt x="2909" y="944"/>
                  <a:pt x="2908" y="947"/>
                  <a:pt x="2907" y="951"/>
                </a:cubicBezTo>
                <a:lnTo>
                  <a:pt x="2897" y="983"/>
                </a:lnTo>
                <a:cubicBezTo>
                  <a:pt x="2896" y="987"/>
                  <a:pt x="2894" y="992"/>
                  <a:pt x="2891" y="996"/>
                </a:cubicBezTo>
                <a:lnTo>
                  <a:pt x="2854" y="1050"/>
                </a:lnTo>
                <a:cubicBezTo>
                  <a:pt x="2851" y="1054"/>
                  <a:pt x="2846" y="1059"/>
                  <a:pt x="2842" y="1062"/>
                </a:cubicBezTo>
                <a:lnTo>
                  <a:pt x="2788" y="1099"/>
                </a:lnTo>
                <a:cubicBezTo>
                  <a:pt x="2784" y="1102"/>
                  <a:pt x="2779" y="1104"/>
                  <a:pt x="2775" y="1105"/>
                </a:cubicBezTo>
                <a:lnTo>
                  <a:pt x="2743" y="1115"/>
                </a:lnTo>
                <a:cubicBezTo>
                  <a:pt x="2739" y="1116"/>
                  <a:pt x="2736" y="1117"/>
                  <a:pt x="2733" y="1117"/>
                </a:cubicBezTo>
                <a:lnTo>
                  <a:pt x="2699" y="1120"/>
                </a:lnTo>
                <a:lnTo>
                  <a:pt x="219" y="1120"/>
                </a:lnTo>
                <a:lnTo>
                  <a:pt x="181" y="1117"/>
                </a:lnTo>
                <a:cubicBezTo>
                  <a:pt x="178" y="1117"/>
                  <a:pt x="174" y="1116"/>
                  <a:pt x="171" y="1115"/>
                </a:cubicBezTo>
                <a:lnTo>
                  <a:pt x="139" y="1105"/>
                </a:lnTo>
                <a:cubicBezTo>
                  <a:pt x="135" y="1104"/>
                  <a:pt x="131" y="1102"/>
                  <a:pt x="127" y="1099"/>
                </a:cubicBezTo>
                <a:lnTo>
                  <a:pt x="72" y="1062"/>
                </a:lnTo>
                <a:cubicBezTo>
                  <a:pt x="66" y="1059"/>
                  <a:pt x="62" y="1054"/>
                  <a:pt x="59" y="1049"/>
                </a:cubicBezTo>
                <a:lnTo>
                  <a:pt x="23" y="995"/>
                </a:lnTo>
                <a:cubicBezTo>
                  <a:pt x="20" y="992"/>
                  <a:pt x="18" y="988"/>
                  <a:pt x="17" y="984"/>
                </a:cubicBezTo>
                <a:lnTo>
                  <a:pt x="6" y="952"/>
                </a:lnTo>
                <a:cubicBezTo>
                  <a:pt x="5" y="948"/>
                  <a:pt x="4" y="945"/>
                  <a:pt x="4" y="941"/>
                </a:cubicBezTo>
                <a:lnTo>
                  <a:pt x="1" y="907"/>
                </a:lnTo>
                <a:lnTo>
                  <a:pt x="0" y="219"/>
                </a:lnTo>
                <a:close/>
                <a:moveTo>
                  <a:pt x="96" y="898"/>
                </a:moveTo>
                <a:lnTo>
                  <a:pt x="99" y="932"/>
                </a:lnTo>
                <a:lnTo>
                  <a:pt x="97" y="921"/>
                </a:lnTo>
                <a:lnTo>
                  <a:pt x="108" y="953"/>
                </a:lnTo>
                <a:lnTo>
                  <a:pt x="102" y="942"/>
                </a:lnTo>
                <a:lnTo>
                  <a:pt x="138" y="996"/>
                </a:lnTo>
                <a:lnTo>
                  <a:pt x="125" y="983"/>
                </a:lnTo>
                <a:lnTo>
                  <a:pt x="180" y="1020"/>
                </a:lnTo>
                <a:lnTo>
                  <a:pt x="168" y="1014"/>
                </a:lnTo>
                <a:lnTo>
                  <a:pt x="200" y="1024"/>
                </a:lnTo>
                <a:lnTo>
                  <a:pt x="190" y="1022"/>
                </a:lnTo>
                <a:lnTo>
                  <a:pt x="219" y="1024"/>
                </a:lnTo>
                <a:lnTo>
                  <a:pt x="2690" y="1025"/>
                </a:lnTo>
                <a:lnTo>
                  <a:pt x="2724" y="1022"/>
                </a:lnTo>
                <a:lnTo>
                  <a:pt x="2714" y="1024"/>
                </a:lnTo>
                <a:lnTo>
                  <a:pt x="2746" y="1014"/>
                </a:lnTo>
                <a:lnTo>
                  <a:pt x="2733" y="1020"/>
                </a:lnTo>
                <a:lnTo>
                  <a:pt x="2787" y="983"/>
                </a:lnTo>
                <a:lnTo>
                  <a:pt x="2775" y="995"/>
                </a:lnTo>
                <a:lnTo>
                  <a:pt x="2812" y="941"/>
                </a:lnTo>
                <a:lnTo>
                  <a:pt x="2806" y="954"/>
                </a:lnTo>
                <a:lnTo>
                  <a:pt x="2816" y="922"/>
                </a:lnTo>
                <a:lnTo>
                  <a:pt x="2814" y="932"/>
                </a:lnTo>
                <a:lnTo>
                  <a:pt x="2816" y="902"/>
                </a:lnTo>
                <a:lnTo>
                  <a:pt x="2817" y="224"/>
                </a:lnTo>
                <a:lnTo>
                  <a:pt x="2814" y="190"/>
                </a:lnTo>
                <a:lnTo>
                  <a:pt x="2816" y="200"/>
                </a:lnTo>
                <a:lnTo>
                  <a:pt x="2806" y="168"/>
                </a:lnTo>
                <a:lnTo>
                  <a:pt x="2812" y="180"/>
                </a:lnTo>
                <a:lnTo>
                  <a:pt x="2775" y="125"/>
                </a:lnTo>
                <a:lnTo>
                  <a:pt x="2788" y="138"/>
                </a:lnTo>
                <a:lnTo>
                  <a:pt x="2734" y="102"/>
                </a:lnTo>
                <a:lnTo>
                  <a:pt x="2745" y="108"/>
                </a:lnTo>
                <a:lnTo>
                  <a:pt x="2713" y="97"/>
                </a:lnTo>
                <a:lnTo>
                  <a:pt x="2724" y="99"/>
                </a:lnTo>
                <a:lnTo>
                  <a:pt x="2694" y="96"/>
                </a:lnTo>
                <a:lnTo>
                  <a:pt x="224" y="96"/>
                </a:lnTo>
                <a:lnTo>
                  <a:pt x="190" y="99"/>
                </a:lnTo>
                <a:lnTo>
                  <a:pt x="201" y="97"/>
                </a:lnTo>
                <a:lnTo>
                  <a:pt x="169" y="108"/>
                </a:lnTo>
                <a:lnTo>
                  <a:pt x="180" y="103"/>
                </a:lnTo>
                <a:lnTo>
                  <a:pt x="125" y="139"/>
                </a:lnTo>
                <a:lnTo>
                  <a:pt x="139" y="125"/>
                </a:lnTo>
                <a:lnTo>
                  <a:pt x="103" y="180"/>
                </a:lnTo>
                <a:lnTo>
                  <a:pt x="108" y="169"/>
                </a:lnTo>
                <a:lnTo>
                  <a:pt x="97" y="201"/>
                </a:lnTo>
                <a:lnTo>
                  <a:pt x="99" y="190"/>
                </a:lnTo>
                <a:lnTo>
                  <a:pt x="96" y="219"/>
                </a:lnTo>
                <a:lnTo>
                  <a:pt x="96" y="898"/>
                </a:lnTo>
                <a:close/>
              </a:path>
            </a:pathLst>
          </a:custGeom>
          <a:solidFill>
            <a:srgbClr val="0070C0"/>
          </a:solidFill>
          <a:ln w="0" cap="flat">
            <a:solidFill>
              <a:srgbClr val="0070C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 name="Freeform 25">
            <a:extLst>
              <a:ext uri="{FF2B5EF4-FFF2-40B4-BE49-F238E27FC236}">
                <a16:creationId xmlns:a16="http://schemas.microsoft.com/office/drawing/2014/main" id="{95A5D0DD-A0FF-4ECF-956C-FC0C0D5CBDCD}"/>
              </a:ext>
            </a:extLst>
          </p:cNvPr>
          <p:cNvSpPr>
            <a:spLocks noEditPoints="1"/>
          </p:cNvSpPr>
          <p:nvPr/>
        </p:nvSpPr>
        <p:spPr bwMode="auto">
          <a:xfrm>
            <a:off x="6373474" y="1778000"/>
            <a:ext cx="1571625" cy="603250"/>
          </a:xfrm>
          <a:custGeom>
            <a:avLst/>
            <a:gdLst/>
            <a:ahLst/>
            <a:cxnLst>
              <a:cxn ang="0">
                <a:pos x="4" y="181"/>
              </a:cxn>
              <a:cxn ang="0">
                <a:pos x="17" y="138"/>
              </a:cxn>
              <a:cxn ang="0">
                <a:pos x="58" y="72"/>
              </a:cxn>
              <a:cxn ang="0">
                <a:pos x="127" y="22"/>
              </a:cxn>
              <a:cxn ang="0">
                <a:pos x="170" y="6"/>
              </a:cxn>
              <a:cxn ang="0">
                <a:pos x="215" y="1"/>
              </a:cxn>
              <a:cxn ang="0">
                <a:pos x="2733" y="4"/>
              </a:cxn>
              <a:cxn ang="0">
                <a:pos x="2776" y="17"/>
              </a:cxn>
              <a:cxn ang="0">
                <a:pos x="2841" y="59"/>
              </a:cxn>
              <a:cxn ang="0">
                <a:pos x="2891" y="127"/>
              </a:cxn>
              <a:cxn ang="0">
                <a:pos x="2907" y="171"/>
              </a:cxn>
              <a:cxn ang="0">
                <a:pos x="2912" y="215"/>
              </a:cxn>
              <a:cxn ang="0">
                <a:pos x="2909" y="941"/>
              </a:cxn>
              <a:cxn ang="0">
                <a:pos x="2897" y="983"/>
              </a:cxn>
              <a:cxn ang="0">
                <a:pos x="2854" y="1050"/>
              </a:cxn>
              <a:cxn ang="0">
                <a:pos x="2788" y="1099"/>
              </a:cxn>
              <a:cxn ang="0">
                <a:pos x="2743" y="1115"/>
              </a:cxn>
              <a:cxn ang="0">
                <a:pos x="2699" y="1120"/>
              </a:cxn>
              <a:cxn ang="0">
                <a:pos x="181" y="1117"/>
              </a:cxn>
              <a:cxn ang="0">
                <a:pos x="139" y="1105"/>
              </a:cxn>
              <a:cxn ang="0">
                <a:pos x="72" y="1062"/>
              </a:cxn>
              <a:cxn ang="0">
                <a:pos x="23" y="995"/>
              </a:cxn>
              <a:cxn ang="0">
                <a:pos x="6" y="952"/>
              </a:cxn>
              <a:cxn ang="0">
                <a:pos x="1" y="907"/>
              </a:cxn>
              <a:cxn ang="0">
                <a:pos x="96" y="898"/>
              </a:cxn>
              <a:cxn ang="0">
                <a:pos x="97" y="921"/>
              </a:cxn>
              <a:cxn ang="0">
                <a:pos x="102" y="942"/>
              </a:cxn>
              <a:cxn ang="0">
                <a:pos x="125" y="983"/>
              </a:cxn>
              <a:cxn ang="0">
                <a:pos x="168" y="1014"/>
              </a:cxn>
              <a:cxn ang="0">
                <a:pos x="190" y="1022"/>
              </a:cxn>
              <a:cxn ang="0">
                <a:pos x="2690" y="1025"/>
              </a:cxn>
              <a:cxn ang="0">
                <a:pos x="2714" y="1024"/>
              </a:cxn>
              <a:cxn ang="0">
                <a:pos x="2733" y="1020"/>
              </a:cxn>
              <a:cxn ang="0">
                <a:pos x="2775" y="995"/>
              </a:cxn>
              <a:cxn ang="0">
                <a:pos x="2806" y="954"/>
              </a:cxn>
              <a:cxn ang="0">
                <a:pos x="2814" y="932"/>
              </a:cxn>
              <a:cxn ang="0">
                <a:pos x="2817" y="224"/>
              </a:cxn>
              <a:cxn ang="0">
                <a:pos x="2816" y="200"/>
              </a:cxn>
              <a:cxn ang="0">
                <a:pos x="2812" y="180"/>
              </a:cxn>
              <a:cxn ang="0">
                <a:pos x="2788" y="138"/>
              </a:cxn>
              <a:cxn ang="0">
                <a:pos x="2745" y="108"/>
              </a:cxn>
              <a:cxn ang="0">
                <a:pos x="2724" y="99"/>
              </a:cxn>
              <a:cxn ang="0">
                <a:pos x="224" y="96"/>
              </a:cxn>
              <a:cxn ang="0">
                <a:pos x="201" y="97"/>
              </a:cxn>
              <a:cxn ang="0">
                <a:pos x="180" y="103"/>
              </a:cxn>
              <a:cxn ang="0">
                <a:pos x="139" y="125"/>
              </a:cxn>
              <a:cxn ang="0">
                <a:pos x="108" y="169"/>
              </a:cxn>
              <a:cxn ang="0">
                <a:pos x="99" y="190"/>
              </a:cxn>
              <a:cxn ang="0">
                <a:pos x="96" y="898"/>
              </a:cxn>
            </a:cxnLst>
            <a:rect l="0" t="0" r="r" b="b"/>
            <a:pathLst>
              <a:path w="2912" h="1120">
                <a:moveTo>
                  <a:pt x="0" y="219"/>
                </a:moveTo>
                <a:lnTo>
                  <a:pt x="4" y="181"/>
                </a:lnTo>
                <a:cubicBezTo>
                  <a:pt x="4" y="177"/>
                  <a:pt x="5" y="174"/>
                  <a:pt x="6" y="170"/>
                </a:cubicBezTo>
                <a:lnTo>
                  <a:pt x="17" y="138"/>
                </a:lnTo>
                <a:cubicBezTo>
                  <a:pt x="18" y="134"/>
                  <a:pt x="20" y="131"/>
                  <a:pt x="22" y="127"/>
                </a:cubicBezTo>
                <a:lnTo>
                  <a:pt x="58" y="72"/>
                </a:lnTo>
                <a:cubicBezTo>
                  <a:pt x="62" y="67"/>
                  <a:pt x="67" y="62"/>
                  <a:pt x="72" y="58"/>
                </a:cubicBezTo>
                <a:lnTo>
                  <a:pt x="127" y="22"/>
                </a:lnTo>
                <a:cubicBezTo>
                  <a:pt x="131" y="20"/>
                  <a:pt x="134" y="18"/>
                  <a:pt x="138" y="17"/>
                </a:cubicBezTo>
                <a:lnTo>
                  <a:pt x="170" y="6"/>
                </a:lnTo>
                <a:cubicBezTo>
                  <a:pt x="174" y="5"/>
                  <a:pt x="177" y="4"/>
                  <a:pt x="181" y="4"/>
                </a:cubicBezTo>
                <a:lnTo>
                  <a:pt x="215" y="1"/>
                </a:lnTo>
                <a:lnTo>
                  <a:pt x="2694" y="0"/>
                </a:lnTo>
                <a:lnTo>
                  <a:pt x="2733" y="4"/>
                </a:lnTo>
                <a:cubicBezTo>
                  <a:pt x="2737" y="4"/>
                  <a:pt x="2740" y="5"/>
                  <a:pt x="2744" y="6"/>
                </a:cubicBezTo>
                <a:lnTo>
                  <a:pt x="2776" y="17"/>
                </a:lnTo>
                <a:cubicBezTo>
                  <a:pt x="2780" y="18"/>
                  <a:pt x="2784" y="20"/>
                  <a:pt x="2787" y="23"/>
                </a:cubicBezTo>
                <a:lnTo>
                  <a:pt x="2841" y="59"/>
                </a:lnTo>
                <a:cubicBezTo>
                  <a:pt x="2846" y="62"/>
                  <a:pt x="2851" y="66"/>
                  <a:pt x="2854" y="72"/>
                </a:cubicBezTo>
                <a:lnTo>
                  <a:pt x="2891" y="127"/>
                </a:lnTo>
                <a:cubicBezTo>
                  <a:pt x="2894" y="131"/>
                  <a:pt x="2896" y="135"/>
                  <a:pt x="2897" y="139"/>
                </a:cubicBezTo>
                <a:lnTo>
                  <a:pt x="2907" y="171"/>
                </a:lnTo>
                <a:cubicBezTo>
                  <a:pt x="2908" y="174"/>
                  <a:pt x="2909" y="178"/>
                  <a:pt x="2909" y="181"/>
                </a:cubicBezTo>
                <a:lnTo>
                  <a:pt x="2912" y="215"/>
                </a:lnTo>
                <a:lnTo>
                  <a:pt x="2912" y="902"/>
                </a:lnTo>
                <a:lnTo>
                  <a:pt x="2909" y="941"/>
                </a:lnTo>
                <a:cubicBezTo>
                  <a:pt x="2909" y="944"/>
                  <a:pt x="2908" y="948"/>
                  <a:pt x="2907" y="951"/>
                </a:cubicBezTo>
                <a:lnTo>
                  <a:pt x="2897" y="983"/>
                </a:lnTo>
                <a:cubicBezTo>
                  <a:pt x="2896" y="987"/>
                  <a:pt x="2894" y="992"/>
                  <a:pt x="2891" y="996"/>
                </a:cubicBezTo>
                <a:lnTo>
                  <a:pt x="2854" y="1050"/>
                </a:lnTo>
                <a:cubicBezTo>
                  <a:pt x="2851" y="1054"/>
                  <a:pt x="2846" y="1059"/>
                  <a:pt x="2842" y="1062"/>
                </a:cubicBezTo>
                <a:lnTo>
                  <a:pt x="2788" y="1099"/>
                </a:lnTo>
                <a:cubicBezTo>
                  <a:pt x="2784" y="1102"/>
                  <a:pt x="2779" y="1104"/>
                  <a:pt x="2775" y="1105"/>
                </a:cubicBezTo>
                <a:lnTo>
                  <a:pt x="2743" y="1115"/>
                </a:lnTo>
                <a:cubicBezTo>
                  <a:pt x="2739" y="1116"/>
                  <a:pt x="2736" y="1117"/>
                  <a:pt x="2733" y="1117"/>
                </a:cubicBezTo>
                <a:lnTo>
                  <a:pt x="2699" y="1120"/>
                </a:lnTo>
                <a:lnTo>
                  <a:pt x="219" y="1120"/>
                </a:lnTo>
                <a:lnTo>
                  <a:pt x="181" y="1117"/>
                </a:lnTo>
                <a:cubicBezTo>
                  <a:pt x="178" y="1117"/>
                  <a:pt x="174" y="1116"/>
                  <a:pt x="171" y="1115"/>
                </a:cubicBezTo>
                <a:lnTo>
                  <a:pt x="139" y="1105"/>
                </a:lnTo>
                <a:cubicBezTo>
                  <a:pt x="135" y="1104"/>
                  <a:pt x="131" y="1102"/>
                  <a:pt x="127" y="1099"/>
                </a:cubicBezTo>
                <a:lnTo>
                  <a:pt x="72" y="1062"/>
                </a:lnTo>
                <a:cubicBezTo>
                  <a:pt x="66" y="1059"/>
                  <a:pt x="62" y="1054"/>
                  <a:pt x="59" y="1049"/>
                </a:cubicBezTo>
                <a:lnTo>
                  <a:pt x="23" y="995"/>
                </a:lnTo>
                <a:cubicBezTo>
                  <a:pt x="20" y="992"/>
                  <a:pt x="18" y="988"/>
                  <a:pt x="17" y="984"/>
                </a:cubicBezTo>
                <a:lnTo>
                  <a:pt x="6" y="952"/>
                </a:lnTo>
                <a:cubicBezTo>
                  <a:pt x="5" y="948"/>
                  <a:pt x="4" y="945"/>
                  <a:pt x="4" y="941"/>
                </a:cubicBezTo>
                <a:lnTo>
                  <a:pt x="1" y="907"/>
                </a:lnTo>
                <a:lnTo>
                  <a:pt x="0" y="219"/>
                </a:lnTo>
                <a:close/>
                <a:moveTo>
                  <a:pt x="96" y="898"/>
                </a:moveTo>
                <a:lnTo>
                  <a:pt x="99" y="932"/>
                </a:lnTo>
                <a:lnTo>
                  <a:pt x="97" y="921"/>
                </a:lnTo>
                <a:lnTo>
                  <a:pt x="108" y="953"/>
                </a:lnTo>
                <a:lnTo>
                  <a:pt x="102" y="942"/>
                </a:lnTo>
                <a:lnTo>
                  <a:pt x="138" y="996"/>
                </a:lnTo>
                <a:lnTo>
                  <a:pt x="125" y="983"/>
                </a:lnTo>
                <a:lnTo>
                  <a:pt x="180" y="1020"/>
                </a:lnTo>
                <a:lnTo>
                  <a:pt x="168" y="1014"/>
                </a:lnTo>
                <a:lnTo>
                  <a:pt x="200" y="1024"/>
                </a:lnTo>
                <a:lnTo>
                  <a:pt x="190" y="1022"/>
                </a:lnTo>
                <a:lnTo>
                  <a:pt x="219" y="1024"/>
                </a:lnTo>
                <a:lnTo>
                  <a:pt x="2690" y="1025"/>
                </a:lnTo>
                <a:lnTo>
                  <a:pt x="2724" y="1022"/>
                </a:lnTo>
                <a:lnTo>
                  <a:pt x="2714" y="1024"/>
                </a:lnTo>
                <a:lnTo>
                  <a:pt x="2746" y="1014"/>
                </a:lnTo>
                <a:lnTo>
                  <a:pt x="2733" y="1020"/>
                </a:lnTo>
                <a:lnTo>
                  <a:pt x="2787" y="983"/>
                </a:lnTo>
                <a:lnTo>
                  <a:pt x="2775" y="995"/>
                </a:lnTo>
                <a:lnTo>
                  <a:pt x="2812" y="941"/>
                </a:lnTo>
                <a:lnTo>
                  <a:pt x="2806" y="954"/>
                </a:lnTo>
                <a:lnTo>
                  <a:pt x="2816" y="922"/>
                </a:lnTo>
                <a:lnTo>
                  <a:pt x="2814" y="932"/>
                </a:lnTo>
                <a:lnTo>
                  <a:pt x="2816" y="902"/>
                </a:lnTo>
                <a:lnTo>
                  <a:pt x="2817" y="224"/>
                </a:lnTo>
                <a:lnTo>
                  <a:pt x="2814" y="190"/>
                </a:lnTo>
                <a:lnTo>
                  <a:pt x="2816" y="200"/>
                </a:lnTo>
                <a:lnTo>
                  <a:pt x="2806" y="168"/>
                </a:lnTo>
                <a:lnTo>
                  <a:pt x="2812" y="180"/>
                </a:lnTo>
                <a:lnTo>
                  <a:pt x="2775" y="125"/>
                </a:lnTo>
                <a:lnTo>
                  <a:pt x="2788" y="138"/>
                </a:lnTo>
                <a:lnTo>
                  <a:pt x="2734" y="102"/>
                </a:lnTo>
                <a:lnTo>
                  <a:pt x="2745" y="108"/>
                </a:lnTo>
                <a:lnTo>
                  <a:pt x="2713" y="97"/>
                </a:lnTo>
                <a:lnTo>
                  <a:pt x="2724" y="99"/>
                </a:lnTo>
                <a:lnTo>
                  <a:pt x="2694" y="96"/>
                </a:lnTo>
                <a:lnTo>
                  <a:pt x="224" y="96"/>
                </a:lnTo>
                <a:lnTo>
                  <a:pt x="190" y="99"/>
                </a:lnTo>
                <a:lnTo>
                  <a:pt x="201" y="97"/>
                </a:lnTo>
                <a:lnTo>
                  <a:pt x="169" y="108"/>
                </a:lnTo>
                <a:lnTo>
                  <a:pt x="180" y="103"/>
                </a:lnTo>
                <a:lnTo>
                  <a:pt x="125" y="139"/>
                </a:lnTo>
                <a:lnTo>
                  <a:pt x="139" y="125"/>
                </a:lnTo>
                <a:lnTo>
                  <a:pt x="103" y="180"/>
                </a:lnTo>
                <a:lnTo>
                  <a:pt x="108" y="169"/>
                </a:lnTo>
                <a:lnTo>
                  <a:pt x="97" y="201"/>
                </a:lnTo>
                <a:lnTo>
                  <a:pt x="99" y="190"/>
                </a:lnTo>
                <a:lnTo>
                  <a:pt x="96" y="219"/>
                </a:lnTo>
                <a:lnTo>
                  <a:pt x="96" y="898"/>
                </a:lnTo>
                <a:close/>
              </a:path>
            </a:pathLst>
          </a:custGeom>
          <a:solidFill>
            <a:srgbClr val="0070C0"/>
          </a:solidFill>
          <a:ln w="0" cap="flat">
            <a:solidFill>
              <a:srgbClr val="0070C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 name="Freeform 28">
            <a:extLst>
              <a:ext uri="{FF2B5EF4-FFF2-40B4-BE49-F238E27FC236}">
                <a16:creationId xmlns:a16="http://schemas.microsoft.com/office/drawing/2014/main" id="{A8E2FB48-6D4D-44FB-B0F5-13915F126C35}"/>
              </a:ext>
            </a:extLst>
          </p:cNvPr>
          <p:cNvSpPr>
            <a:spLocks noEditPoints="1"/>
          </p:cNvSpPr>
          <p:nvPr/>
        </p:nvSpPr>
        <p:spPr bwMode="auto">
          <a:xfrm>
            <a:off x="6857661" y="1225550"/>
            <a:ext cx="1570038" cy="603250"/>
          </a:xfrm>
          <a:custGeom>
            <a:avLst/>
            <a:gdLst/>
            <a:ahLst/>
            <a:cxnLst>
              <a:cxn ang="0">
                <a:pos x="4" y="181"/>
              </a:cxn>
              <a:cxn ang="0">
                <a:pos x="17" y="138"/>
              </a:cxn>
              <a:cxn ang="0">
                <a:pos x="58" y="72"/>
              </a:cxn>
              <a:cxn ang="0">
                <a:pos x="127" y="22"/>
              </a:cxn>
              <a:cxn ang="0">
                <a:pos x="170" y="6"/>
              </a:cxn>
              <a:cxn ang="0">
                <a:pos x="215" y="1"/>
              </a:cxn>
              <a:cxn ang="0">
                <a:pos x="2733" y="4"/>
              </a:cxn>
              <a:cxn ang="0">
                <a:pos x="2776" y="17"/>
              </a:cxn>
              <a:cxn ang="0">
                <a:pos x="2841" y="59"/>
              </a:cxn>
              <a:cxn ang="0">
                <a:pos x="2891" y="127"/>
              </a:cxn>
              <a:cxn ang="0">
                <a:pos x="2907" y="171"/>
              </a:cxn>
              <a:cxn ang="0">
                <a:pos x="2912" y="215"/>
              </a:cxn>
              <a:cxn ang="0">
                <a:pos x="2909" y="941"/>
              </a:cxn>
              <a:cxn ang="0">
                <a:pos x="2897" y="983"/>
              </a:cxn>
              <a:cxn ang="0">
                <a:pos x="2854" y="1050"/>
              </a:cxn>
              <a:cxn ang="0">
                <a:pos x="2788" y="1099"/>
              </a:cxn>
              <a:cxn ang="0">
                <a:pos x="2743" y="1115"/>
              </a:cxn>
              <a:cxn ang="0">
                <a:pos x="2699" y="1120"/>
              </a:cxn>
              <a:cxn ang="0">
                <a:pos x="181" y="1117"/>
              </a:cxn>
              <a:cxn ang="0">
                <a:pos x="139" y="1105"/>
              </a:cxn>
              <a:cxn ang="0">
                <a:pos x="72" y="1062"/>
              </a:cxn>
              <a:cxn ang="0">
                <a:pos x="23" y="995"/>
              </a:cxn>
              <a:cxn ang="0">
                <a:pos x="6" y="952"/>
              </a:cxn>
              <a:cxn ang="0">
                <a:pos x="1" y="907"/>
              </a:cxn>
              <a:cxn ang="0">
                <a:pos x="96" y="898"/>
              </a:cxn>
              <a:cxn ang="0">
                <a:pos x="97" y="921"/>
              </a:cxn>
              <a:cxn ang="0">
                <a:pos x="102" y="942"/>
              </a:cxn>
              <a:cxn ang="0">
                <a:pos x="125" y="983"/>
              </a:cxn>
              <a:cxn ang="0">
                <a:pos x="168" y="1014"/>
              </a:cxn>
              <a:cxn ang="0">
                <a:pos x="190" y="1022"/>
              </a:cxn>
              <a:cxn ang="0">
                <a:pos x="2690" y="1025"/>
              </a:cxn>
              <a:cxn ang="0">
                <a:pos x="2714" y="1024"/>
              </a:cxn>
              <a:cxn ang="0">
                <a:pos x="2733" y="1020"/>
              </a:cxn>
              <a:cxn ang="0">
                <a:pos x="2775" y="995"/>
              </a:cxn>
              <a:cxn ang="0">
                <a:pos x="2806" y="954"/>
              </a:cxn>
              <a:cxn ang="0">
                <a:pos x="2814" y="932"/>
              </a:cxn>
              <a:cxn ang="0">
                <a:pos x="2817" y="224"/>
              </a:cxn>
              <a:cxn ang="0">
                <a:pos x="2816" y="200"/>
              </a:cxn>
              <a:cxn ang="0">
                <a:pos x="2812" y="180"/>
              </a:cxn>
              <a:cxn ang="0">
                <a:pos x="2788" y="138"/>
              </a:cxn>
              <a:cxn ang="0">
                <a:pos x="2745" y="108"/>
              </a:cxn>
              <a:cxn ang="0">
                <a:pos x="2724" y="99"/>
              </a:cxn>
              <a:cxn ang="0">
                <a:pos x="224" y="96"/>
              </a:cxn>
              <a:cxn ang="0">
                <a:pos x="201" y="97"/>
              </a:cxn>
              <a:cxn ang="0">
                <a:pos x="180" y="103"/>
              </a:cxn>
              <a:cxn ang="0">
                <a:pos x="139" y="125"/>
              </a:cxn>
              <a:cxn ang="0">
                <a:pos x="108" y="169"/>
              </a:cxn>
              <a:cxn ang="0">
                <a:pos x="99" y="190"/>
              </a:cxn>
              <a:cxn ang="0">
                <a:pos x="96" y="898"/>
              </a:cxn>
            </a:cxnLst>
            <a:rect l="0" t="0" r="r" b="b"/>
            <a:pathLst>
              <a:path w="2912" h="1120">
                <a:moveTo>
                  <a:pt x="0" y="219"/>
                </a:moveTo>
                <a:lnTo>
                  <a:pt x="4" y="181"/>
                </a:lnTo>
                <a:cubicBezTo>
                  <a:pt x="4" y="177"/>
                  <a:pt x="5" y="174"/>
                  <a:pt x="6" y="170"/>
                </a:cubicBezTo>
                <a:lnTo>
                  <a:pt x="17" y="138"/>
                </a:lnTo>
                <a:cubicBezTo>
                  <a:pt x="18" y="134"/>
                  <a:pt x="20" y="131"/>
                  <a:pt x="22" y="127"/>
                </a:cubicBezTo>
                <a:lnTo>
                  <a:pt x="58" y="72"/>
                </a:lnTo>
                <a:cubicBezTo>
                  <a:pt x="62" y="67"/>
                  <a:pt x="67" y="62"/>
                  <a:pt x="72" y="58"/>
                </a:cubicBezTo>
                <a:lnTo>
                  <a:pt x="127" y="22"/>
                </a:lnTo>
                <a:cubicBezTo>
                  <a:pt x="131" y="20"/>
                  <a:pt x="134" y="18"/>
                  <a:pt x="138" y="17"/>
                </a:cubicBezTo>
                <a:lnTo>
                  <a:pt x="170" y="6"/>
                </a:lnTo>
                <a:cubicBezTo>
                  <a:pt x="174" y="5"/>
                  <a:pt x="177" y="4"/>
                  <a:pt x="181" y="4"/>
                </a:cubicBezTo>
                <a:lnTo>
                  <a:pt x="215" y="1"/>
                </a:lnTo>
                <a:lnTo>
                  <a:pt x="2694" y="0"/>
                </a:lnTo>
                <a:lnTo>
                  <a:pt x="2733" y="4"/>
                </a:lnTo>
                <a:cubicBezTo>
                  <a:pt x="2737" y="4"/>
                  <a:pt x="2740" y="5"/>
                  <a:pt x="2744" y="6"/>
                </a:cubicBezTo>
                <a:lnTo>
                  <a:pt x="2776" y="17"/>
                </a:lnTo>
                <a:cubicBezTo>
                  <a:pt x="2780" y="18"/>
                  <a:pt x="2784" y="20"/>
                  <a:pt x="2787" y="23"/>
                </a:cubicBezTo>
                <a:lnTo>
                  <a:pt x="2841" y="59"/>
                </a:lnTo>
                <a:cubicBezTo>
                  <a:pt x="2846" y="62"/>
                  <a:pt x="2851" y="66"/>
                  <a:pt x="2854" y="72"/>
                </a:cubicBezTo>
                <a:lnTo>
                  <a:pt x="2891" y="127"/>
                </a:lnTo>
                <a:cubicBezTo>
                  <a:pt x="2894" y="131"/>
                  <a:pt x="2896" y="135"/>
                  <a:pt x="2897" y="139"/>
                </a:cubicBezTo>
                <a:lnTo>
                  <a:pt x="2907" y="171"/>
                </a:lnTo>
                <a:cubicBezTo>
                  <a:pt x="2908" y="174"/>
                  <a:pt x="2909" y="178"/>
                  <a:pt x="2909" y="181"/>
                </a:cubicBezTo>
                <a:lnTo>
                  <a:pt x="2912" y="215"/>
                </a:lnTo>
                <a:lnTo>
                  <a:pt x="2912" y="902"/>
                </a:lnTo>
                <a:lnTo>
                  <a:pt x="2909" y="941"/>
                </a:lnTo>
                <a:cubicBezTo>
                  <a:pt x="2909" y="944"/>
                  <a:pt x="2908" y="948"/>
                  <a:pt x="2907" y="951"/>
                </a:cubicBezTo>
                <a:lnTo>
                  <a:pt x="2897" y="983"/>
                </a:lnTo>
                <a:cubicBezTo>
                  <a:pt x="2896" y="987"/>
                  <a:pt x="2894" y="992"/>
                  <a:pt x="2891" y="996"/>
                </a:cubicBezTo>
                <a:lnTo>
                  <a:pt x="2854" y="1050"/>
                </a:lnTo>
                <a:cubicBezTo>
                  <a:pt x="2851" y="1054"/>
                  <a:pt x="2846" y="1059"/>
                  <a:pt x="2842" y="1062"/>
                </a:cubicBezTo>
                <a:lnTo>
                  <a:pt x="2788" y="1099"/>
                </a:lnTo>
                <a:cubicBezTo>
                  <a:pt x="2784" y="1102"/>
                  <a:pt x="2779" y="1104"/>
                  <a:pt x="2775" y="1105"/>
                </a:cubicBezTo>
                <a:lnTo>
                  <a:pt x="2743" y="1115"/>
                </a:lnTo>
                <a:cubicBezTo>
                  <a:pt x="2739" y="1116"/>
                  <a:pt x="2736" y="1117"/>
                  <a:pt x="2733" y="1117"/>
                </a:cubicBezTo>
                <a:lnTo>
                  <a:pt x="2699" y="1120"/>
                </a:lnTo>
                <a:lnTo>
                  <a:pt x="219" y="1120"/>
                </a:lnTo>
                <a:lnTo>
                  <a:pt x="181" y="1117"/>
                </a:lnTo>
                <a:cubicBezTo>
                  <a:pt x="178" y="1117"/>
                  <a:pt x="174" y="1116"/>
                  <a:pt x="171" y="1115"/>
                </a:cubicBezTo>
                <a:lnTo>
                  <a:pt x="139" y="1105"/>
                </a:lnTo>
                <a:cubicBezTo>
                  <a:pt x="135" y="1104"/>
                  <a:pt x="131" y="1102"/>
                  <a:pt x="127" y="1099"/>
                </a:cubicBezTo>
                <a:lnTo>
                  <a:pt x="72" y="1062"/>
                </a:lnTo>
                <a:cubicBezTo>
                  <a:pt x="66" y="1059"/>
                  <a:pt x="62" y="1054"/>
                  <a:pt x="59" y="1049"/>
                </a:cubicBezTo>
                <a:lnTo>
                  <a:pt x="23" y="995"/>
                </a:lnTo>
                <a:cubicBezTo>
                  <a:pt x="20" y="992"/>
                  <a:pt x="18" y="988"/>
                  <a:pt x="17" y="984"/>
                </a:cubicBezTo>
                <a:lnTo>
                  <a:pt x="6" y="952"/>
                </a:lnTo>
                <a:cubicBezTo>
                  <a:pt x="5" y="948"/>
                  <a:pt x="4" y="945"/>
                  <a:pt x="4" y="941"/>
                </a:cubicBezTo>
                <a:lnTo>
                  <a:pt x="1" y="907"/>
                </a:lnTo>
                <a:lnTo>
                  <a:pt x="0" y="219"/>
                </a:lnTo>
                <a:close/>
                <a:moveTo>
                  <a:pt x="96" y="898"/>
                </a:moveTo>
                <a:lnTo>
                  <a:pt x="99" y="932"/>
                </a:lnTo>
                <a:lnTo>
                  <a:pt x="97" y="921"/>
                </a:lnTo>
                <a:lnTo>
                  <a:pt x="108" y="953"/>
                </a:lnTo>
                <a:lnTo>
                  <a:pt x="102" y="942"/>
                </a:lnTo>
                <a:lnTo>
                  <a:pt x="138" y="996"/>
                </a:lnTo>
                <a:lnTo>
                  <a:pt x="125" y="983"/>
                </a:lnTo>
                <a:lnTo>
                  <a:pt x="180" y="1020"/>
                </a:lnTo>
                <a:lnTo>
                  <a:pt x="168" y="1014"/>
                </a:lnTo>
                <a:lnTo>
                  <a:pt x="200" y="1024"/>
                </a:lnTo>
                <a:lnTo>
                  <a:pt x="190" y="1022"/>
                </a:lnTo>
                <a:lnTo>
                  <a:pt x="219" y="1024"/>
                </a:lnTo>
                <a:lnTo>
                  <a:pt x="2690" y="1025"/>
                </a:lnTo>
                <a:lnTo>
                  <a:pt x="2724" y="1022"/>
                </a:lnTo>
                <a:lnTo>
                  <a:pt x="2714" y="1024"/>
                </a:lnTo>
                <a:lnTo>
                  <a:pt x="2746" y="1014"/>
                </a:lnTo>
                <a:lnTo>
                  <a:pt x="2733" y="1020"/>
                </a:lnTo>
                <a:lnTo>
                  <a:pt x="2787" y="983"/>
                </a:lnTo>
                <a:lnTo>
                  <a:pt x="2775" y="995"/>
                </a:lnTo>
                <a:lnTo>
                  <a:pt x="2812" y="941"/>
                </a:lnTo>
                <a:lnTo>
                  <a:pt x="2806" y="954"/>
                </a:lnTo>
                <a:lnTo>
                  <a:pt x="2816" y="922"/>
                </a:lnTo>
                <a:lnTo>
                  <a:pt x="2814" y="932"/>
                </a:lnTo>
                <a:lnTo>
                  <a:pt x="2816" y="902"/>
                </a:lnTo>
                <a:lnTo>
                  <a:pt x="2817" y="224"/>
                </a:lnTo>
                <a:lnTo>
                  <a:pt x="2814" y="190"/>
                </a:lnTo>
                <a:lnTo>
                  <a:pt x="2816" y="200"/>
                </a:lnTo>
                <a:lnTo>
                  <a:pt x="2806" y="168"/>
                </a:lnTo>
                <a:lnTo>
                  <a:pt x="2812" y="180"/>
                </a:lnTo>
                <a:lnTo>
                  <a:pt x="2775" y="125"/>
                </a:lnTo>
                <a:lnTo>
                  <a:pt x="2788" y="138"/>
                </a:lnTo>
                <a:lnTo>
                  <a:pt x="2734" y="102"/>
                </a:lnTo>
                <a:lnTo>
                  <a:pt x="2745" y="108"/>
                </a:lnTo>
                <a:lnTo>
                  <a:pt x="2713" y="97"/>
                </a:lnTo>
                <a:lnTo>
                  <a:pt x="2724" y="99"/>
                </a:lnTo>
                <a:lnTo>
                  <a:pt x="2694" y="96"/>
                </a:lnTo>
                <a:lnTo>
                  <a:pt x="224" y="96"/>
                </a:lnTo>
                <a:lnTo>
                  <a:pt x="190" y="99"/>
                </a:lnTo>
                <a:lnTo>
                  <a:pt x="201" y="97"/>
                </a:lnTo>
                <a:lnTo>
                  <a:pt x="169" y="108"/>
                </a:lnTo>
                <a:lnTo>
                  <a:pt x="180" y="103"/>
                </a:lnTo>
                <a:lnTo>
                  <a:pt x="125" y="139"/>
                </a:lnTo>
                <a:lnTo>
                  <a:pt x="139" y="125"/>
                </a:lnTo>
                <a:lnTo>
                  <a:pt x="103" y="180"/>
                </a:lnTo>
                <a:lnTo>
                  <a:pt x="108" y="169"/>
                </a:lnTo>
                <a:lnTo>
                  <a:pt x="97" y="201"/>
                </a:lnTo>
                <a:lnTo>
                  <a:pt x="99" y="190"/>
                </a:lnTo>
                <a:lnTo>
                  <a:pt x="96" y="219"/>
                </a:lnTo>
                <a:lnTo>
                  <a:pt x="96" y="898"/>
                </a:lnTo>
                <a:close/>
              </a:path>
            </a:pathLst>
          </a:custGeom>
          <a:solidFill>
            <a:srgbClr val="0070C0"/>
          </a:solidFill>
          <a:ln w="0" cap="flat">
            <a:solidFill>
              <a:srgbClr val="0070C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 name="Freeform 29">
            <a:extLst>
              <a:ext uri="{FF2B5EF4-FFF2-40B4-BE49-F238E27FC236}">
                <a16:creationId xmlns:a16="http://schemas.microsoft.com/office/drawing/2014/main" id="{06896B2C-B391-478E-A99B-37829640C2B9}"/>
              </a:ext>
            </a:extLst>
          </p:cNvPr>
          <p:cNvSpPr>
            <a:spLocks/>
          </p:cNvSpPr>
          <p:nvPr/>
        </p:nvSpPr>
        <p:spPr bwMode="auto">
          <a:xfrm>
            <a:off x="6995773" y="4130675"/>
            <a:ext cx="1106488" cy="482600"/>
          </a:xfrm>
          <a:custGeom>
            <a:avLst/>
            <a:gdLst/>
            <a:ahLst/>
            <a:cxnLst>
              <a:cxn ang="0">
                <a:pos x="0" y="152"/>
              </a:cxn>
              <a:cxn ang="0">
                <a:pos x="153" y="0"/>
              </a:cxn>
              <a:cxn ang="0">
                <a:pos x="153" y="76"/>
              </a:cxn>
              <a:cxn ang="0">
                <a:pos x="697" y="76"/>
              </a:cxn>
              <a:cxn ang="0">
                <a:pos x="697" y="228"/>
              </a:cxn>
              <a:cxn ang="0">
                <a:pos x="153" y="228"/>
              </a:cxn>
              <a:cxn ang="0">
                <a:pos x="153" y="304"/>
              </a:cxn>
              <a:cxn ang="0">
                <a:pos x="0" y="152"/>
              </a:cxn>
            </a:cxnLst>
            <a:rect l="0" t="0" r="r" b="b"/>
            <a:pathLst>
              <a:path w="697" h="304">
                <a:moveTo>
                  <a:pt x="0" y="152"/>
                </a:moveTo>
                <a:lnTo>
                  <a:pt x="153" y="0"/>
                </a:lnTo>
                <a:lnTo>
                  <a:pt x="153" y="76"/>
                </a:lnTo>
                <a:lnTo>
                  <a:pt x="697" y="76"/>
                </a:lnTo>
                <a:lnTo>
                  <a:pt x="697" y="228"/>
                </a:lnTo>
                <a:lnTo>
                  <a:pt x="153" y="228"/>
                </a:lnTo>
                <a:lnTo>
                  <a:pt x="153" y="304"/>
                </a:lnTo>
                <a:lnTo>
                  <a:pt x="0" y="152"/>
                </a:lnTo>
                <a:close/>
              </a:path>
            </a:pathLst>
          </a:custGeom>
          <a:solidFill>
            <a:srgbClr val="CCECFF"/>
          </a:solidFill>
          <a:ln w="9525">
            <a:no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 name="Freeform 30">
            <a:extLst>
              <a:ext uri="{FF2B5EF4-FFF2-40B4-BE49-F238E27FC236}">
                <a16:creationId xmlns:a16="http://schemas.microsoft.com/office/drawing/2014/main" id="{18FD960F-B000-4890-883F-846221779807}"/>
              </a:ext>
            </a:extLst>
          </p:cNvPr>
          <p:cNvSpPr>
            <a:spLocks noEditPoints="1"/>
          </p:cNvSpPr>
          <p:nvPr/>
        </p:nvSpPr>
        <p:spPr bwMode="auto">
          <a:xfrm>
            <a:off x="6978311" y="4127500"/>
            <a:ext cx="1139825" cy="520700"/>
          </a:xfrm>
          <a:custGeom>
            <a:avLst/>
            <a:gdLst/>
            <a:ahLst/>
            <a:cxnLst>
              <a:cxn ang="0">
                <a:pos x="13" y="505"/>
              </a:cxn>
              <a:cxn ang="0">
                <a:pos x="13" y="460"/>
              </a:cxn>
              <a:cxn ang="0">
                <a:pos x="461" y="12"/>
              </a:cxn>
              <a:cxn ang="0">
                <a:pos x="496" y="5"/>
              </a:cxn>
              <a:cxn ang="0">
                <a:pos x="515" y="34"/>
              </a:cxn>
              <a:cxn ang="0">
                <a:pos x="515" y="258"/>
              </a:cxn>
              <a:cxn ang="0">
                <a:pos x="483" y="226"/>
              </a:cxn>
              <a:cxn ang="0">
                <a:pos x="2083" y="226"/>
              </a:cxn>
              <a:cxn ang="0">
                <a:pos x="2115" y="258"/>
              </a:cxn>
              <a:cxn ang="0">
                <a:pos x="2115" y="706"/>
              </a:cxn>
              <a:cxn ang="0">
                <a:pos x="2083" y="738"/>
              </a:cxn>
              <a:cxn ang="0">
                <a:pos x="483" y="738"/>
              </a:cxn>
              <a:cxn ang="0">
                <a:pos x="515" y="706"/>
              </a:cxn>
              <a:cxn ang="0">
                <a:pos x="515" y="930"/>
              </a:cxn>
              <a:cxn ang="0">
                <a:pos x="496" y="960"/>
              </a:cxn>
              <a:cxn ang="0">
                <a:pos x="461" y="953"/>
              </a:cxn>
              <a:cxn ang="0">
                <a:pos x="13" y="505"/>
              </a:cxn>
              <a:cxn ang="0">
                <a:pos x="506" y="908"/>
              </a:cxn>
              <a:cxn ang="0">
                <a:pos x="451" y="930"/>
              </a:cxn>
              <a:cxn ang="0">
                <a:pos x="451" y="706"/>
              </a:cxn>
              <a:cxn ang="0">
                <a:pos x="483" y="674"/>
              </a:cxn>
              <a:cxn ang="0">
                <a:pos x="2083" y="674"/>
              </a:cxn>
              <a:cxn ang="0">
                <a:pos x="2051" y="706"/>
              </a:cxn>
              <a:cxn ang="0">
                <a:pos x="2051" y="258"/>
              </a:cxn>
              <a:cxn ang="0">
                <a:pos x="2083" y="290"/>
              </a:cxn>
              <a:cxn ang="0">
                <a:pos x="483" y="290"/>
              </a:cxn>
              <a:cxn ang="0">
                <a:pos x="451" y="258"/>
              </a:cxn>
              <a:cxn ang="0">
                <a:pos x="451" y="34"/>
              </a:cxn>
              <a:cxn ang="0">
                <a:pos x="506" y="57"/>
              </a:cxn>
              <a:cxn ang="0">
                <a:pos x="58" y="505"/>
              </a:cxn>
              <a:cxn ang="0">
                <a:pos x="58" y="460"/>
              </a:cxn>
              <a:cxn ang="0">
                <a:pos x="506" y="908"/>
              </a:cxn>
            </a:cxnLst>
            <a:rect l="0" t="0" r="r" b="b"/>
            <a:pathLst>
              <a:path w="2115" h="965">
                <a:moveTo>
                  <a:pt x="13" y="505"/>
                </a:moveTo>
                <a:cubicBezTo>
                  <a:pt x="0" y="493"/>
                  <a:pt x="0" y="472"/>
                  <a:pt x="13" y="460"/>
                </a:cubicBezTo>
                <a:lnTo>
                  <a:pt x="461" y="12"/>
                </a:lnTo>
                <a:cubicBezTo>
                  <a:pt x="470" y="3"/>
                  <a:pt x="484" y="0"/>
                  <a:pt x="496" y="5"/>
                </a:cubicBezTo>
                <a:cubicBezTo>
                  <a:pt x="508" y="10"/>
                  <a:pt x="515" y="22"/>
                  <a:pt x="515" y="34"/>
                </a:cubicBezTo>
                <a:lnTo>
                  <a:pt x="515" y="258"/>
                </a:lnTo>
                <a:lnTo>
                  <a:pt x="483" y="226"/>
                </a:lnTo>
                <a:lnTo>
                  <a:pt x="2083" y="226"/>
                </a:lnTo>
                <a:cubicBezTo>
                  <a:pt x="2101" y="226"/>
                  <a:pt x="2115" y="241"/>
                  <a:pt x="2115" y="258"/>
                </a:cubicBezTo>
                <a:lnTo>
                  <a:pt x="2115" y="706"/>
                </a:lnTo>
                <a:cubicBezTo>
                  <a:pt x="2115" y="724"/>
                  <a:pt x="2101" y="738"/>
                  <a:pt x="2083" y="738"/>
                </a:cubicBezTo>
                <a:lnTo>
                  <a:pt x="483" y="738"/>
                </a:lnTo>
                <a:lnTo>
                  <a:pt x="515" y="706"/>
                </a:lnTo>
                <a:lnTo>
                  <a:pt x="515" y="930"/>
                </a:lnTo>
                <a:cubicBezTo>
                  <a:pt x="515" y="943"/>
                  <a:pt x="508" y="955"/>
                  <a:pt x="496" y="960"/>
                </a:cubicBezTo>
                <a:cubicBezTo>
                  <a:pt x="484" y="965"/>
                  <a:pt x="470" y="962"/>
                  <a:pt x="461" y="953"/>
                </a:cubicBezTo>
                <a:lnTo>
                  <a:pt x="13" y="505"/>
                </a:lnTo>
                <a:close/>
                <a:moveTo>
                  <a:pt x="506" y="908"/>
                </a:moveTo>
                <a:lnTo>
                  <a:pt x="451" y="930"/>
                </a:lnTo>
                <a:lnTo>
                  <a:pt x="451" y="706"/>
                </a:lnTo>
                <a:cubicBezTo>
                  <a:pt x="451" y="689"/>
                  <a:pt x="466" y="674"/>
                  <a:pt x="483" y="674"/>
                </a:cubicBezTo>
                <a:lnTo>
                  <a:pt x="2083" y="674"/>
                </a:lnTo>
                <a:lnTo>
                  <a:pt x="2051" y="706"/>
                </a:lnTo>
                <a:lnTo>
                  <a:pt x="2051" y="258"/>
                </a:lnTo>
                <a:lnTo>
                  <a:pt x="2083" y="290"/>
                </a:lnTo>
                <a:lnTo>
                  <a:pt x="483" y="290"/>
                </a:lnTo>
                <a:cubicBezTo>
                  <a:pt x="466" y="290"/>
                  <a:pt x="451" y="276"/>
                  <a:pt x="451" y="258"/>
                </a:cubicBezTo>
                <a:lnTo>
                  <a:pt x="451" y="34"/>
                </a:lnTo>
                <a:lnTo>
                  <a:pt x="506" y="57"/>
                </a:lnTo>
                <a:lnTo>
                  <a:pt x="58" y="505"/>
                </a:lnTo>
                <a:lnTo>
                  <a:pt x="58" y="460"/>
                </a:lnTo>
                <a:lnTo>
                  <a:pt x="506" y="908"/>
                </a:lnTo>
                <a:close/>
              </a:path>
            </a:pathLst>
          </a:custGeom>
          <a:solidFill>
            <a:srgbClr val="0070C0"/>
          </a:solidFill>
          <a:ln w="0" cap="flat">
            <a:solidFill>
              <a:srgbClr val="0070C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 name="Rectangle 31">
            <a:extLst>
              <a:ext uri="{FF2B5EF4-FFF2-40B4-BE49-F238E27FC236}">
                <a16:creationId xmlns:a16="http://schemas.microsoft.com/office/drawing/2014/main" id="{AD7C948E-4E3C-45C6-897A-4EA209BA9CEF}"/>
              </a:ext>
            </a:extLst>
          </p:cNvPr>
          <p:cNvSpPr>
            <a:spLocks noChangeArrowheads="1"/>
          </p:cNvSpPr>
          <p:nvPr/>
        </p:nvSpPr>
        <p:spPr bwMode="auto">
          <a:xfrm>
            <a:off x="7497423" y="3933825"/>
            <a:ext cx="1658938" cy="369888"/>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2200" b="1" i="0" u="none" strike="noStrike" cap="none" normalizeH="0" baseline="0" dirty="0">
                <a:ln>
                  <a:noFill/>
                </a:ln>
                <a:solidFill>
                  <a:srgbClr val="0070C0"/>
                </a:solidFill>
                <a:effectLst/>
                <a:latin typeface="Times New Roman" pitchFamily="18" charset="0"/>
                <a:cs typeface="Arial" pitchFamily="34" charset="0"/>
              </a:rPr>
              <a:t>You are here</a:t>
            </a:r>
            <a:endParaRPr kumimoji="0" lang="en-US" sz="1800" b="0" i="0" u="none" strike="noStrike" cap="none" normalizeH="0" baseline="0" dirty="0">
              <a:ln>
                <a:noFill/>
              </a:ln>
              <a:solidFill>
                <a:schemeClr val="tx1"/>
              </a:solidFill>
              <a:effectLst/>
              <a:latin typeface="Arial" pitchFamily="34" charset="0"/>
              <a:cs typeface="Arial" pitchFamily="34" charset="0"/>
            </a:endParaRPr>
          </a:p>
        </p:txBody>
      </p:sp>
      <p:sp>
        <p:nvSpPr>
          <p:cNvPr id="25" name="Rectangle 6">
            <a:extLst>
              <a:ext uri="{FF2B5EF4-FFF2-40B4-BE49-F238E27FC236}">
                <a16:creationId xmlns:a16="http://schemas.microsoft.com/office/drawing/2014/main" id="{2CBF8ED5-3A57-4F8F-A01D-481EE47CC43A}"/>
              </a:ext>
            </a:extLst>
          </p:cNvPr>
          <p:cNvSpPr>
            <a:spLocks noChangeArrowheads="1"/>
          </p:cNvSpPr>
          <p:nvPr/>
        </p:nvSpPr>
        <p:spPr bwMode="auto">
          <a:xfrm>
            <a:off x="1644311" y="5791200"/>
            <a:ext cx="849528" cy="276999"/>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dirty="0">
                <a:ln>
                  <a:noFill/>
                </a:ln>
                <a:solidFill>
                  <a:srgbClr val="0070C0"/>
                </a:solidFill>
                <a:effectLst/>
                <a:latin typeface="Times New Roman" pitchFamily="18" charset="0"/>
                <a:cs typeface="Arial" pitchFamily="34" charset="0"/>
              </a:rPr>
              <a:t>Text Box</a:t>
            </a:r>
            <a:endParaRPr kumimoji="0" lang="en-US" sz="1800" b="0" i="0" u="none" strike="noStrike" cap="none" normalizeH="0" baseline="0" dirty="0">
              <a:ln>
                <a:noFill/>
              </a:ln>
              <a:solidFill>
                <a:schemeClr val="tx1"/>
              </a:solidFill>
              <a:effectLst/>
              <a:latin typeface="Arial" pitchFamily="34" charset="0"/>
              <a:cs typeface="Arial" pitchFamily="34" charset="0"/>
            </a:endParaRPr>
          </a:p>
        </p:txBody>
      </p:sp>
      <p:sp>
        <p:nvSpPr>
          <p:cNvPr id="26" name="Rectangle 6">
            <a:extLst>
              <a:ext uri="{FF2B5EF4-FFF2-40B4-BE49-F238E27FC236}">
                <a16:creationId xmlns:a16="http://schemas.microsoft.com/office/drawing/2014/main" id="{ADC10C9C-383D-48F4-9AE5-53DB80A0BA19}"/>
              </a:ext>
            </a:extLst>
          </p:cNvPr>
          <p:cNvSpPr>
            <a:spLocks noChangeArrowheads="1"/>
          </p:cNvSpPr>
          <p:nvPr/>
        </p:nvSpPr>
        <p:spPr bwMode="auto">
          <a:xfrm>
            <a:off x="1872911" y="6248400"/>
            <a:ext cx="801501" cy="276999"/>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dirty="0">
                <a:ln>
                  <a:noFill/>
                </a:ln>
                <a:solidFill>
                  <a:srgbClr val="0070C0"/>
                </a:solidFill>
                <a:effectLst/>
                <a:latin typeface="Times New Roman" pitchFamily="18" charset="0"/>
                <a:cs typeface="Arial" pitchFamily="34" charset="0"/>
              </a:rPr>
              <a:t>List Box</a:t>
            </a:r>
            <a:endParaRPr kumimoji="0" lang="en-US" sz="1800" b="0" i="0" u="none" strike="noStrike" cap="none" normalizeH="0" baseline="0" dirty="0">
              <a:ln>
                <a:noFill/>
              </a:ln>
              <a:solidFill>
                <a:schemeClr val="tx1"/>
              </a:solidFill>
              <a:effectLst/>
              <a:latin typeface="Arial" pitchFamily="34" charset="0"/>
              <a:cs typeface="Arial" pitchFamily="34" charset="0"/>
            </a:endParaRPr>
          </a:p>
        </p:txBody>
      </p:sp>
      <p:sp>
        <p:nvSpPr>
          <p:cNvPr id="27" name="Rectangle 6">
            <a:extLst>
              <a:ext uri="{FF2B5EF4-FFF2-40B4-BE49-F238E27FC236}">
                <a16:creationId xmlns:a16="http://schemas.microsoft.com/office/drawing/2014/main" id="{E409313A-2652-42FB-B06D-CA04B10F0193}"/>
              </a:ext>
            </a:extLst>
          </p:cNvPr>
          <p:cNvSpPr>
            <a:spLocks noChangeArrowheads="1"/>
          </p:cNvSpPr>
          <p:nvPr/>
        </p:nvSpPr>
        <p:spPr bwMode="auto">
          <a:xfrm>
            <a:off x="3906561" y="5245925"/>
            <a:ext cx="1404231" cy="276999"/>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dirty="0">
                <a:ln>
                  <a:noFill/>
                </a:ln>
                <a:solidFill>
                  <a:srgbClr val="0070C0"/>
                </a:solidFill>
                <a:effectLst/>
                <a:latin typeface="Times New Roman" pitchFamily="18" charset="0"/>
                <a:cs typeface="Arial" pitchFamily="34" charset="0"/>
              </a:rPr>
              <a:t>Dropdown List</a:t>
            </a:r>
            <a:endParaRPr kumimoji="0" lang="en-US" sz="1800" b="0" i="0" u="none" strike="noStrike" cap="none" normalizeH="0" baseline="0" dirty="0">
              <a:ln>
                <a:noFill/>
              </a:ln>
              <a:solidFill>
                <a:schemeClr val="tx1"/>
              </a:solidFill>
              <a:effectLst/>
              <a:latin typeface="Arial" pitchFamily="34" charset="0"/>
              <a:cs typeface="Arial" pitchFamily="34" charset="0"/>
            </a:endParaRPr>
          </a:p>
        </p:txBody>
      </p:sp>
      <p:sp>
        <p:nvSpPr>
          <p:cNvPr id="28" name="Rectangle 6">
            <a:extLst>
              <a:ext uri="{FF2B5EF4-FFF2-40B4-BE49-F238E27FC236}">
                <a16:creationId xmlns:a16="http://schemas.microsoft.com/office/drawing/2014/main" id="{FD982968-0178-49BB-94EF-99CAC40ADB0D}"/>
              </a:ext>
            </a:extLst>
          </p:cNvPr>
          <p:cNvSpPr>
            <a:spLocks noChangeArrowheads="1"/>
          </p:cNvSpPr>
          <p:nvPr/>
        </p:nvSpPr>
        <p:spPr bwMode="auto">
          <a:xfrm>
            <a:off x="4539911" y="6400800"/>
            <a:ext cx="1122102" cy="276999"/>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dirty="0">
                <a:ln>
                  <a:noFill/>
                </a:ln>
                <a:solidFill>
                  <a:srgbClr val="0070C0"/>
                </a:solidFill>
                <a:effectLst/>
                <a:latin typeface="Times New Roman" pitchFamily="18" charset="0"/>
                <a:cs typeface="Arial" pitchFamily="34" charset="0"/>
              </a:rPr>
              <a:t>Combo Box</a:t>
            </a:r>
            <a:endParaRPr kumimoji="0" lang="en-US" sz="1800" b="0" i="0" u="none" strike="noStrike" cap="none" normalizeH="0" baseline="0" dirty="0">
              <a:ln>
                <a:noFill/>
              </a:ln>
              <a:solidFill>
                <a:schemeClr val="tx1"/>
              </a:solidFill>
              <a:effectLst/>
              <a:latin typeface="Arial" pitchFamily="34" charset="0"/>
              <a:cs typeface="Arial" pitchFamily="34" charset="0"/>
            </a:endParaRPr>
          </a:p>
        </p:txBody>
      </p:sp>
      <p:sp>
        <p:nvSpPr>
          <p:cNvPr id="29" name="Rectangle 6">
            <a:extLst>
              <a:ext uri="{FF2B5EF4-FFF2-40B4-BE49-F238E27FC236}">
                <a16:creationId xmlns:a16="http://schemas.microsoft.com/office/drawing/2014/main" id="{E1284941-30D8-4FEF-AC16-EA3B1573A844}"/>
              </a:ext>
            </a:extLst>
          </p:cNvPr>
          <p:cNvSpPr>
            <a:spLocks noChangeArrowheads="1"/>
          </p:cNvSpPr>
          <p:nvPr/>
        </p:nvSpPr>
        <p:spPr bwMode="auto">
          <a:xfrm>
            <a:off x="6063911" y="6400800"/>
            <a:ext cx="865622" cy="276999"/>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dirty="0">
                <a:ln>
                  <a:noFill/>
                </a:ln>
                <a:solidFill>
                  <a:srgbClr val="0070C0"/>
                </a:solidFill>
                <a:effectLst/>
                <a:latin typeface="Times New Roman" pitchFamily="18" charset="0"/>
                <a:cs typeface="Arial" pitchFamily="34" charset="0"/>
              </a:rPr>
              <a:t>Spin Box</a:t>
            </a:r>
            <a:endParaRPr kumimoji="0" lang="en-US" sz="1800" b="0" i="0" u="none" strike="noStrike" cap="none" normalizeH="0" baseline="0" dirty="0">
              <a:ln>
                <a:noFill/>
              </a:ln>
              <a:solidFill>
                <a:schemeClr val="tx1"/>
              </a:solidFill>
              <a:effectLst/>
              <a:latin typeface="Arial" pitchFamily="34" charset="0"/>
              <a:cs typeface="Arial" pitchFamily="34" charset="0"/>
            </a:endParaRPr>
          </a:p>
        </p:txBody>
      </p:sp>
      <p:sp>
        <p:nvSpPr>
          <p:cNvPr id="30" name="Rectangle 6">
            <a:extLst>
              <a:ext uri="{FF2B5EF4-FFF2-40B4-BE49-F238E27FC236}">
                <a16:creationId xmlns:a16="http://schemas.microsoft.com/office/drawing/2014/main" id="{E748F7CE-B42F-49E5-998A-093105C87181}"/>
              </a:ext>
            </a:extLst>
          </p:cNvPr>
          <p:cNvSpPr>
            <a:spLocks noChangeArrowheads="1"/>
          </p:cNvSpPr>
          <p:nvPr/>
        </p:nvSpPr>
        <p:spPr bwMode="auto">
          <a:xfrm>
            <a:off x="2787311" y="6400800"/>
            <a:ext cx="1327286" cy="276999"/>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dirty="0">
                <a:ln>
                  <a:noFill/>
                </a:ln>
                <a:solidFill>
                  <a:srgbClr val="0070C0"/>
                </a:solidFill>
                <a:effectLst/>
                <a:latin typeface="Times New Roman" pitchFamily="18" charset="0"/>
                <a:cs typeface="Arial" pitchFamily="34" charset="0"/>
              </a:rPr>
              <a:t>Theme Button</a:t>
            </a:r>
            <a:endParaRPr kumimoji="0" lang="en-US" sz="1800" b="0" i="0" u="none" strike="noStrike" cap="none" normalizeH="0" baseline="0" dirty="0">
              <a:ln>
                <a:noFill/>
              </a:ln>
              <a:solidFill>
                <a:schemeClr val="tx1"/>
              </a:solidFill>
              <a:effectLst/>
              <a:latin typeface="Arial" pitchFamily="34" charset="0"/>
              <a:cs typeface="Arial" pitchFamily="34" charset="0"/>
            </a:endParaRPr>
          </a:p>
        </p:txBody>
      </p:sp>
      <p:sp>
        <p:nvSpPr>
          <p:cNvPr id="31" name="Rectangle 6">
            <a:extLst>
              <a:ext uri="{FF2B5EF4-FFF2-40B4-BE49-F238E27FC236}">
                <a16:creationId xmlns:a16="http://schemas.microsoft.com/office/drawing/2014/main" id="{0FEFD2A2-891F-469F-8958-C450A306F5D4}"/>
              </a:ext>
            </a:extLst>
          </p:cNvPr>
          <p:cNvSpPr>
            <a:spLocks noChangeArrowheads="1"/>
          </p:cNvSpPr>
          <p:nvPr/>
        </p:nvSpPr>
        <p:spPr bwMode="auto">
          <a:xfrm>
            <a:off x="5835311" y="2943100"/>
            <a:ext cx="1000274" cy="4616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ctr" defTabSz="914400" rtl="0" eaLnBrk="1" fontAlgn="base" latinLnBrk="0" hangingPunct="1">
              <a:lnSpc>
                <a:spcPts val="1800"/>
              </a:lnSpc>
              <a:spcBef>
                <a:spcPct val="0"/>
              </a:spcBef>
              <a:spcAft>
                <a:spcPct val="0"/>
              </a:spcAft>
              <a:buClrTx/>
              <a:buSzTx/>
              <a:buFontTx/>
              <a:buNone/>
              <a:tabLst/>
            </a:pPr>
            <a:r>
              <a:rPr kumimoji="0" lang="en-US" sz="1800" b="0" i="0" u="none" strike="noStrike" cap="none" normalizeH="0" baseline="0" dirty="0">
                <a:ln>
                  <a:noFill/>
                </a:ln>
                <a:solidFill>
                  <a:srgbClr val="0070C0"/>
                </a:solidFill>
                <a:effectLst/>
                <a:latin typeface="Times New Roman" pitchFamily="18" charset="0"/>
                <a:cs typeface="Arial" pitchFamily="34" charset="0"/>
              </a:rPr>
              <a:t>Haptic </a:t>
            </a:r>
          </a:p>
          <a:p>
            <a:pPr marL="0" marR="0" lvl="0" indent="0" algn="ctr" defTabSz="914400" rtl="0" eaLnBrk="1" fontAlgn="base" latinLnBrk="0" hangingPunct="1">
              <a:lnSpc>
                <a:spcPts val="1800"/>
              </a:lnSpc>
              <a:spcBef>
                <a:spcPct val="0"/>
              </a:spcBef>
              <a:spcAft>
                <a:spcPct val="0"/>
              </a:spcAft>
              <a:buClrTx/>
              <a:buSzTx/>
              <a:buFontTx/>
              <a:buNone/>
              <a:tabLst/>
            </a:pPr>
            <a:r>
              <a:rPr kumimoji="0" lang="en-US" sz="1800" b="0" i="0" u="none" strike="noStrike" cap="none" normalizeH="0" baseline="0" dirty="0">
                <a:ln>
                  <a:noFill/>
                </a:ln>
                <a:solidFill>
                  <a:srgbClr val="0070C0"/>
                </a:solidFill>
                <a:effectLst/>
                <a:latin typeface="Times New Roman" pitchFamily="18" charset="0"/>
                <a:cs typeface="Arial" pitchFamily="34" charset="0"/>
              </a:rPr>
              <a:t>Interaction</a:t>
            </a:r>
            <a:endParaRPr kumimoji="0" lang="en-US" sz="1800" b="0" i="0" u="none" strike="noStrike" cap="none" normalizeH="0" baseline="0" dirty="0">
              <a:ln>
                <a:noFill/>
              </a:ln>
              <a:solidFill>
                <a:schemeClr val="tx1"/>
              </a:solidFill>
              <a:effectLst/>
              <a:latin typeface="Arial" pitchFamily="34" charset="0"/>
              <a:cs typeface="Arial" pitchFamily="34" charset="0"/>
            </a:endParaRPr>
          </a:p>
        </p:txBody>
      </p:sp>
      <p:sp>
        <p:nvSpPr>
          <p:cNvPr id="32" name="Rectangle 6">
            <a:extLst>
              <a:ext uri="{FF2B5EF4-FFF2-40B4-BE49-F238E27FC236}">
                <a16:creationId xmlns:a16="http://schemas.microsoft.com/office/drawing/2014/main" id="{0A69BF19-80DB-41D7-BCD3-BDF170B0C55D}"/>
              </a:ext>
            </a:extLst>
          </p:cNvPr>
          <p:cNvSpPr>
            <a:spLocks noChangeArrowheads="1"/>
          </p:cNvSpPr>
          <p:nvPr/>
        </p:nvSpPr>
        <p:spPr bwMode="auto">
          <a:xfrm>
            <a:off x="4897161" y="4067300"/>
            <a:ext cx="1076192" cy="4616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ts val="1800"/>
              </a:lnSpc>
              <a:spcBef>
                <a:spcPct val="0"/>
              </a:spcBef>
              <a:spcAft>
                <a:spcPct val="0"/>
              </a:spcAft>
              <a:buClrTx/>
              <a:buSzTx/>
              <a:buFontTx/>
              <a:buNone/>
              <a:tabLst/>
            </a:pPr>
            <a:r>
              <a:rPr lang="en-US" dirty="0">
                <a:solidFill>
                  <a:srgbClr val="0070C0"/>
                </a:solidFill>
                <a:latin typeface="Times New Roman" pitchFamily="18" charset="0"/>
                <a:cs typeface="Arial" pitchFamily="34" charset="0"/>
              </a:rPr>
              <a:t>Dual Touch</a:t>
            </a:r>
          </a:p>
          <a:p>
            <a:pPr marL="0" marR="0" lvl="0" indent="0" algn="l" defTabSz="914400" rtl="0" eaLnBrk="1" fontAlgn="base" latinLnBrk="0" hangingPunct="1">
              <a:lnSpc>
                <a:spcPts val="1800"/>
              </a:lnSpc>
              <a:spcBef>
                <a:spcPct val="0"/>
              </a:spcBef>
              <a:spcAft>
                <a:spcPct val="0"/>
              </a:spcAft>
              <a:buClrTx/>
              <a:buSzTx/>
              <a:buFontTx/>
              <a:buNone/>
              <a:tabLst/>
            </a:pPr>
            <a:r>
              <a:rPr kumimoji="0" lang="en-US" sz="1800" b="0" i="0" u="none" strike="noStrike" cap="none" normalizeH="0" baseline="0" dirty="0">
                <a:ln>
                  <a:noFill/>
                </a:ln>
                <a:solidFill>
                  <a:srgbClr val="0070C0"/>
                </a:solidFill>
                <a:effectLst/>
                <a:latin typeface="Times New Roman" pitchFamily="18" charset="0"/>
                <a:cs typeface="Arial" pitchFamily="34" charset="0"/>
              </a:rPr>
              <a:t>3D Touch</a:t>
            </a:r>
            <a:endParaRPr kumimoji="0" lang="en-US" sz="1800" b="0" i="0" u="none" strike="noStrike" cap="none" normalizeH="0" baseline="0" dirty="0">
              <a:ln>
                <a:noFill/>
              </a:ln>
              <a:solidFill>
                <a:schemeClr val="tx1"/>
              </a:solidFill>
              <a:effectLst/>
              <a:latin typeface="Arial" pitchFamily="34" charset="0"/>
              <a:cs typeface="Arial" pitchFamily="34" charset="0"/>
            </a:endParaRPr>
          </a:p>
        </p:txBody>
      </p:sp>
      <p:sp>
        <p:nvSpPr>
          <p:cNvPr id="33" name="Rectangle 6">
            <a:extLst>
              <a:ext uri="{FF2B5EF4-FFF2-40B4-BE49-F238E27FC236}">
                <a16:creationId xmlns:a16="http://schemas.microsoft.com/office/drawing/2014/main" id="{CEDEEFDD-E7D5-4DC2-96AF-49BFDCAA9519}"/>
              </a:ext>
            </a:extLst>
          </p:cNvPr>
          <p:cNvSpPr>
            <a:spLocks noChangeArrowheads="1"/>
          </p:cNvSpPr>
          <p:nvPr/>
        </p:nvSpPr>
        <p:spPr bwMode="auto">
          <a:xfrm>
            <a:off x="6192151" y="2438400"/>
            <a:ext cx="1160575" cy="410369"/>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ctr" defTabSz="914400" rtl="0" eaLnBrk="1" fontAlgn="base" latinLnBrk="0" hangingPunct="1">
              <a:lnSpc>
                <a:spcPts val="1600"/>
              </a:lnSpc>
              <a:spcBef>
                <a:spcPct val="0"/>
              </a:spcBef>
              <a:spcAft>
                <a:spcPct val="0"/>
              </a:spcAft>
              <a:buClrTx/>
              <a:buSzTx/>
              <a:buFontTx/>
              <a:buNone/>
              <a:tabLst/>
            </a:pPr>
            <a:r>
              <a:rPr lang="en-US" dirty="0">
                <a:solidFill>
                  <a:srgbClr val="0070C0"/>
                </a:solidFill>
                <a:latin typeface="Times New Roman" pitchFamily="18" charset="0"/>
                <a:cs typeface="Arial" pitchFamily="34" charset="0"/>
              </a:rPr>
              <a:t>Speech (SR)</a:t>
            </a:r>
          </a:p>
          <a:p>
            <a:pPr marL="0" marR="0" lvl="0" indent="0" algn="ctr" defTabSz="914400" rtl="0" eaLnBrk="1" fontAlgn="base" latinLnBrk="0" hangingPunct="1">
              <a:lnSpc>
                <a:spcPts val="1600"/>
              </a:lnSpc>
              <a:spcBef>
                <a:spcPct val="0"/>
              </a:spcBef>
              <a:spcAft>
                <a:spcPct val="0"/>
              </a:spcAft>
              <a:buClrTx/>
              <a:buSzTx/>
              <a:buFontTx/>
              <a:buNone/>
              <a:tabLst/>
            </a:pPr>
            <a:r>
              <a:rPr kumimoji="0" lang="en-US" sz="1800" b="0" i="0" u="none" strike="noStrike" cap="none" normalizeH="0" baseline="0" dirty="0">
                <a:ln>
                  <a:noFill/>
                </a:ln>
                <a:solidFill>
                  <a:srgbClr val="0070C0"/>
                </a:solidFill>
                <a:effectLst/>
                <a:latin typeface="Times New Roman" pitchFamily="18" charset="0"/>
                <a:cs typeface="Arial" pitchFamily="34" charset="0"/>
              </a:rPr>
              <a:t>Siri</a:t>
            </a:r>
            <a:endParaRPr kumimoji="0" lang="en-US" sz="1800" b="0" i="0" u="none" strike="noStrike" cap="none" normalizeH="0" baseline="0" dirty="0">
              <a:ln>
                <a:noFill/>
              </a:ln>
              <a:solidFill>
                <a:schemeClr val="tx1"/>
              </a:solidFill>
              <a:effectLst/>
              <a:latin typeface="Arial" pitchFamily="34" charset="0"/>
              <a:cs typeface="Arial" pitchFamily="34" charset="0"/>
            </a:endParaRPr>
          </a:p>
        </p:txBody>
      </p:sp>
      <p:sp>
        <p:nvSpPr>
          <p:cNvPr id="34" name="Rectangle 6">
            <a:extLst>
              <a:ext uri="{FF2B5EF4-FFF2-40B4-BE49-F238E27FC236}">
                <a16:creationId xmlns:a16="http://schemas.microsoft.com/office/drawing/2014/main" id="{BDF1F0A1-2E72-44B0-A3E9-19C13E44E2ED}"/>
              </a:ext>
            </a:extLst>
          </p:cNvPr>
          <p:cNvSpPr>
            <a:spLocks noChangeArrowheads="1"/>
          </p:cNvSpPr>
          <p:nvPr/>
        </p:nvSpPr>
        <p:spPr bwMode="auto">
          <a:xfrm>
            <a:off x="5225711" y="3505200"/>
            <a:ext cx="1250342" cy="487313"/>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ctr" defTabSz="914400" rtl="0" eaLnBrk="1" fontAlgn="base" latinLnBrk="0" hangingPunct="1">
              <a:lnSpc>
                <a:spcPts val="1900"/>
              </a:lnSpc>
              <a:spcBef>
                <a:spcPct val="0"/>
              </a:spcBef>
              <a:spcAft>
                <a:spcPct val="0"/>
              </a:spcAft>
              <a:buClrTx/>
              <a:buSzTx/>
              <a:buFontTx/>
              <a:buNone/>
              <a:tabLst/>
            </a:pPr>
            <a:r>
              <a:rPr kumimoji="0" lang="en-US" sz="1800" b="0" i="0" u="none" strike="noStrike" cap="none" normalizeH="0" baseline="0" dirty="0">
                <a:ln>
                  <a:noFill/>
                </a:ln>
                <a:solidFill>
                  <a:srgbClr val="0070C0"/>
                </a:solidFill>
                <a:effectLst/>
                <a:latin typeface="Times New Roman" pitchFamily="18" charset="0"/>
                <a:cs typeface="Arial" pitchFamily="34" charset="0"/>
              </a:rPr>
              <a:t>Wearables</a:t>
            </a:r>
          </a:p>
          <a:p>
            <a:pPr marL="0" marR="0" lvl="0" indent="0" algn="ctr" defTabSz="914400" rtl="0" eaLnBrk="1" fontAlgn="base" latinLnBrk="0" hangingPunct="1">
              <a:lnSpc>
                <a:spcPts val="1900"/>
              </a:lnSpc>
              <a:spcBef>
                <a:spcPct val="0"/>
              </a:spcBef>
              <a:spcAft>
                <a:spcPct val="0"/>
              </a:spcAft>
              <a:buClrTx/>
              <a:buSzTx/>
              <a:buFontTx/>
              <a:buNone/>
              <a:tabLst/>
            </a:pPr>
            <a:r>
              <a:rPr kumimoji="0" lang="en-US" sz="1800" b="0" i="0" u="none" strike="noStrike" cap="none" normalizeH="0" baseline="0" dirty="0">
                <a:ln>
                  <a:noFill/>
                </a:ln>
                <a:solidFill>
                  <a:srgbClr val="0070C0"/>
                </a:solidFill>
                <a:effectLst/>
                <a:latin typeface="Times New Roman" pitchFamily="18" charset="0"/>
                <a:cs typeface="Arial" pitchFamily="34" charset="0"/>
              </a:rPr>
              <a:t>Google Glass</a:t>
            </a:r>
            <a:endParaRPr kumimoji="0" lang="en-US" sz="1800" b="0" i="0" u="none" strike="noStrike" cap="none" normalizeH="0" baseline="0" dirty="0">
              <a:ln>
                <a:noFill/>
              </a:ln>
              <a:solidFill>
                <a:schemeClr val="tx1"/>
              </a:solidFill>
              <a:effectLst/>
              <a:latin typeface="Arial" pitchFamily="34" charset="0"/>
              <a:cs typeface="Arial" pitchFamily="34" charset="0"/>
            </a:endParaRPr>
          </a:p>
        </p:txBody>
      </p:sp>
      <p:sp>
        <p:nvSpPr>
          <p:cNvPr id="35" name="Rectangle 6">
            <a:extLst>
              <a:ext uri="{FF2B5EF4-FFF2-40B4-BE49-F238E27FC236}">
                <a16:creationId xmlns:a16="http://schemas.microsoft.com/office/drawing/2014/main" id="{4CE31529-2ACD-4125-9897-E96CE963C635}"/>
              </a:ext>
            </a:extLst>
          </p:cNvPr>
          <p:cNvSpPr>
            <a:spLocks noChangeArrowheads="1"/>
          </p:cNvSpPr>
          <p:nvPr/>
        </p:nvSpPr>
        <p:spPr bwMode="auto">
          <a:xfrm>
            <a:off x="6978311" y="1288475"/>
            <a:ext cx="1288814" cy="487313"/>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ctr" defTabSz="914400" rtl="0" eaLnBrk="1" fontAlgn="base" latinLnBrk="0" hangingPunct="1">
              <a:lnSpc>
                <a:spcPts val="1900"/>
              </a:lnSpc>
              <a:spcBef>
                <a:spcPct val="0"/>
              </a:spcBef>
              <a:spcAft>
                <a:spcPct val="0"/>
              </a:spcAft>
              <a:buClrTx/>
              <a:buSzTx/>
              <a:buFontTx/>
              <a:buNone/>
              <a:tabLst/>
            </a:pPr>
            <a:r>
              <a:rPr lang="en-US" dirty="0">
                <a:solidFill>
                  <a:srgbClr val="0070C0"/>
                </a:solidFill>
                <a:latin typeface="Times New Roman" pitchFamily="18" charset="0"/>
                <a:cs typeface="Arial" pitchFamily="34" charset="0"/>
              </a:rPr>
              <a:t>Brain Implant</a:t>
            </a:r>
          </a:p>
          <a:p>
            <a:pPr marL="0" marR="0" lvl="0" indent="0" algn="ctr" defTabSz="914400" rtl="0" eaLnBrk="1" fontAlgn="base" latinLnBrk="0" hangingPunct="1">
              <a:lnSpc>
                <a:spcPts val="1900"/>
              </a:lnSpc>
              <a:spcBef>
                <a:spcPct val="0"/>
              </a:spcBef>
              <a:spcAft>
                <a:spcPct val="0"/>
              </a:spcAft>
              <a:buClrTx/>
              <a:buSzTx/>
              <a:buFontTx/>
              <a:buNone/>
              <a:tabLst/>
            </a:pPr>
            <a:r>
              <a:rPr kumimoji="0" lang="en-US" sz="1800" b="0" i="0" u="none" strike="noStrike" cap="none" normalizeH="0" baseline="0" dirty="0">
                <a:ln>
                  <a:noFill/>
                </a:ln>
                <a:solidFill>
                  <a:srgbClr val="0070C0"/>
                </a:solidFill>
                <a:effectLst/>
                <a:latin typeface="Times New Roman" pitchFamily="18" charset="0"/>
                <a:cs typeface="Arial" pitchFamily="34" charset="0"/>
              </a:rPr>
              <a:t>Neuralink</a:t>
            </a:r>
            <a:endParaRPr kumimoji="0" lang="en-US" sz="1800" b="0" i="0" u="none" strike="noStrike" cap="none" normalizeH="0" baseline="0" dirty="0">
              <a:ln>
                <a:noFill/>
              </a:ln>
              <a:solidFill>
                <a:schemeClr val="tx1"/>
              </a:solidFill>
              <a:effectLst/>
              <a:latin typeface="Arial" pitchFamily="34" charset="0"/>
              <a:cs typeface="Arial" pitchFamily="34" charset="0"/>
            </a:endParaRPr>
          </a:p>
        </p:txBody>
      </p:sp>
      <p:sp>
        <p:nvSpPr>
          <p:cNvPr id="36" name="Rectangle 6">
            <a:extLst>
              <a:ext uri="{FF2B5EF4-FFF2-40B4-BE49-F238E27FC236}">
                <a16:creationId xmlns:a16="http://schemas.microsoft.com/office/drawing/2014/main" id="{BC6599F4-54C9-429B-B2AF-192D6A91E2CF}"/>
              </a:ext>
            </a:extLst>
          </p:cNvPr>
          <p:cNvSpPr>
            <a:spLocks noChangeArrowheads="1"/>
          </p:cNvSpPr>
          <p:nvPr/>
        </p:nvSpPr>
        <p:spPr bwMode="auto">
          <a:xfrm>
            <a:off x="6446706" y="1887748"/>
            <a:ext cx="1429879" cy="410369"/>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ctr" defTabSz="914400" rtl="0" eaLnBrk="1" fontAlgn="base" latinLnBrk="0" hangingPunct="1">
              <a:lnSpc>
                <a:spcPts val="1600"/>
              </a:lnSpc>
              <a:spcBef>
                <a:spcPct val="0"/>
              </a:spcBef>
              <a:spcAft>
                <a:spcPct val="0"/>
              </a:spcAft>
              <a:buClrTx/>
              <a:buSzTx/>
              <a:buFontTx/>
              <a:buNone/>
              <a:tabLst/>
            </a:pPr>
            <a:r>
              <a:rPr lang="en-US" dirty="0">
                <a:solidFill>
                  <a:srgbClr val="0070C0"/>
                </a:solidFill>
                <a:latin typeface="Times New Roman" pitchFamily="18" charset="0"/>
                <a:cs typeface="Arial" pitchFamily="34" charset="0"/>
              </a:rPr>
              <a:t>Augmented R</a:t>
            </a:r>
          </a:p>
          <a:p>
            <a:pPr marL="0" marR="0" lvl="0" indent="0" algn="ctr" defTabSz="914400" rtl="0" eaLnBrk="1" fontAlgn="base" latinLnBrk="0" hangingPunct="1">
              <a:lnSpc>
                <a:spcPts val="1600"/>
              </a:lnSpc>
              <a:spcBef>
                <a:spcPct val="0"/>
              </a:spcBef>
              <a:spcAft>
                <a:spcPct val="0"/>
              </a:spcAft>
              <a:buClrTx/>
              <a:buSzTx/>
              <a:buFontTx/>
              <a:buNone/>
              <a:tabLst/>
            </a:pPr>
            <a:r>
              <a:rPr kumimoji="0" lang="en-US" sz="1800" b="0" i="0" u="none" strike="noStrike" cap="none" normalizeH="0" baseline="0" dirty="0">
                <a:ln>
                  <a:noFill/>
                </a:ln>
                <a:solidFill>
                  <a:srgbClr val="0070C0"/>
                </a:solidFill>
                <a:effectLst/>
                <a:latin typeface="Times New Roman" pitchFamily="18" charset="0"/>
                <a:cs typeface="Arial" pitchFamily="34" charset="0"/>
              </a:rPr>
              <a:t>(AR) </a:t>
            </a:r>
            <a:r>
              <a:rPr lang="en-US" dirty="0">
                <a:solidFill>
                  <a:srgbClr val="0070C0"/>
                </a:solidFill>
                <a:latin typeface="Times New Roman" pitchFamily="18" charset="0"/>
                <a:cs typeface="Arial" pitchFamily="34" charset="0"/>
              </a:rPr>
              <a:t>F</a:t>
            </a:r>
            <a:r>
              <a:rPr kumimoji="0" lang="en-US" sz="1800" b="0" i="0" u="none" strike="noStrike" cap="none" normalizeH="0" baseline="0" dirty="0">
                <a:ln>
                  <a:noFill/>
                </a:ln>
                <a:solidFill>
                  <a:srgbClr val="0070C0"/>
                </a:solidFill>
                <a:effectLst/>
                <a:latin typeface="Times New Roman" pitchFamily="18" charset="0"/>
                <a:cs typeface="Arial" pitchFamily="34" charset="0"/>
              </a:rPr>
              <a:t>acebook</a:t>
            </a:r>
            <a:endParaRPr kumimoji="0" lang="en-US" sz="1800" b="0" i="0" u="none" strike="noStrike" cap="none" normalizeH="0" baseline="0" dirty="0">
              <a:ln>
                <a:noFill/>
              </a:ln>
              <a:solidFill>
                <a:schemeClr val="tx1"/>
              </a:solidFill>
              <a:effectLst/>
              <a:latin typeface="Arial" pitchFamily="34" charset="0"/>
              <a:cs typeface="Arial" pitchFamily="34" charset="0"/>
            </a:endParaRPr>
          </a:p>
        </p:txBody>
      </p:sp>
      <p:sp>
        <p:nvSpPr>
          <p:cNvPr id="37" name="Rectangle 6">
            <a:extLst>
              <a:ext uri="{FF2B5EF4-FFF2-40B4-BE49-F238E27FC236}">
                <a16:creationId xmlns:a16="http://schemas.microsoft.com/office/drawing/2014/main" id="{1F6E8F4C-4700-4374-8732-5B36F6CDBDB8}"/>
              </a:ext>
            </a:extLst>
          </p:cNvPr>
          <p:cNvSpPr>
            <a:spLocks noChangeArrowheads="1"/>
          </p:cNvSpPr>
          <p:nvPr/>
        </p:nvSpPr>
        <p:spPr bwMode="auto">
          <a:xfrm>
            <a:off x="4337397" y="4624450"/>
            <a:ext cx="1417055" cy="4616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ctr" defTabSz="914400" rtl="0" eaLnBrk="1" fontAlgn="base" latinLnBrk="0" hangingPunct="1">
              <a:lnSpc>
                <a:spcPts val="1800"/>
              </a:lnSpc>
              <a:spcBef>
                <a:spcPct val="0"/>
              </a:spcBef>
              <a:spcAft>
                <a:spcPct val="0"/>
              </a:spcAft>
              <a:buClrTx/>
              <a:buSzTx/>
              <a:buFontTx/>
              <a:buNone/>
              <a:tabLst/>
            </a:pPr>
            <a:r>
              <a:rPr lang="en-US" dirty="0">
                <a:solidFill>
                  <a:srgbClr val="0070C0"/>
                </a:solidFill>
                <a:latin typeface="Times New Roman" pitchFamily="18" charset="0"/>
                <a:cs typeface="Arial" pitchFamily="34" charset="0"/>
              </a:rPr>
              <a:t>Navigation Bar</a:t>
            </a:r>
          </a:p>
          <a:p>
            <a:pPr marL="0" marR="0" lvl="0" indent="0" algn="ctr" defTabSz="914400" rtl="0" eaLnBrk="1" fontAlgn="base" latinLnBrk="0" hangingPunct="1">
              <a:lnSpc>
                <a:spcPts val="1800"/>
              </a:lnSpc>
              <a:spcBef>
                <a:spcPct val="0"/>
              </a:spcBef>
              <a:spcAft>
                <a:spcPct val="0"/>
              </a:spcAft>
              <a:buClrTx/>
              <a:buSzTx/>
              <a:buFontTx/>
              <a:buNone/>
              <a:tabLst/>
            </a:pPr>
            <a:r>
              <a:rPr kumimoji="0" lang="en-US" sz="1800" b="0" i="0" u="none" strike="noStrike" cap="none" normalizeH="0" baseline="0" dirty="0">
                <a:ln>
                  <a:noFill/>
                </a:ln>
                <a:solidFill>
                  <a:srgbClr val="0070C0"/>
                </a:solidFill>
                <a:effectLst/>
                <a:latin typeface="Times New Roman" pitchFamily="18" charset="0"/>
                <a:cs typeface="Arial" pitchFamily="34" charset="0"/>
              </a:rPr>
              <a:t>Left / Top</a:t>
            </a:r>
            <a:endParaRPr kumimoji="0" lang="en-US" sz="1800" b="0" i="0" u="none" strike="noStrike" cap="none" normalizeH="0" baseline="0" dirty="0">
              <a:ln>
                <a:noFill/>
              </a:ln>
              <a:solidFill>
                <a:schemeClr val="tx1"/>
              </a:solidFill>
              <a:effectLst/>
              <a:latin typeface="Arial" pitchFamily="34" charset="0"/>
              <a:cs typeface="Arial" pitchFamily="34" charset="0"/>
            </a:endParaRPr>
          </a:p>
        </p:txBody>
      </p:sp>
      <p:sp>
        <p:nvSpPr>
          <p:cNvPr id="38" name="Rectangle 6">
            <a:extLst>
              <a:ext uri="{FF2B5EF4-FFF2-40B4-BE49-F238E27FC236}">
                <a16:creationId xmlns:a16="http://schemas.microsoft.com/office/drawing/2014/main" id="{8CB19FFC-2033-4801-9854-E35825631254}"/>
              </a:ext>
            </a:extLst>
          </p:cNvPr>
          <p:cNvSpPr>
            <a:spLocks noChangeArrowheads="1"/>
          </p:cNvSpPr>
          <p:nvPr/>
        </p:nvSpPr>
        <p:spPr bwMode="auto">
          <a:xfrm>
            <a:off x="5530511" y="5867400"/>
            <a:ext cx="1115690" cy="276999"/>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sz="1800" b="0" i="0" u="none" strike="noStrike" cap="none" normalizeH="0" baseline="0" dirty="0">
                <a:ln>
                  <a:noFill/>
                </a:ln>
                <a:solidFill>
                  <a:srgbClr val="0070C0"/>
                </a:solidFill>
                <a:effectLst/>
                <a:latin typeface="Times New Roman" pitchFamily="18" charset="0"/>
                <a:cs typeface="Arial" pitchFamily="34" charset="0"/>
              </a:rPr>
              <a:t>Drag</a:t>
            </a:r>
            <a:r>
              <a:rPr lang="en-US" dirty="0">
                <a:solidFill>
                  <a:srgbClr val="0070C0"/>
                </a:solidFill>
                <a:latin typeface="Times New Roman" pitchFamily="18" charset="0"/>
                <a:cs typeface="Arial" pitchFamily="34" charset="0"/>
              </a:rPr>
              <a:t>&amp;</a:t>
            </a:r>
            <a:r>
              <a:rPr kumimoji="0" lang="en-US" sz="1800" b="0" i="0" u="none" strike="noStrike" cap="none" normalizeH="0" dirty="0">
                <a:ln>
                  <a:noFill/>
                </a:ln>
                <a:solidFill>
                  <a:srgbClr val="0070C0"/>
                </a:solidFill>
                <a:effectLst/>
                <a:latin typeface="Times New Roman" pitchFamily="18" charset="0"/>
                <a:cs typeface="Arial" pitchFamily="34" charset="0"/>
              </a:rPr>
              <a:t>Drop</a:t>
            </a:r>
            <a:endParaRPr kumimoji="0" lang="en-US" sz="1800" b="0" i="0" u="none" strike="noStrike" cap="none" normalizeH="0" baseline="0" dirty="0">
              <a:ln>
                <a:noFill/>
              </a:ln>
              <a:solidFill>
                <a:schemeClr val="tx1"/>
              </a:solidFill>
              <a:effectLst/>
              <a:latin typeface="Arial" pitchFamily="34" charset="0"/>
              <a:cs typeface="Arial" pitchFamily="34" charset="0"/>
            </a:endParaRPr>
          </a:p>
        </p:txBody>
      </p:sp>
      <p:sp>
        <p:nvSpPr>
          <p:cNvPr id="39" name="Rectangle 38">
            <a:extLst>
              <a:ext uri="{FF2B5EF4-FFF2-40B4-BE49-F238E27FC236}">
                <a16:creationId xmlns:a16="http://schemas.microsoft.com/office/drawing/2014/main" id="{C6F2CE18-90B8-4CBA-9E4D-CE6CBF86F954}"/>
              </a:ext>
            </a:extLst>
          </p:cNvPr>
          <p:cNvSpPr/>
          <p:nvPr/>
        </p:nvSpPr>
        <p:spPr>
          <a:xfrm>
            <a:off x="8920832" y="679638"/>
            <a:ext cx="1833695" cy="900246"/>
          </a:xfrm>
          <a:prstGeom prst="rect">
            <a:avLst/>
          </a:prstGeom>
        </p:spPr>
        <p:txBody>
          <a:bodyPr wrap="square">
            <a:spAutoFit/>
          </a:bodyPr>
          <a:lstStyle/>
          <a:p>
            <a:r>
              <a:rPr lang="en-US" sz="1050" dirty="0">
                <a:solidFill>
                  <a:srgbClr val="0070C0"/>
                </a:solidFill>
              </a:rPr>
              <a:t>1975, Mythical Man-Month, Fred Brooks,  “The programmer, like the poet, works only slightly removed from </a:t>
            </a:r>
            <a:r>
              <a:rPr lang="en-US" sz="1050" i="1" dirty="0">
                <a:solidFill>
                  <a:srgbClr val="0070C0"/>
                </a:solidFill>
              </a:rPr>
              <a:t>pure thought</a:t>
            </a:r>
            <a:r>
              <a:rPr lang="en-US" sz="1050" dirty="0">
                <a:solidFill>
                  <a:srgbClr val="0070C0"/>
                </a:solidFill>
              </a:rPr>
              <a:t>-stuff”</a:t>
            </a:r>
          </a:p>
        </p:txBody>
      </p:sp>
      <p:sp>
        <p:nvSpPr>
          <p:cNvPr id="40" name="Rectangle 6">
            <a:extLst>
              <a:ext uri="{FF2B5EF4-FFF2-40B4-BE49-F238E27FC236}">
                <a16:creationId xmlns:a16="http://schemas.microsoft.com/office/drawing/2014/main" id="{F6BCCA7C-3B80-48E0-AF3C-19BCBA0A5918}"/>
              </a:ext>
            </a:extLst>
          </p:cNvPr>
          <p:cNvSpPr>
            <a:spLocks noChangeArrowheads="1"/>
          </p:cNvSpPr>
          <p:nvPr/>
        </p:nvSpPr>
        <p:spPr bwMode="auto">
          <a:xfrm>
            <a:off x="7165215" y="3191217"/>
            <a:ext cx="2709075" cy="161583"/>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sz="1050" dirty="0">
                <a:solidFill>
                  <a:srgbClr val="0070C0"/>
                </a:solidFill>
              </a:rPr>
              <a:t>you do not hit the button, but the button hits you</a:t>
            </a:r>
          </a:p>
        </p:txBody>
      </p:sp>
      <p:sp>
        <p:nvSpPr>
          <p:cNvPr id="41" name="Rectangle 6">
            <a:extLst>
              <a:ext uri="{FF2B5EF4-FFF2-40B4-BE49-F238E27FC236}">
                <a16:creationId xmlns:a16="http://schemas.microsoft.com/office/drawing/2014/main" id="{96374831-5A00-4AF5-A26C-E80A37900CF5}"/>
              </a:ext>
            </a:extLst>
          </p:cNvPr>
          <p:cNvSpPr>
            <a:spLocks noChangeArrowheads="1"/>
          </p:cNvSpPr>
          <p:nvPr/>
        </p:nvSpPr>
        <p:spPr bwMode="auto">
          <a:xfrm>
            <a:off x="7587911" y="2438400"/>
            <a:ext cx="2144818" cy="323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sz="1050" dirty="0">
                <a:solidFill>
                  <a:srgbClr val="0070C0"/>
                </a:solidFill>
              </a:rPr>
              <a:t>How to unlock IPhone 8? Just look at it.</a:t>
            </a:r>
          </a:p>
          <a:p>
            <a:pPr marL="0" marR="0" lvl="0" indent="0" algn="l" defTabSz="914400" rtl="0" eaLnBrk="1" fontAlgn="base" latinLnBrk="0" hangingPunct="1">
              <a:lnSpc>
                <a:spcPct val="100000"/>
              </a:lnSpc>
              <a:spcBef>
                <a:spcPct val="0"/>
              </a:spcBef>
              <a:spcAft>
                <a:spcPct val="0"/>
              </a:spcAft>
              <a:buClrTx/>
              <a:buSzTx/>
              <a:buFontTx/>
              <a:buNone/>
              <a:tabLst/>
            </a:pPr>
            <a:r>
              <a:rPr lang="en-US" sz="1050" dirty="0">
                <a:solidFill>
                  <a:srgbClr val="0070C0"/>
                </a:solidFill>
              </a:rPr>
              <a:t>Facial recognition</a:t>
            </a:r>
          </a:p>
        </p:txBody>
      </p:sp>
      <p:pic>
        <p:nvPicPr>
          <p:cNvPr id="42" name="Picture 2">
            <a:extLst>
              <a:ext uri="{FF2B5EF4-FFF2-40B4-BE49-F238E27FC236}">
                <a16:creationId xmlns:a16="http://schemas.microsoft.com/office/drawing/2014/main" id="{0F4DE915-3ECA-42F7-8868-C27DA605C561}"/>
              </a:ext>
            </a:extLst>
          </p:cNvPr>
          <p:cNvPicPr>
            <a:picLocks noChangeAspect="1" noChangeArrowheads="1"/>
          </p:cNvPicPr>
          <p:nvPr/>
        </p:nvPicPr>
        <p:blipFill>
          <a:blip r:embed="rId4" cstate="print"/>
          <a:srcRect/>
          <a:stretch>
            <a:fillRect/>
          </a:stretch>
        </p:blipFill>
        <p:spPr bwMode="auto">
          <a:xfrm>
            <a:off x="8578511" y="2590800"/>
            <a:ext cx="1129717" cy="609600"/>
          </a:xfrm>
          <a:prstGeom prst="rect">
            <a:avLst/>
          </a:prstGeom>
          <a:noFill/>
          <a:ln w="9525">
            <a:noFill/>
            <a:miter lim="800000"/>
            <a:headEnd/>
            <a:tailEnd/>
          </a:ln>
        </p:spPr>
      </p:pic>
      <p:sp>
        <p:nvSpPr>
          <p:cNvPr id="43" name="Rectangle 6">
            <a:extLst>
              <a:ext uri="{FF2B5EF4-FFF2-40B4-BE49-F238E27FC236}">
                <a16:creationId xmlns:a16="http://schemas.microsoft.com/office/drawing/2014/main" id="{A0A30BC2-2E45-4AD3-8153-4AE6881FF5A8}"/>
              </a:ext>
            </a:extLst>
          </p:cNvPr>
          <p:cNvSpPr>
            <a:spLocks noChangeArrowheads="1"/>
          </p:cNvSpPr>
          <p:nvPr/>
        </p:nvSpPr>
        <p:spPr bwMode="auto">
          <a:xfrm>
            <a:off x="8491093" y="1752600"/>
            <a:ext cx="1819409" cy="323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sz="1050" dirty="0">
                <a:solidFill>
                  <a:srgbClr val="0070C0"/>
                </a:solidFill>
              </a:rPr>
              <a:t>Elton Mask wants to insert a wire</a:t>
            </a:r>
          </a:p>
          <a:p>
            <a:pPr marL="0" marR="0" lvl="0" indent="0" algn="l" defTabSz="914400" rtl="0" eaLnBrk="1" fontAlgn="base" latinLnBrk="0" hangingPunct="1">
              <a:lnSpc>
                <a:spcPct val="100000"/>
              </a:lnSpc>
              <a:spcBef>
                <a:spcPct val="0"/>
              </a:spcBef>
              <a:spcAft>
                <a:spcPct val="0"/>
              </a:spcAft>
              <a:buClrTx/>
              <a:buSzTx/>
              <a:buFontTx/>
              <a:buNone/>
              <a:tabLst/>
            </a:pPr>
            <a:r>
              <a:rPr lang="en-US" sz="1050" dirty="0">
                <a:solidFill>
                  <a:srgbClr val="0070C0"/>
                </a:solidFill>
              </a:rPr>
              <a:t>into your head</a:t>
            </a:r>
          </a:p>
        </p:txBody>
      </p:sp>
      <p:sp>
        <p:nvSpPr>
          <p:cNvPr id="44" name="Rectangle 43">
            <a:extLst>
              <a:ext uri="{FF2B5EF4-FFF2-40B4-BE49-F238E27FC236}">
                <a16:creationId xmlns:a16="http://schemas.microsoft.com/office/drawing/2014/main" id="{936D273A-D990-4EA9-91F4-0F17A266AE85}"/>
              </a:ext>
            </a:extLst>
          </p:cNvPr>
          <p:cNvSpPr/>
          <p:nvPr/>
        </p:nvSpPr>
        <p:spPr>
          <a:xfrm>
            <a:off x="6575757" y="3659034"/>
            <a:ext cx="1483098" cy="246221"/>
          </a:xfrm>
          <a:prstGeom prst="rect">
            <a:avLst/>
          </a:prstGeom>
        </p:spPr>
        <p:txBody>
          <a:bodyPr wrap="none">
            <a:spAutoFit/>
          </a:bodyPr>
          <a:lstStyle/>
          <a:p>
            <a:pPr fontAlgn="base">
              <a:spcBef>
                <a:spcPct val="0"/>
              </a:spcBef>
              <a:spcAft>
                <a:spcPct val="0"/>
              </a:spcAft>
            </a:pPr>
            <a:r>
              <a:rPr lang="en-US" sz="1000" dirty="0">
                <a:solidFill>
                  <a:srgbClr val="0070C0"/>
                </a:solidFill>
              </a:rPr>
              <a:t>from Amanda Rosenberg</a:t>
            </a:r>
          </a:p>
        </p:txBody>
      </p:sp>
      <p:sp>
        <p:nvSpPr>
          <p:cNvPr id="45" name="Freeform 28">
            <a:extLst>
              <a:ext uri="{FF2B5EF4-FFF2-40B4-BE49-F238E27FC236}">
                <a16:creationId xmlns:a16="http://schemas.microsoft.com/office/drawing/2014/main" id="{2EAD1F97-F8BA-4056-A9B8-5AF6643860A2}"/>
              </a:ext>
            </a:extLst>
          </p:cNvPr>
          <p:cNvSpPr>
            <a:spLocks noEditPoints="1"/>
          </p:cNvSpPr>
          <p:nvPr/>
        </p:nvSpPr>
        <p:spPr bwMode="auto">
          <a:xfrm>
            <a:off x="7237073" y="628563"/>
            <a:ext cx="1570038" cy="603250"/>
          </a:xfrm>
          <a:custGeom>
            <a:avLst/>
            <a:gdLst/>
            <a:ahLst/>
            <a:cxnLst>
              <a:cxn ang="0">
                <a:pos x="4" y="181"/>
              </a:cxn>
              <a:cxn ang="0">
                <a:pos x="17" y="138"/>
              </a:cxn>
              <a:cxn ang="0">
                <a:pos x="58" y="72"/>
              </a:cxn>
              <a:cxn ang="0">
                <a:pos x="127" y="22"/>
              </a:cxn>
              <a:cxn ang="0">
                <a:pos x="170" y="6"/>
              </a:cxn>
              <a:cxn ang="0">
                <a:pos x="215" y="1"/>
              </a:cxn>
              <a:cxn ang="0">
                <a:pos x="2733" y="4"/>
              </a:cxn>
              <a:cxn ang="0">
                <a:pos x="2776" y="17"/>
              </a:cxn>
              <a:cxn ang="0">
                <a:pos x="2841" y="59"/>
              </a:cxn>
              <a:cxn ang="0">
                <a:pos x="2891" y="127"/>
              </a:cxn>
              <a:cxn ang="0">
                <a:pos x="2907" y="171"/>
              </a:cxn>
              <a:cxn ang="0">
                <a:pos x="2912" y="215"/>
              </a:cxn>
              <a:cxn ang="0">
                <a:pos x="2909" y="941"/>
              </a:cxn>
              <a:cxn ang="0">
                <a:pos x="2897" y="983"/>
              </a:cxn>
              <a:cxn ang="0">
                <a:pos x="2854" y="1050"/>
              </a:cxn>
              <a:cxn ang="0">
                <a:pos x="2788" y="1099"/>
              </a:cxn>
              <a:cxn ang="0">
                <a:pos x="2743" y="1115"/>
              </a:cxn>
              <a:cxn ang="0">
                <a:pos x="2699" y="1120"/>
              </a:cxn>
              <a:cxn ang="0">
                <a:pos x="181" y="1117"/>
              </a:cxn>
              <a:cxn ang="0">
                <a:pos x="139" y="1105"/>
              </a:cxn>
              <a:cxn ang="0">
                <a:pos x="72" y="1062"/>
              </a:cxn>
              <a:cxn ang="0">
                <a:pos x="23" y="995"/>
              </a:cxn>
              <a:cxn ang="0">
                <a:pos x="6" y="952"/>
              </a:cxn>
              <a:cxn ang="0">
                <a:pos x="1" y="907"/>
              </a:cxn>
              <a:cxn ang="0">
                <a:pos x="96" y="898"/>
              </a:cxn>
              <a:cxn ang="0">
                <a:pos x="97" y="921"/>
              </a:cxn>
              <a:cxn ang="0">
                <a:pos x="102" y="942"/>
              </a:cxn>
              <a:cxn ang="0">
                <a:pos x="125" y="983"/>
              </a:cxn>
              <a:cxn ang="0">
                <a:pos x="168" y="1014"/>
              </a:cxn>
              <a:cxn ang="0">
                <a:pos x="190" y="1022"/>
              </a:cxn>
              <a:cxn ang="0">
                <a:pos x="2690" y="1025"/>
              </a:cxn>
              <a:cxn ang="0">
                <a:pos x="2714" y="1024"/>
              </a:cxn>
              <a:cxn ang="0">
                <a:pos x="2733" y="1020"/>
              </a:cxn>
              <a:cxn ang="0">
                <a:pos x="2775" y="995"/>
              </a:cxn>
              <a:cxn ang="0">
                <a:pos x="2806" y="954"/>
              </a:cxn>
              <a:cxn ang="0">
                <a:pos x="2814" y="932"/>
              </a:cxn>
              <a:cxn ang="0">
                <a:pos x="2817" y="224"/>
              </a:cxn>
              <a:cxn ang="0">
                <a:pos x="2816" y="200"/>
              </a:cxn>
              <a:cxn ang="0">
                <a:pos x="2812" y="180"/>
              </a:cxn>
              <a:cxn ang="0">
                <a:pos x="2788" y="138"/>
              </a:cxn>
              <a:cxn ang="0">
                <a:pos x="2745" y="108"/>
              </a:cxn>
              <a:cxn ang="0">
                <a:pos x="2724" y="99"/>
              </a:cxn>
              <a:cxn ang="0">
                <a:pos x="224" y="96"/>
              </a:cxn>
              <a:cxn ang="0">
                <a:pos x="201" y="97"/>
              </a:cxn>
              <a:cxn ang="0">
                <a:pos x="180" y="103"/>
              </a:cxn>
              <a:cxn ang="0">
                <a:pos x="139" y="125"/>
              </a:cxn>
              <a:cxn ang="0">
                <a:pos x="108" y="169"/>
              </a:cxn>
              <a:cxn ang="0">
                <a:pos x="99" y="190"/>
              </a:cxn>
              <a:cxn ang="0">
                <a:pos x="96" y="898"/>
              </a:cxn>
            </a:cxnLst>
            <a:rect l="0" t="0" r="r" b="b"/>
            <a:pathLst>
              <a:path w="2912" h="1120">
                <a:moveTo>
                  <a:pt x="0" y="219"/>
                </a:moveTo>
                <a:lnTo>
                  <a:pt x="4" y="181"/>
                </a:lnTo>
                <a:cubicBezTo>
                  <a:pt x="4" y="177"/>
                  <a:pt x="5" y="174"/>
                  <a:pt x="6" y="170"/>
                </a:cubicBezTo>
                <a:lnTo>
                  <a:pt x="17" y="138"/>
                </a:lnTo>
                <a:cubicBezTo>
                  <a:pt x="18" y="134"/>
                  <a:pt x="20" y="131"/>
                  <a:pt x="22" y="127"/>
                </a:cubicBezTo>
                <a:lnTo>
                  <a:pt x="58" y="72"/>
                </a:lnTo>
                <a:cubicBezTo>
                  <a:pt x="62" y="67"/>
                  <a:pt x="67" y="62"/>
                  <a:pt x="72" y="58"/>
                </a:cubicBezTo>
                <a:lnTo>
                  <a:pt x="127" y="22"/>
                </a:lnTo>
                <a:cubicBezTo>
                  <a:pt x="131" y="20"/>
                  <a:pt x="134" y="18"/>
                  <a:pt x="138" y="17"/>
                </a:cubicBezTo>
                <a:lnTo>
                  <a:pt x="170" y="6"/>
                </a:lnTo>
                <a:cubicBezTo>
                  <a:pt x="174" y="5"/>
                  <a:pt x="177" y="4"/>
                  <a:pt x="181" y="4"/>
                </a:cubicBezTo>
                <a:lnTo>
                  <a:pt x="215" y="1"/>
                </a:lnTo>
                <a:lnTo>
                  <a:pt x="2694" y="0"/>
                </a:lnTo>
                <a:lnTo>
                  <a:pt x="2733" y="4"/>
                </a:lnTo>
                <a:cubicBezTo>
                  <a:pt x="2737" y="4"/>
                  <a:pt x="2740" y="5"/>
                  <a:pt x="2744" y="6"/>
                </a:cubicBezTo>
                <a:lnTo>
                  <a:pt x="2776" y="17"/>
                </a:lnTo>
                <a:cubicBezTo>
                  <a:pt x="2780" y="18"/>
                  <a:pt x="2784" y="20"/>
                  <a:pt x="2787" y="23"/>
                </a:cubicBezTo>
                <a:lnTo>
                  <a:pt x="2841" y="59"/>
                </a:lnTo>
                <a:cubicBezTo>
                  <a:pt x="2846" y="62"/>
                  <a:pt x="2851" y="66"/>
                  <a:pt x="2854" y="72"/>
                </a:cubicBezTo>
                <a:lnTo>
                  <a:pt x="2891" y="127"/>
                </a:lnTo>
                <a:cubicBezTo>
                  <a:pt x="2894" y="131"/>
                  <a:pt x="2896" y="135"/>
                  <a:pt x="2897" y="139"/>
                </a:cubicBezTo>
                <a:lnTo>
                  <a:pt x="2907" y="171"/>
                </a:lnTo>
                <a:cubicBezTo>
                  <a:pt x="2908" y="174"/>
                  <a:pt x="2909" y="178"/>
                  <a:pt x="2909" y="181"/>
                </a:cubicBezTo>
                <a:lnTo>
                  <a:pt x="2912" y="215"/>
                </a:lnTo>
                <a:lnTo>
                  <a:pt x="2912" y="902"/>
                </a:lnTo>
                <a:lnTo>
                  <a:pt x="2909" y="941"/>
                </a:lnTo>
                <a:cubicBezTo>
                  <a:pt x="2909" y="944"/>
                  <a:pt x="2908" y="948"/>
                  <a:pt x="2907" y="951"/>
                </a:cubicBezTo>
                <a:lnTo>
                  <a:pt x="2897" y="983"/>
                </a:lnTo>
                <a:cubicBezTo>
                  <a:pt x="2896" y="987"/>
                  <a:pt x="2894" y="992"/>
                  <a:pt x="2891" y="996"/>
                </a:cubicBezTo>
                <a:lnTo>
                  <a:pt x="2854" y="1050"/>
                </a:lnTo>
                <a:cubicBezTo>
                  <a:pt x="2851" y="1054"/>
                  <a:pt x="2846" y="1059"/>
                  <a:pt x="2842" y="1062"/>
                </a:cubicBezTo>
                <a:lnTo>
                  <a:pt x="2788" y="1099"/>
                </a:lnTo>
                <a:cubicBezTo>
                  <a:pt x="2784" y="1102"/>
                  <a:pt x="2779" y="1104"/>
                  <a:pt x="2775" y="1105"/>
                </a:cubicBezTo>
                <a:lnTo>
                  <a:pt x="2743" y="1115"/>
                </a:lnTo>
                <a:cubicBezTo>
                  <a:pt x="2739" y="1116"/>
                  <a:pt x="2736" y="1117"/>
                  <a:pt x="2733" y="1117"/>
                </a:cubicBezTo>
                <a:lnTo>
                  <a:pt x="2699" y="1120"/>
                </a:lnTo>
                <a:lnTo>
                  <a:pt x="219" y="1120"/>
                </a:lnTo>
                <a:lnTo>
                  <a:pt x="181" y="1117"/>
                </a:lnTo>
                <a:cubicBezTo>
                  <a:pt x="178" y="1117"/>
                  <a:pt x="174" y="1116"/>
                  <a:pt x="171" y="1115"/>
                </a:cubicBezTo>
                <a:lnTo>
                  <a:pt x="139" y="1105"/>
                </a:lnTo>
                <a:cubicBezTo>
                  <a:pt x="135" y="1104"/>
                  <a:pt x="131" y="1102"/>
                  <a:pt x="127" y="1099"/>
                </a:cubicBezTo>
                <a:lnTo>
                  <a:pt x="72" y="1062"/>
                </a:lnTo>
                <a:cubicBezTo>
                  <a:pt x="66" y="1059"/>
                  <a:pt x="62" y="1054"/>
                  <a:pt x="59" y="1049"/>
                </a:cubicBezTo>
                <a:lnTo>
                  <a:pt x="23" y="995"/>
                </a:lnTo>
                <a:cubicBezTo>
                  <a:pt x="20" y="992"/>
                  <a:pt x="18" y="988"/>
                  <a:pt x="17" y="984"/>
                </a:cubicBezTo>
                <a:lnTo>
                  <a:pt x="6" y="952"/>
                </a:lnTo>
                <a:cubicBezTo>
                  <a:pt x="5" y="948"/>
                  <a:pt x="4" y="945"/>
                  <a:pt x="4" y="941"/>
                </a:cubicBezTo>
                <a:lnTo>
                  <a:pt x="1" y="907"/>
                </a:lnTo>
                <a:lnTo>
                  <a:pt x="0" y="219"/>
                </a:lnTo>
                <a:close/>
                <a:moveTo>
                  <a:pt x="96" y="898"/>
                </a:moveTo>
                <a:lnTo>
                  <a:pt x="99" y="932"/>
                </a:lnTo>
                <a:lnTo>
                  <a:pt x="97" y="921"/>
                </a:lnTo>
                <a:lnTo>
                  <a:pt x="108" y="953"/>
                </a:lnTo>
                <a:lnTo>
                  <a:pt x="102" y="942"/>
                </a:lnTo>
                <a:lnTo>
                  <a:pt x="138" y="996"/>
                </a:lnTo>
                <a:lnTo>
                  <a:pt x="125" y="983"/>
                </a:lnTo>
                <a:lnTo>
                  <a:pt x="180" y="1020"/>
                </a:lnTo>
                <a:lnTo>
                  <a:pt x="168" y="1014"/>
                </a:lnTo>
                <a:lnTo>
                  <a:pt x="200" y="1024"/>
                </a:lnTo>
                <a:lnTo>
                  <a:pt x="190" y="1022"/>
                </a:lnTo>
                <a:lnTo>
                  <a:pt x="219" y="1024"/>
                </a:lnTo>
                <a:lnTo>
                  <a:pt x="2690" y="1025"/>
                </a:lnTo>
                <a:lnTo>
                  <a:pt x="2724" y="1022"/>
                </a:lnTo>
                <a:lnTo>
                  <a:pt x="2714" y="1024"/>
                </a:lnTo>
                <a:lnTo>
                  <a:pt x="2746" y="1014"/>
                </a:lnTo>
                <a:lnTo>
                  <a:pt x="2733" y="1020"/>
                </a:lnTo>
                <a:lnTo>
                  <a:pt x="2787" y="983"/>
                </a:lnTo>
                <a:lnTo>
                  <a:pt x="2775" y="995"/>
                </a:lnTo>
                <a:lnTo>
                  <a:pt x="2812" y="941"/>
                </a:lnTo>
                <a:lnTo>
                  <a:pt x="2806" y="954"/>
                </a:lnTo>
                <a:lnTo>
                  <a:pt x="2816" y="922"/>
                </a:lnTo>
                <a:lnTo>
                  <a:pt x="2814" y="932"/>
                </a:lnTo>
                <a:lnTo>
                  <a:pt x="2816" y="902"/>
                </a:lnTo>
                <a:lnTo>
                  <a:pt x="2817" y="224"/>
                </a:lnTo>
                <a:lnTo>
                  <a:pt x="2814" y="190"/>
                </a:lnTo>
                <a:lnTo>
                  <a:pt x="2816" y="200"/>
                </a:lnTo>
                <a:lnTo>
                  <a:pt x="2806" y="168"/>
                </a:lnTo>
                <a:lnTo>
                  <a:pt x="2812" y="180"/>
                </a:lnTo>
                <a:lnTo>
                  <a:pt x="2775" y="125"/>
                </a:lnTo>
                <a:lnTo>
                  <a:pt x="2788" y="138"/>
                </a:lnTo>
                <a:lnTo>
                  <a:pt x="2734" y="102"/>
                </a:lnTo>
                <a:lnTo>
                  <a:pt x="2745" y="108"/>
                </a:lnTo>
                <a:lnTo>
                  <a:pt x="2713" y="97"/>
                </a:lnTo>
                <a:lnTo>
                  <a:pt x="2724" y="99"/>
                </a:lnTo>
                <a:lnTo>
                  <a:pt x="2694" y="96"/>
                </a:lnTo>
                <a:lnTo>
                  <a:pt x="224" y="96"/>
                </a:lnTo>
                <a:lnTo>
                  <a:pt x="190" y="99"/>
                </a:lnTo>
                <a:lnTo>
                  <a:pt x="201" y="97"/>
                </a:lnTo>
                <a:lnTo>
                  <a:pt x="169" y="108"/>
                </a:lnTo>
                <a:lnTo>
                  <a:pt x="180" y="103"/>
                </a:lnTo>
                <a:lnTo>
                  <a:pt x="125" y="139"/>
                </a:lnTo>
                <a:lnTo>
                  <a:pt x="139" y="125"/>
                </a:lnTo>
                <a:lnTo>
                  <a:pt x="103" y="180"/>
                </a:lnTo>
                <a:lnTo>
                  <a:pt x="108" y="169"/>
                </a:lnTo>
                <a:lnTo>
                  <a:pt x="97" y="201"/>
                </a:lnTo>
                <a:lnTo>
                  <a:pt x="99" y="190"/>
                </a:lnTo>
                <a:lnTo>
                  <a:pt x="96" y="219"/>
                </a:lnTo>
                <a:lnTo>
                  <a:pt x="96" y="898"/>
                </a:lnTo>
                <a:close/>
              </a:path>
            </a:pathLst>
          </a:custGeom>
          <a:solidFill>
            <a:srgbClr val="0070C0"/>
          </a:solidFill>
          <a:ln w="0" cap="flat">
            <a:solidFill>
              <a:srgbClr val="0070C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 name="Rectangle 6">
            <a:extLst>
              <a:ext uri="{FF2B5EF4-FFF2-40B4-BE49-F238E27FC236}">
                <a16:creationId xmlns:a16="http://schemas.microsoft.com/office/drawing/2014/main" id="{911297D4-410C-4711-8EF7-E9CAB5CD828D}"/>
              </a:ext>
            </a:extLst>
          </p:cNvPr>
          <p:cNvSpPr>
            <a:spLocks noChangeArrowheads="1"/>
          </p:cNvSpPr>
          <p:nvPr/>
        </p:nvSpPr>
        <p:spPr bwMode="auto">
          <a:xfrm>
            <a:off x="7527642" y="691488"/>
            <a:ext cx="948978" cy="487313"/>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ctr" defTabSz="914400" rtl="0" eaLnBrk="1" fontAlgn="base" latinLnBrk="0" hangingPunct="1">
              <a:lnSpc>
                <a:spcPts val="1900"/>
              </a:lnSpc>
              <a:spcBef>
                <a:spcPct val="0"/>
              </a:spcBef>
              <a:spcAft>
                <a:spcPct val="0"/>
              </a:spcAft>
              <a:buClrTx/>
              <a:buSzTx/>
              <a:buFontTx/>
              <a:buNone/>
              <a:tabLst/>
            </a:pPr>
            <a:r>
              <a:rPr lang="en-US" dirty="0">
                <a:solidFill>
                  <a:srgbClr val="0070C0"/>
                </a:solidFill>
                <a:latin typeface="Times New Roman" pitchFamily="18" charset="0"/>
                <a:cs typeface="Arial" pitchFamily="34" charset="0"/>
              </a:rPr>
              <a:t>Electronic</a:t>
            </a:r>
          </a:p>
          <a:p>
            <a:pPr marL="0" marR="0" lvl="0" indent="0" algn="ctr" defTabSz="914400" rtl="0" eaLnBrk="1" fontAlgn="base" latinLnBrk="0" hangingPunct="1">
              <a:lnSpc>
                <a:spcPts val="1900"/>
              </a:lnSpc>
              <a:spcBef>
                <a:spcPct val="0"/>
              </a:spcBef>
              <a:spcAft>
                <a:spcPct val="0"/>
              </a:spcAft>
              <a:buClrTx/>
              <a:buSzTx/>
              <a:buFontTx/>
              <a:buNone/>
              <a:tabLst/>
            </a:pPr>
            <a:r>
              <a:rPr lang="en-US" dirty="0">
                <a:solidFill>
                  <a:srgbClr val="0070C0"/>
                </a:solidFill>
                <a:latin typeface="Times New Roman" pitchFamily="18" charset="0"/>
                <a:cs typeface="Arial" pitchFamily="34" charset="0"/>
              </a:rPr>
              <a:t>Tattoo</a:t>
            </a:r>
          </a:p>
        </p:txBody>
      </p:sp>
    </p:spTree>
    <p:extLst>
      <p:ext uri="{BB962C8B-B14F-4D97-AF65-F5344CB8AC3E}">
        <p14:creationId xmlns:p14="http://schemas.microsoft.com/office/powerpoint/2010/main" val="35402606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5833D082-F3B5-4AF3-B1E2-B61785F10E9E}"/>
              </a:ext>
            </a:extLst>
          </p:cNvPr>
          <p:cNvGrpSpPr/>
          <p:nvPr/>
        </p:nvGrpSpPr>
        <p:grpSpPr>
          <a:xfrm>
            <a:off x="153605" y="145106"/>
            <a:ext cx="335559" cy="369332"/>
            <a:chOff x="369116" y="375299"/>
            <a:chExt cx="335559" cy="369332"/>
          </a:xfrm>
        </p:grpSpPr>
        <p:sp>
          <p:nvSpPr>
            <p:cNvPr id="6" name="Oval 5">
              <a:extLst>
                <a:ext uri="{FF2B5EF4-FFF2-40B4-BE49-F238E27FC236}">
                  <a16:creationId xmlns:a16="http://schemas.microsoft.com/office/drawing/2014/main" id="{6EB117B2-B40C-4CD1-9C58-A36211000B73}"/>
                </a:ext>
              </a:extLst>
            </p:cNvPr>
            <p:cNvSpPr/>
            <p:nvPr/>
          </p:nvSpPr>
          <p:spPr>
            <a:xfrm>
              <a:off x="369116" y="411061"/>
              <a:ext cx="335559" cy="297809"/>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99DC16D9-3812-4744-870D-66AC78368DCD}"/>
                </a:ext>
              </a:extLst>
            </p:cNvPr>
            <p:cNvSpPr txBox="1"/>
            <p:nvPr/>
          </p:nvSpPr>
          <p:spPr>
            <a:xfrm>
              <a:off x="394601" y="375299"/>
              <a:ext cx="301686" cy="369332"/>
            </a:xfrm>
            <a:prstGeom prst="rect">
              <a:avLst/>
            </a:prstGeom>
            <a:noFill/>
          </p:spPr>
          <p:txBody>
            <a:bodyPr wrap="none" rtlCol="0">
              <a:spAutoFit/>
            </a:bodyPr>
            <a:lstStyle/>
            <a:p>
              <a:r>
                <a:rPr lang="en-US" dirty="0"/>
                <a:t>3</a:t>
              </a:r>
            </a:p>
          </p:txBody>
        </p:sp>
      </p:grpSp>
      <p:sp>
        <p:nvSpPr>
          <p:cNvPr id="14" name="Rounded Rectangle 20">
            <a:extLst>
              <a:ext uri="{FF2B5EF4-FFF2-40B4-BE49-F238E27FC236}">
                <a16:creationId xmlns:a16="http://schemas.microsoft.com/office/drawing/2014/main" id="{CB268012-7463-4F31-8638-16F713E063F8}"/>
              </a:ext>
            </a:extLst>
          </p:cNvPr>
          <p:cNvSpPr/>
          <p:nvPr/>
        </p:nvSpPr>
        <p:spPr>
          <a:xfrm>
            <a:off x="6135611" y="2834938"/>
            <a:ext cx="990600" cy="533400"/>
          </a:xfrm>
          <a:prstGeom prst="round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TextBox 14">
            <a:extLst>
              <a:ext uri="{FF2B5EF4-FFF2-40B4-BE49-F238E27FC236}">
                <a16:creationId xmlns:a16="http://schemas.microsoft.com/office/drawing/2014/main" id="{EF476DD4-DA80-4D33-AA1C-646B4145A00A}"/>
              </a:ext>
            </a:extLst>
          </p:cNvPr>
          <p:cNvSpPr txBox="1"/>
          <p:nvPr/>
        </p:nvSpPr>
        <p:spPr>
          <a:xfrm>
            <a:off x="6211811" y="2301538"/>
            <a:ext cx="745140" cy="402290"/>
          </a:xfrm>
          <a:prstGeom prst="rect">
            <a:avLst/>
          </a:prstGeom>
          <a:noFill/>
        </p:spPr>
        <p:txBody>
          <a:bodyPr wrap="none" rtlCol="0">
            <a:spAutoFit/>
          </a:bodyPr>
          <a:lstStyle/>
          <a:p>
            <a:pPr algn="ctr">
              <a:lnSpc>
                <a:spcPts val="1200"/>
              </a:lnSpc>
            </a:pPr>
            <a:r>
              <a:rPr lang="en-US" sz="1200" dirty="0">
                <a:solidFill>
                  <a:schemeClr val="accent1">
                    <a:lumMod val="50000"/>
                  </a:schemeClr>
                </a:solidFill>
              </a:rPr>
              <a:t>Software</a:t>
            </a:r>
          </a:p>
          <a:p>
            <a:pPr algn="ctr">
              <a:lnSpc>
                <a:spcPts val="1200"/>
              </a:lnSpc>
            </a:pPr>
            <a:r>
              <a:rPr lang="en-US" sz="1200" dirty="0">
                <a:solidFill>
                  <a:schemeClr val="accent1">
                    <a:lumMod val="50000"/>
                  </a:schemeClr>
                </a:solidFill>
              </a:rPr>
              <a:t>Design</a:t>
            </a:r>
          </a:p>
        </p:txBody>
      </p:sp>
      <p:sp>
        <p:nvSpPr>
          <p:cNvPr id="16" name="TextBox 15">
            <a:extLst>
              <a:ext uri="{FF2B5EF4-FFF2-40B4-BE49-F238E27FC236}">
                <a16:creationId xmlns:a16="http://schemas.microsoft.com/office/drawing/2014/main" id="{5EE0035C-BF98-4300-9824-3B3C7AE47E43}"/>
              </a:ext>
            </a:extLst>
          </p:cNvPr>
          <p:cNvSpPr txBox="1"/>
          <p:nvPr/>
        </p:nvSpPr>
        <p:spPr>
          <a:xfrm>
            <a:off x="6192287" y="2911138"/>
            <a:ext cx="833049" cy="402290"/>
          </a:xfrm>
          <a:prstGeom prst="rect">
            <a:avLst/>
          </a:prstGeom>
          <a:noFill/>
        </p:spPr>
        <p:txBody>
          <a:bodyPr wrap="none" rtlCol="0">
            <a:spAutoFit/>
          </a:bodyPr>
          <a:lstStyle/>
          <a:p>
            <a:pPr algn="ctr">
              <a:lnSpc>
                <a:spcPts val="1200"/>
              </a:lnSpc>
            </a:pPr>
            <a:r>
              <a:rPr lang="en-US" sz="1200" dirty="0">
                <a:solidFill>
                  <a:schemeClr val="accent1">
                    <a:lumMod val="50000"/>
                  </a:schemeClr>
                </a:solidFill>
              </a:rPr>
              <a:t>SW Tools</a:t>
            </a:r>
          </a:p>
          <a:p>
            <a:pPr algn="ctr">
              <a:lnSpc>
                <a:spcPts val="1200"/>
              </a:lnSpc>
            </a:pPr>
            <a:r>
              <a:rPr lang="en-US" sz="1200" dirty="0">
                <a:solidFill>
                  <a:schemeClr val="accent1">
                    <a:lumMod val="50000"/>
                  </a:schemeClr>
                </a:solidFill>
              </a:rPr>
              <a:t>Evaluation</a:t>
            </a:r>
          </a:p>
        </p:txBody>
      </p:sp>
      <p:sp>
        <p:nvSpPr>
          <p:cNvPr id="17" name="Rounded Rectangle 26">
            <a:extLst>
              <a:ext uri="{FF2B5EF4-FFF2-40B4-BE49-F238E27FC236}">
                <a16:creationId xmlns:a16="http://schemas.microsoft.com/office/drawing/2014/main" id="{8D891E62-A16B-4703-AE82-DEBDC64EC530}"/>
              </a:ext>
            </a:extLst>
          </p:cNvPr>
          <p:cNvSpPr/>
          <p:nvPr/>
        </p:nvSpPr>
        <p:spPr>
          <a:xfrm>
            <a:off x="6135611" y="2225338"/>
            <a:ext cx="990600" cy="533400"/>
          </a:xfrm>
          <a:prstGeom prst="round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TextBox 17">
            <a:extLst>
              <a:ext uri="{FF2B5EF4-FFF2-40B4-BE49-F238E27FC236}">
                <a16:creationId xmlns:a16="http://schemas.microsoft.com/office/drawing/2014/main" id="{3CA706A0-5BA9-4E82-A833-0C21C2F8296F}"/>
              </a:ext>
            </a:extLst>
          </p:cNvPr>
          <p:cNvSpPr txBox="1"/>
          <p:nvPr/>
        </p:nvSpPr>
        <p:spPr>
          <a:xfrm>
            <a:off x="3606370" y="2244217"/>
            <a:ext cx="2551788" cy="307777"/>
          </a:xfrm>
          <a:prstGeom prst="rect">
            <a:avLst/>
          </a:prstGeom>
          <a:noFill/>
        </p:spPr>
        <p:txBody>
          <a:bodyPr wrap="none" rtlCol="0">
            <a:spAutoFit/>
          </a:bodyPr>
          <a:lstStyle/>
          <a:p>
            <a:pPr algn="r"/>
            <a:r>
              <a:rPr lang="en-US" sz="1400" b="1" dirty="0">
                <a:solidFill>
                  <a:schemeClr val="bg1">
                    <a:lumMod val="65000"/>
                  </a:schemeClr>
                </a:solidFill>
              </a:rPr>
              <a:t>Low coupling and high cohesion</a:t>
            </a:r>
          </a:p>
        </p:txBody>
      </p:sp>
      <p:sp>
        <p:nvSpPr>
          <p:cNvPr id="19" name="TextBox 18">
            <a:extLst>
              <a:ext uri="{FF2B5EF4-FFF2-40B4-BE49-F238E27FC236}">
                <a16:creationId xmlns:a16="http://schemas.microsoft.com/office/drawing/2014/main" id="{1B231EA6-6802-40E9-B126-3C3CA54C29C0}"/>
              </a:ext>
            </a:extLst>
          </p:cNvPr>
          <p:cNvSpPr txBox="1"/>
          <p:nvPr/>
        </p:nvSpPr>
        <p:spPr>
          <a:xfrm>
            <a:off x="4500650" y="3112297"/>
            <a:ext cx="1552733" cy="307777"/>
          </a:xfrm>
          <a:prstGeom prst="rect">
            <a:avLst/>
          </a:prstGeom>
          <a:noFill/>
        </p:spPr>
        <p:txBody>
          <a:bodyPr wrap="none" rtlCol="0">
            <a:spAutoFit/>
          </a:bodyPr>
          <a:lstStyle/>
          <a:p>
            <a:pPr algn="r"/>
            <a:r>
              <a:rPr lang="en-US" sz="1400" b="1" dirty="0">
                <a:solidFill>
                  <a:schemeClr val="bg1">
                    <a:lumMod val="65000"/>
                  </a:schemeClr>
                </a:solidFill>
              </a:rPr>
              <a:t>Scale optimization</a:t>
            </a:r>
          </a:p>
        </p:txBody>
      </p:sp>
      <p:sp>
        <p:nvSpPr>
          <p:cNvPr id="20" name="Rounded Rectangle 73">
            <a:extLst>
              <a:ext uri="{FF2B5EF4-FFF2-40B4-BE49-F238E27FC236}">
                <a16:creationId xmlns:a16="http://schemas.microsoft.com/office/drawing/2014/main" id="{8D6B1EB8-F01A-443A-B6E5-075AF1A2443F}"/>
              </a:ext>
            </a:extLst>
          </p:cNvPr>
          <p:cNvSpPr/>
          <p:nvPr/>
        </p:nvSpPr>
        <p:spPr>
          <a:xfrm>
            <a:off x="6126086" y="3435013"/>
            <a:ext cx="990600" cy="533400"/>
          </a:xfrm>
          <a:prstGeom prst="round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TextBox 20">
            <a:extLst>
              <a:ext uri="{FF2B5EF4-FFF2-40B4-BE49-F238E27FC236}">
                <a16:creationId xmlns:a16="http://schemas.microsoft.com/office/drawing/2014/main" id="{7FFED944-18E9-4DC4-8482-1F87826391A9}"/>
              </a:ext>
            </a:extLst>
          </p:cNvPr>
          <p:cNvSpPr txBox="1"/>
          <p:nvPr/>
        </p:nvSpPr>
        <p:spPr>
          <a:xfrm>
            <a:off x="6210121" y="3568363"/>
            <a:ext cx="835485" cy="248401"/>
          </a:xfrm>
          <a:prstGeom prst="rect">
            <a:avLst/>
          </a:prstGeom>
          <a:noFill/>
        </p:spPr>
        <p:txBody>
          <a:bodyPr wrap="none" rtlCol="0">
            <a:spAutoFit/>
          </a:bodyPr>
          <a:lstStyle/>
          <a:p>
            <a:pPr algn="ctr">
              <a:lnSpc>
                <a:spcPts val="1200"/>
              </a:lnSpc>
            </a:pPr>
            <a:r>
              <a:rPr lang="en-US" sz="1200" dirty="0">
                <a:solidFill>
                  <a:schemeClr val="accent1">
                    <a:lumMod val="50000"/>
                  </a:schemeClr>
                </a:solidFill>
              </a:rPr>
              <a:t>IT Security</a:t>
            </a:r>
          </a:p>
        </p:txBody>
      </p:sp>
      <p:sp>
        <p:nvSpPr>
          <p:cNvPr id="22" name="TextBox 21">
            <a:extLst>
              <a:ext uri="{FF2B5EF4-FFF2-40B4-BE49-F238E27FC236}">
                <a16:creationId xmlns:a16="http://schemas.microsoft.com/office/drawing/2014/main" id="{F0C8DF19-8667-41A4-9690-8E54D1CB2D8E}"/>
              </a:ext>
            </a:extLst>
          </p:cNvPr>
          <p:cNvSpPr txBox="1"/>
          <p:nvPr/>
        </p:nvSpPr>
        <p:spPr>
          <a:xfrm>
            <a:off x="3765542" y="3546336"/>
            <a:ext cx="2278316" cy="307777"/>
          </a:xfrm>
          <a:prstGeom prst="rect">
            <a:avLst/>
          </a:prstGeom>
          <a:noFill/>
        </p:spPr>
        <p:txBody>
          <a:bodyPr wrap="none" rtlCol="0">
            <a:spAutoFit/>
          </a:bodyPr>
          <a:lstStyle/>
          <a:p>
            <a:pPr algn="r"/>
            <a:r>
              <a:rPr lang="en-US" sz="1400" b="1" dirty="0">
                <a:solidFill>
                  <a:schemeClr val="bg1">
                    <a:lumMod val="65000"/>
                  </a:schemeClr>
                </a:solidFill>
              </a:rPr>
              <a:t>Risk = Threat X Vulnerability</a:t>
            </a:r>
          </a:p>
        </p:txBody>
      </p:sp>
      <p:sp>
        <p:nvSpPr>
          <p:cNvPr id="23" name="Rectangle 22">
            <a:extLst>
              <a:ext uri="{FF2B5EF4-FFF2-40B4-BE49-F238E27FC236}">
                <a16:creationId xmlns:a16="http://schemas.microsoft.com/office/drawing/2014/main" id="{A7AD5E47-7C57-496C-A2C7-4A9F9AF76CFB}"/>
              </a:ext>
            </a:extLst>
          </p:cNvPr>
          <p:cNvSpPr/>
          <p:nvPr/>
        </p:nvSpPr>
        <p:spPr>
          <a:xfrm>
            <a:off x="4262497" y="2678257"/>
            <a:ext cx="1802160" cy="307777"/>
          </a:xfrm>
          <a:prstGeom prst="rect">
            <a:avLst/>
          </a:prstGeom>
        </p:spPr>
        <p:txBody>
          <a:bodyPr wrap="none">
            <a:spAutoFit/>
          </a:bodyPr>
          <a:lstStyle/>
          <a:p>
            <a:pPr algn="r"/>
            <a:r>
              <a:rPr lang="en-US" sz="1400" b="1" dirty="0">
                <a:solidFill>
                  <a:schemeClr val="bg1">
                    <a:lumMod val="65000"/>
                  </a:schemeClr>
                </a:solidFill>
              </a:rPr>
              <a:t>States  aren’t  screens</a:t>
            </a:r>
          </a:p>
        </p:txBody>
      </p:sp>
    </p:spTree>
    <p:extLst>
      <p:ext uri="{BB962C8B-B14F-4D97-AF65-F5344CB8AC3E}">
        <p14:creationId xmlns:p14="http://schemas.microsoft.com/office/powerpoint/2010/main" val="42656749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D5D54BB5-45F1-4549-8CDA-938E85C75A48}"/>
              </a:ext>
            </a:extLst>
          </p:cNvPr>
          <p:cNvGrpSpPr/>
          <p:nvPr/>
        </p:nvGrpSpPr>
        <p:grpSpPr>
          <a:xfrm>
            <a:off x="220174" y="168646"/>
            <a:ext cx="335559" cy="369332"/>
            <a:chOff x="369116" y="375299"/>
            <a:chExt cx="335559" cy="369332"/>
          </a:xfrm>
        </p:grpSpPr>
        <p:sp>
          <p:nvSpPr>
            <p:cNvPr id="6" name="Oval 5">
              <a:extLst>
                <a:ext uri="{FF2B5EF4-FFF2-40B4-BE49-F238E27FC236}">
                  <a16:creationId xmlns:a16="http://schemas.microsoft.com/office/drawing/2014/main" id="{46B6ABFB-0587-43A2-95FC-FB57C6F98FDF}"/>
                </a:ext>
              </a:extLst>
            </p:cNvPr>
            <p:cNvSpPr/>
            <p:nvPr/>
          </p:nvSpPr>
          <p:spPr>
            <a:xfrm>
              <a:off x="369116" y="411061"/>
              <a:ext cx="335559" cy="297809"/>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52421CAC-5AD4-40A1-BC99-C7B4C2313F1C}"/>
                </a:ext>
              </a:extLst>
            </p:cNvPr>
            <p:cNvSpPr txBox="1"/>
            <p:nvPr/>
          </p:nvSpPr>
          <p:spPr>
            <a:xfrm>
              <a:off x="394601" y="375299"/>
              <a:ext cx="301686" cy="369332"/>
            </a:xfrm>
            <a:prstGeom prst="rect">
              <a:avLst/>
            </a:prstGeom>
            <a:noFill/>
          </p:spPr>
          <p:txBody>
            <a:bodyPr wrap="none" rtlCol="0">
              <a:spAutoFit/>
            </a:bodyPr>
            <a:lstStyle/>
            <a:p>
              <a:r>
                <a:rPr lang="en-US" dirty="0"/>
                <a:t>4</a:t>
              </a:r>
            </a:p>
          </p:txBody>
        </p:sp>
      </p:grpSp>
      <p:sp>
        <p:nvSpPr>
          <p:cNvPr id="13" name="Rounded Rectangle 73">
            <a:extLst>
              <a:ext uri="{FF2B5EF4-FFF2-40B4-BE49-F238E27FC236}">
                <a16:creationId xmlns:a16="http://schemas.microsoft.com/office/drawing/2014/main" id="{7FBE282C-240B-48D9-B544-1A3870DBC3BB}"/>
              </a:ext>
            </a:extLst>
          </p:cNvPr>
          <p:cNvSpPr/>
          <p:nvPr/>
        </p:nvSpPr>
        <p:spPr>
          <a:xfrm>
            <a:off x="6225853" y="2690562"/>
            <a:ext cx="990600" cy="533400"/>
          </a:xfrm>
          <a:prstGeom prst="round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TextBox 13">
            <a:extLst>
              <a:ext uri="{FF2B5EF4-FFF2-40B4-BE49-F238E27FC236}">
                <a16:creationId xmlns:a16="http://schemas.microsoft.com/office/drawing/2014/main" id="{6FBDBEF1-3DB7-4745-8697-AFDDC5F6507D}"/>
              </a:ext>
            </a:extLst>
          </p:cNvPr>
          <p:cNvSpPr txBox="1"/>
          <p:nvPr/>
        </p:nvSpPr>
        <p:spPr>
          <a:xfrm>
            <a:off x="6302053" y="2157162"/>
            <a:ext cx="745140" cy="402290"/>
          </a:xfrm>
          <a:prstGeom prst="rect">
            <a:avLst/>
          </a:prstGeom>
          <a:noFill/>
        </p:spPr>
        <p:txBody>
          <a:bodyPr wrap="none" rtlCol="0">
            <a:spAutoFit/>
          </a:bodyPr>
          <a:lstStyle/>
          <a:p>
            <a:pPr algn="ctr">
              <a:lnSpc>
                <a:spcPts val="1200"/>
              </a:lnSpc>
            </a:pPr>
            <a:r>
              <a:rPr lang="en-US" sz="1200" dirty="0">
                <a:solidFill>
                  <a:schemeClr val="accent1">
                    <a:lumMod val="50000"/>
                  </a:schemeClr>
                </a:solidFill>
              </a:rPr>
              <a:t>Software</a:t>
            </a:r>
          </a:p>
          <a:p>
            <a:pPr algn="ctr">
              <a:lnSpc>
                <a:spcPts val="1200"/>
              </a:lnSpc>
            </a:pPr>
            <a:r>
              <a:rPr lang="en-US" sz="1200" dirty="0">
                <a:solidFill>
                  <a:schemeClr val="accent1">
                    <a:lumMod val="50000"/>
                  </a:schemeClr>
                </a:solidFill>
              </a:rPr>
              <a:t>Design</a:t>
            </a:r>
          </a:p>
        </p:txBody>
      </p:sp>
      <p:sp>
        <p:nvSpPr>
          <p:cNvPr id="15" name="TextBox 14">
            <a:extLst>
              <a:ext uri="{FF2B5EF4-FFF2-40B4-BE49-F238E27FC236}">
                <a16:creationId xmlns:a16="http://schemas.microsoft.com/office/drawing/2014/main" id="{69609C9D-78DA-4483-90FE-FCA38C125983}"/>
              </a:ext>
            </a:extLst>
          </p:cNvPr>
          <p:cNvSpPr txBox="1"/>
          <p:nvPr/>
        </p:nvSpPr>
        <p:spPr>
          <a:xfrm>
            <a:off x="6282529" y="2766762"/>
            <a:ext cx="833049" cy="402290"/>
          </a:xfrm>
          <a:prstGeom prst="rect">
            <a:avLst/>
          </a:prstGeom>
          <a:noFill/>
        </p:spPr>
        <p:txBody>
          <a:bodyPr wrap="none" rtlCol="0">
            <a:spAutoFit/>
          </a:bodyPr>
          <a:lstStyle/>
          <a:p>
            <a:pPr algn="ctr">
              <a:lnSpc>
                <a:spcPts val="1200"/>
              </a:lnSpc>
            </a:pPr>
            <a:r>
              <a:rPr lang="en-US" sz="1200" dirty="0">
                <a:solidFill>
                  <a:schemeClr val="accent1">
                    <a:lumMod val="50000"/>
                  </a:schemeClr>
                </a:solidFill>
              </a:rPr>
              <a:t>SW Tools</a:t>
            </a:r>
          </a:p>
          <a:p>
            <a:pPr algn="ctr">
              <a:lnSpc>
                <a:spcPts val="1200"/>
              </a:lnSpc>
            </a:pPr>
            <a:r>
              <a:rPr lang="en-US" sz="1200" dirty="0">
                <a:solidFill>
                  <a:schemeClr val="accent1">
                    <a:lumMod val="50000"/>
                  </a:schemeClr>
                </a:solidFill>
              </a:rPr>
              <a:t>Evaluation</a:t>
            </a:r>
          </a:p>
        </p:txBody>
      </p:sp>
      <p:sp>
        <p:nvSpPr>
          <p:cNvPr id="16" name="Rounded Rectangle 80">
            <a:extLst>
              <a:ext uri="{FF2B5EF4-FFF2-40B4-BE49-F238E27FC236}">
                <a16:creationId xmlns:a16="http://schemas.microsoft.com/office/drawing/2014/main" id="{73CAA913-6973-4F4A-B674-BFFC6C015D49}"/>
              </a:ext>
            </a:extLst>
          </p:cNvPr>
          <p:cNvSpPr/>
          <p:nvPr/>
        </p:nvSpPr>
        <p:spPr>
          <a:xfrm>
            <a:off x="6225853" y="2080962"/>
            <a:ext cx="990600" cy="533400"/>
          </a:xfrm>
          <a:prstGeom prst="round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96C4A98B-6103-4EC5-8CF0-63722B868546}"/>
              </a:ext>
            </a:extLst>
          </p:cNvPr>
          <p:cNvSpPr txBox="1"/>
          <p:nvPr/>
        </p:nvSpPr>
        <p:spPr>
          <a:xfrm>
            <a:off x="4109751" y="2185737"/>
            <a:ext cx="1986249" cy="307777"/>
          </a:xfrm>
          <a:prstGeom prst="rect">
            <a:avLst/>
          </a:prstGeom>
          <a:noFill/>
        </p:spPr>
        <p:txBody>
          <a:bodyPr wrap="none" rtlCol="0">
            <a:spAutoFit/>
          </a:bodyPr>
          <a:lstStyle/>
          <a:p>
            <a:pPr algn="r"/>
            <a:r>
              <a:rPr lang="en-US" sz="1400" b="1" dirty="0">
                <a:solidFill>
                  <a:schemeClr val="bg1">
                    <a:lumMod val="65000"/>
                  </a:schemeClr>
                </a:solidFill>
              </a:rPr>
              <a:t>Do not color wireframes</a:t>
            </a:r>
          </a:p>
        </p:txBody>
      </p:sp>
      <p:sp>
        <p:nvSpPr>
          <p:cNvPr id="18" name="TextBox 17">
            <a:extLst>
              <a:ext uri="{FF2B5EF4-FFF2-40B4-BE49-F238E27FC236}">
                <a16:creationId xmlns:a16="http://schemas.microsoft.com/office/drawing/2014/main" id="{7A8E84F3-259E-4AF1-A082-4BCE383B9E57}"/>
              </a:ext>
            </a:extLst>
          </p:cNvPr>
          <p:cNvSpPr txBox="1"/>
          <p:nvPr/>
        </p:nvSpPr>
        <p:spPr>
          <a:xfrm>
            <a:off x="3435028" y="2642937"/>
            <a:ext cx="2667000" cy="523220"/>
          </a:xfrm>
          <a:prstGeom prst="rect">
            <a:avLst/>
          </a:prstGeom>
          <a:noFill/>
        </p:spPr>
        <p:txBody>
          <a:bodyPr wrap="square" rtlCol="0">
            <a:spAutoFit/>
          </a:bodyPr>
          <a:lstStyle/>
          <a:p>
            <a:pPr algn="r"/>
            <a:r>
              <a:rPr lang="en-US" sz="1400" b="1" dirty="0">
                <a:solidFill>
                  <a:schemeClr val="bg1">
                    <a:lumMod val="65000"/>
                  </a:schemeClr>
                </a:solidFill>
              </a:rPr>
              <a:t>Do not introduce a tool that does not support the common process</a:t>
            </a:r>
          </a:p>
        </p:txBody>
      </p:sp>
      <p:sp>
        <p:nvSpPr>
          <p:cNvPr id="19" name="Rounded Rectangle 89">
            <a:extLst>
              <a:ext uri="{FF2B5EF4-FFF2-40B4-BE49-F238E27FC236}">
                <a16:creationId xmlns:a16="http://schemas.microsoft.com/office/drawing/2014/main" id="{0B2C9A14-5B92-499B-A5A5-8D560A622504}"/>
              </a:ext>
            </a:extLst>
          </p:cNvPr>
          <p:cNvSpPr/>
          <p:nvPr/>
        </p:nvSpPr>
        <p:spPr>
          <a:xfrm>
            <a:off x="6216328" y="3290637"/>
            <a:ext cx="990600" cy="533400"/>
          </a:xfrm>
          <a:prstGeom prst="round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TextBox 19">
            <a:extLst>
              <a:ext uri="{FF2B5EF4-FFF2-40B4-BE49-F238E27FC236}">
                <a16:creationId xmlns:a16="http://schemas.microsoft.com/office/drawing/2014/main" id="{F701C912-7D5A-4256-85FC-5B2DBC34BFC9}"/>
              </a:ext>
            </a:extLst>
          </p:cNvPr>
          <p:cNvSpPr txBox="1"/>
          <p:nvPr/>
        </p:nvSpPr>
        <p:spPr>
          <a:xfrm>
            <a:off x="6300363" y="3423987"/>
            <a:ext cx="835485" cy="248401"/>
          </a:xfrm>
          <a:prstGeom prst="rect">
            <a:avLst/>
          </a:prstGeom>
          <a:noFill/>
        </p:spPr>
        <p:txBody>
          <a:bodyPr wrap="none" rtlCol="0">
            <a:spAutoFit/>
          </a:bodyPr>
          <a:lstStyle/>
          <a:p>
            <a:pPr algn="ctr">
              <a:lnSpc>
                <a:spcPts val="1200"/>
              </a:lnSpc>
            </a:pPr>
            <a:r>
              <a:rPr lang="en-US" sz="1200" dirty="0">
                <a:solidFill>
                  <a:schemeClr val="accent1">
                    <a:lumMod val="50000"/>
                  </a:schemeClr>
                </a:solidFill>
              </a:rPr>
              <a:t>IT Security</a:t>
            </a:r>
          </a:p>
        </p:txBody>
      </p:sp>
      <p:sp>
        <p:nvSpPr>
          <p:cNvPr id="21" name="TextBox 20">
            <a:extLst>
              <a:ext uri="{FF2B5EF4-FFF2-40B4-BE49-F238E27FC236}">
                <a16:creationId xmlns:a16="http://schemas.microsoft.com/office/drawing/2014/main" id="{FAC1F55D-8E85-4114-955D-3492D8A94A69}"/>
              </a:ext>
            </a:extLst>
          </p:cNvPr>
          <p:cNvSpPr txBox="1"/>
          <p:nvPr/>
        </p:nvSpPr>
        <p:spPr>
          <a:xfrm>
            <a:off x="3555356" y="3252537"/>
            <a:ext cx="2546672" cy="523220"/>
          </a:xfrm>
          <a:prstGeom prst="rect">
            <a:avLst/>
          </a:prstGeom>
          <a:noFill/>
        </p:spPr>
        <p:txBody>
          <a:bodyPr wrap="square" rtlCol="0">
            <a:spAutoFit/>
          </a:bodyPr>
          <a:lstStyle/>
          <a:p>
            <a:pPr algn="r"/>
            <a:r>
              <a:rPr lang="en-US" sz="1400" b="1" dirty="0">
                <a:solidFill>
                  <a:schemeClr val="bg1">
                    <a:lumMod val="65000"/>
                  </a:schemeClr>
                </a:solidFill>
              </a:rPr>
              <a:t>Do not focus on threats before addressing vulnerabilities</a:t>
            </a:r>
          </a:p>
        </p:txBody>
      </p:sp>
    </p:spTree>
    <p:extLst>
      <p:ext uri="{BB962C8B-B14F-4D97-AF65-F5344CB8AC3E}">
        <p14:creationId xmlns:p14="http://schemas.microsoft.com/office/powerpoint/2010/main" val="40284367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2E51296B-F09F-47BA-B749-01F0768F5DB3}"/>
              </a:ext>
            </a:extLst>
          </p:cNvPr>
          <p:cNvGrpSpPr/>
          <p:nvPr/>
        </p:nvGrpSpPr>
        <p:grpSpPr>
          <a:xfrm>
            <a:off x="143745" y="98148"/>
            <a:ext cx="335559" cy="369332"/>
            <a:chOff x="369116" y="375299"/>
            <a:chExt cx="335559" cy="369332"/>
          </a:xfrm>
        </p:grpSpPr>
        <p:sp>
          <p:nvSpPr>
            <p:cNvPr id="7" name="Oval 6">
              <a:extLst>
                <a:ext uri="{FF2B5EF4-FFF2-40B4-BE49-F238E27FC236}">
                  <a16:creationId xmlns:a16="http://schemas.microsoft.com/office/drawing/2014/main" id="{D716B59E-88A0-47FA-87E5-3B64DE0BCA0A}"/>
                </a:ext>
              </a:extLst>
            </p:cNvPr>
            <p:cNvSpPr/>
            <p:nvPr/>
          </p:nvSpPr>
          <p:spPr>
            <a:xfrm>
              <a:off x="369116" y="411061"/>
              <a:ext cx="335559" cy="297809"/>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468EFEC9-C482-42B0-89C8-C7D5257CB3BE}"/>
                </a:ext>
              </a:extLst>
            </p:cNvPr>
            <p:cNvSpPr txBox="1"/>
            <p:nvPr/>
          </p:nvSpPr>
          <p:spPr>
            <a:xfrm>
              <a:off x="394601" y="375299"/>
              <a:ext cx="301686" cy="369332"/>
            </a:xfrm>
            <a:prstGeom prst="rect">
              <a:avLst/>
            </a:prstGeom>
            <a:noFill/>
          </p:spPr>
          <p:txBody>
            <a:bodyPr wrap="none" rtlCol="0">
              <a:spAutoFit/>
            </a:bodyPr>
            <a:lstStyle/>
            <a:p>
              <a:r>
                <a:rPr lang="en-US" dirty="0"/>
                <a:t>5</a:t>
              </a:r>
            </a:p>
          </p:txBody>
        </p:sp>
      </p:grpSp>
      <p:sp>
        <p:nvSpPr>
          <p:cNvPr id="12" name="Rectangle 11">
            <a:extLst>
              <a:ext uri="{FF2B5EF4-FFF2-40B4-BE49-F238E27FC236}">
                <a16:creationId xmlns:a16="http://schemas.microsoft.com/office/drawing/2014/main" id="{4C9575F5-75C7-425F-B763-0C7476651AE6}"/>
              </a:ext>
            </a:extLst>
          </p:cNvPr>
          <p:cNvSpPr/>
          <p:nvPr/>
        </p:nvSpPr>
        <p:spPr>
          <a:xfrm>
            <a:off x="1556078" y="26725"/>
            <a:ext cx="3124200" cy="5029200"/>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3" name="Picture 37">
            <a:extLst>
              <a:ext uri="{FF2B5EF4-FFF2-40B4-BE49-F238E27FC236}">
                <a16:creationId xmlns:a16="http://schemas.microsoft.com/office/drawing/2014/main" id="{D6C32489-B5D7-4960-93D6-B6B7E871C074}"/>
              </a:ext>
            </a:extLst>
          </p:cNvPr>
          <p:cNvPicPr>
            <a:picLocks noChangeAspect="1" noChangeArrowheads="1"/>
          </p:cNvPicPr>
          <p:nvPr/>
        </p:nvPicPr>
        <p:blipFill>
          <a:blip r:embed="rId2" cstate="print"/>
          <a:srcRect/>
          <a:stretch>
            <a:fillRect/>
          </a:stretch>
        </p:blipFill>
        <p:spPr bwMode="auto">
          <a:xfrm>
            <a:off x="5200997" y="1459675"/>
            <a:ext cx="4602481" cy="3810000"/>
          </a:xfrm>
          <a:prstGeom prst="rect">
            <a:avLst/>
          </a:prstGeom>
          <a:noFill/>
        </p:spPr>
      </p:pic>
      <p:sp>
        <p:nvSpPr>
          <p:cNvPr id="14" name="Rectangular Callout 41">
            <a:extLst>
              <a:ext uri="{FF2B5EF4-FFF2-40B4-BE49-F238E27FC236}">
                <a16:creationId xmlns:a16="http://schemas.microsoft.com/office/drawing/2014/main" id="{5D0DA48D-DEC9-40A1-AD2C-4734C3EDFA66}"/>
              </a:ext>
            </a:extLst>
          </p:cNvPr>
          <p:cNvSpPr/>
          <p:nvPr/>
        </p:nvSpPr>
        <p:spPr>
          <a:xfrm>
            <a:off x="1784678" y="1440875"/>
            <a:ext cx="1447800" cy="3581400"/>
          </a:xfrm>
          <a:prstGeom prst="wedgeRectCallout">
            <a:avLst>
              <a:gd name="adj1" fmla="val 216215"/>
              <a:gd name="adj2" fmla="val -12291"/>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TextBox 14">
            <a:extLst>
              <a:ext uri="{FF2B5EF4-FFF2-40B4-BE49-F238E27FC236}">
                <a16:creationId xmlns:a16="http://schemas.microsoft.com/office/drawing/2014/main" id="{98FB44AA-0A4E-405B-8D43-8970BA07CBBF}"/>
              </a:ext>
            </a:extLst>
          </p:cNvPr>
          <p:cNvSpPr txBox="1"/>
          <p:nvPr/>
        </p:nvSpPr>
        <p:spPr>
          <a:xfrm>
            <a:off x="5580124" y="2077860"/>
            <a:ext cx="644369" cy="266049"/>
          </a:xfrm>
          <a:prstGeom prst="rect">
            <a:avLst/>
          </a:prstGeom>
          <a:noFill/>
        </p:spPr>
        <p:txBody>
          <a:bodyPr wrap="none" rtlCol="0">
            <a:spAutoFit/>
          </a:bodyPr>
          <a:lstStyle/>
          <a:p>
            <a:r>
              <a:rPr lang="en-US" sz="1200" b="1" dirty="0">
                <a:solidFill>
                  <a:srgbClr val="C00000"/>
                </a:solidFill>
              </a:rPr>
              <a:t>Auditor</a:t>
            </a:r>
          </a:p>
        </p:txBody>
      </p:sp>
      <p:sp>
        <p:nvSpPr>
          <p:cNvPr id="16" name="Oval 15">
            <a:extLst>
              <a:ext uri="{FF2B5EF4-FFF2-40B4-BE49-F238E27FC236}">
                <a16:creationId xmlns:a16="http://schemas.microsoft.com/office/drawing/2014/main" id="{DBFF3B17-95FD-4601-B9BE-AB9D34ADC1FD}"/>
              </a:ext>
            </a:extLst>
          </p:cNvPr>
          <p:cNvSpPr/>
          <p:nvPr/>
        </p:nvSpPr>
        <p:spPr>
          <a:xfrm>
            <a:off x="8782680" y="1914914"/>
            <a:ext cx="584442" cy="365939"/>
          </a:xfrm>
          <a:prstGeom prst="ellipse">
            <a:avLst/>
          </a:prstGeom>
          <a:noFill/>
          <a:ln w="19050">
            <a:solidFill>
              <a:srgbClr val="C0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3F5C6FF9-8D0D-4222-9619-67833AE80AD0}"/>
              </a:ext>
            </a:extLst>
          </p:cNvPr>
          <p:cNvSpPr txBox="1"/>
          <p:nvPr/>
        </p:nvSpPr>
        <p:spPr>
          <a:xfrm>
            <a:off x="8840570" y="1954962"/>
            <a:ext cx="499783" cy="266049"/>
          </a:xfrm>
          <a:prstGeom prst="rect">
            <a:avLst/>
          </a:prstGeom>
          <a:noFill/>
        </p:spPr>
        <p:txBody>
          <a:bodyPr wrap="none" rtlCol="0">
            <a:spAutoFit/>
          </a:bodyPr>
          <a:lstStyle/>
          <a:p>
            <a:r>
              <a:rPr lang="en-US" sz="1200" dirty="0">
                <a:solidFill>
                  <a:srgbClr val="C00000"/>
                </a:solidFill>
              </a:rPr>
              <a:t>Audit</a:t>
            </a:r>
          </a:p>
        </p:txBody>
      </p:sp>
      <p:cxnSp>
        <p:nvCxnSpPr>
          <p:cNvPr id="18" name="Straight Connector 17">
            <a:extLst>
              <a:ext uri="{FF2B5EF4-FFF2-40B4-BE49-F238E27FC236}">
                <a16:creationId xmlns:a16="http://schemas.microsoft.com/office/drawing/2014/main" id="{D2B7C29F-36CC-45A9-AAF1-EA01FA898BD7}"/>
              </a:ext>
            </a:extLst>
          </p:cNvPr>
          <p:cNvCxnSpPr>
            <a:endCxn id="16" idx="2"/>
          </p:cNvCxnSpPr>
          <p:nvPr/>
        </p:nvCxnSpPr>
        <p:spPr>
          <a:xfrm>
            <a:off x="6014425" y="1885182"/>
            <a:ext cx="2768255" cy="212702"/>
          </a:xfrm>
          <a:prstGeom prst="line">
            <a:avLst/>
          </a:prstGeom>
          <a:ln w="19050">
            <a:solidFill>
              <a:srgbClr val="C00000"/>
            </a:solidFill>
            <a:prstDash val="dashDot"/>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ED240AAA-913D-4D92-96C8-6E883417734B}"/>
              </a:ext>
            </a:extLst>
          </p:cNvPr>
          <p:cNvCxnSpPr/>
          <p:nvPr/>
        </p:nvCxnSpPr>
        <p:spPr>
          <a:xfrm flipH="1" flipV="1">
            <a:off x="9074901" y="2280853"/>
            <a:ext cx="146110" cy="1317379"/>
          </a:xfrm>
          <a:prstGeom prst="line">
            <a:avLst/>
          </a:prstGeom>
          <a:ln w="19050">
            <a:solidFill>
              <a:srgbClr val="C00000"/>
            </a:solidFill>
            <a:prstDash val="dashDot"/>
          </a:ln>
        </p:spPr>
        <p:style>
          <a:lnRef idx="1">
            <a:schemeClr val="accent1"/>
          </a:lnRef>
          <a:fillRef idx="0">
            <a:schemeClr val="accent1"/>
          </a:fillRef>
          <a:effectRef idx="0">
            <a:schemeClr val="accent1"/>
          </a:effectRef>
          <a:fontRef idx="minor">
            <a:schemeClr val="tx1"/>
          </a:fontRef>
        </p:style>
      </p:cxnSp>
      <p:grpSp>
        <p:nvGrpSpPr>
          <p:cNvPr id="20" name="Group 30">
            <a:extLst>
              <a:ext uri="{FF2B5EF4-FFF2-40B4-BE49-F238E27FC236}">
                <a16:creationId xmlns:a16="http://schemas.microsoft.com/office/drawing/2014/main" id="{D214E0C3-F800-4A1D-9833-47956BA69848}"/>
              </a:ext>
            </a:extLst>
          </p:cNvPr>
          <p:cNvGrpSpPr/>
          <p:nvPr/>
        </p:nvGrpSpPr>
        <p:grpSpPr>
          <a:xfrm>
            <a:off x="5810263" y="1621286"/>
            <a:ext cx="219166" cy="512314"/>
            <a:chOff x="954852" y="3048000"/>
            <a:chExt cx="228600" cy="533400"/>
          </a:xfrm>
        </p:grpSpPr>
        <p:sp>
          <p:nvSpPr>
            <p:cNvPr id="21" name="Oval 10">
              <a:extLst>
                <a:ext uri="{FF2B5EF4-FFF2-40B4-BE49-F238E27FC236}">
                  <a16:creationId xmlns:a16="http://schemas.microsoft.com/office/drawing/2014/main" id="{E87201A0-B4AD-45C1-9C3A-CC5BBE1FB722}"/>
                </a:ext>
              </a:extLst>
            </p:cNvPr>
            <p:cNvSpPr/>
            <p:nvPr/>
          </p:nvSpPr>
          <p:spPr>
            <a:xfrm>
              <a:off x="990600" y="3048000"/>
              <a:ext cx="152400" cy="152400"/>
            </a:xfrm>
            <a:prstGeom prst="ellipse">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2" name="Straight Connector 21">
              <a:extLst>
                <a:ext uri="{FF2B5EF4-FFF2-40B4-BE49-F238E27FC236}">
                  <a16:creationId xmlns:a16="http://schemas.microsoft.com/office/drawing/2014/main" id="{17A8860D-A1B7-465A-B78C-31D2FEF10CA3}"/>
                </a:ext>
              </a:extLst>
            </p:cNvPr>
            <p:cNvCxnSpPr/>
            <p:nvPr/>
          </p:nvCxnSpPr>
          <p:spPr>
            <a:xfrm>
              <a:off x="1066800" y="3200400"/>
              <a:ext cx="0" cy="22860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5896E4F6-7D16-42D8-A746-D1D777D007B4}"/>
                </a:ext>
              </a:extLst>
            </p:cNvPr>
            <p:cNvCxnSpPr/>
            <p:nvPr/>
          </p:nvCxnSpPr>
          <p:spPr>
            <a:xfrm>
              <a:off x="954852" y="3276600"/>
              <a:ext cx="228600"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5CCFA2F-F05E-464E-85E6-9167BFD85111}"/>
                </a:ext>
              </a:extLst>
            </p:cNvPr>
            <p:cNvCxnSpPr/>
            <p:nvPr/>
          </p:nvCxnSpPr>
          <p:spPr>
            <a:xfrm flipH="1">
              <a:off x="990600" y="3429000"/>
              <a:ext cx="76200" cy="15240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96E4C5F7-A2AF-4729-8B22-9CBE2B8F8FA4}"/>
                </a:ext>
              </a:extLst>
            </p:cNvPr>
            <p:cNvCxnSpPr/>
            <p:nvPr/>
          </p:nvCxnSpPr>
          <p:spPr>
            <a:xfrm>
              <a:off x="1066800" y="3429000"/>
              <a:ext cx="76200" cy="15240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CC504D34-7851-42B4-9D39-54C5B846DBC7}"/>
              </a:ext>
            </a:extLst>
          </p:cNvPr>
          <p:cNvSpPr txBox="1"/>
          <p:nvPr/>
        </p:nvSpPr>
        <p:spPr>
          <a:xfrm>
            <a:off x="1937078" y="2123385"/>
            <a:ext cx="1446999" cy="276999"/>
          </a:xfrm>
          <a:prstGeom prst="rect">
            <a:avLst/>
          </a:prstGeom>
          <a:noFill/>
        </p:spPr>
        <p:txBody>
          <a:bodyPr wrap="none" rtlCol="0">
            <a:spAutoFit/>
          </a:bodyPr>
          <a:lstStyle/>
          <a:p>
            <a:r>
              <a:rPr lang="en-US" sz="1200" b="1" dirty="0">
                <a:solidFill>
                  <a:srgbClr val="00B050"/>
                </a:solidFill>
              </a:rPr>
              <a:t>Next-door neighbor</a:t>
            </a:r>
          </a:p>
        </p:txBody>
      </p:sp>
      <p:grpSp>
        <p:nvGrpSpPr>
          <p:cNvPr id="27" name="Group 30">
            <a:extLst>
              <a:ext uri="{FF2B5EF4-FFF2-40B4-BE49-F238E27FC236}">
                <a16:creationId xmlns:a16="http://schemas.microsoft.com/office/drawing/2014/main" id="{C2062B66-7E73-4547-8CFD-359CD377D8DA}"/>
              </a:ext>
            </a:extLst>
          </p:cNvPr>
          <p:cNvGrpSpPr/>
          <p:nvPr/>
        </p:nvGrpSpPr>
        <p:grpSpPr>
          <a:xfrm>
            <a:off x="2449123" y="1667688"/>
            <a:ext cx="219166" cy="512314"/>
            <a:chOff x="954852" y="3048000"/>
            <a:chExt cx="228600" cy="533400"/>
          </a:xfrm>
        </p:grpSpPr>
        <p:sp>
          <p:nvSpPr>
            <p:cNvPr id="28" name="Oval 10">
              <a:extLst>
                <a:ext uri="{FF2B5EF4-FFF2-40B4-BE49-F238E27FC236}">
                  <a16:creationId xmlns:a16="http://schemas.microsoft.com/office/drawing/2014/main" id="{EFB3EA71-DEF7-45CC-ADAC-9E6503C382B9}"/>
                </a:ext>
              </a:extLst>
            </p:cNvPr>
            <p:cNvSpPr/>
            <p:nvPr/>
          </p:nvSpPr>
          <p:spPr>
            <a:xfrm>
              <a:off x="990600" y="3048000"/>
              <a:ext cx="152400" cy="152400"/>
            </a:xfrm>
            <a:prstGeom prst="ellipse">
              <a:avLst/>
            </a:prstGeom>
            <a:no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9" name="Straight Connector 28">
              <a:extLst>
                <a:ext uri="{FF2B5EF4-FFF2-40B4-BE49-F238E27FC236}">
                  <a16:creationId xmlns:a16="http://schemas.microsoft.com/office/drawing/2014/main" id="{55A9AB08-CD1D-4469-95FD-CE6F05060F37}"/>
                </a:ext>
              </a:extLst>
            </p:cNvPr>
            <p:cNvCxnSpPr/>
            <p:nvPr/>
          </p:nvCxnSpPr>
          <p:spPr>
            <a:xfrm>
              <a:off x="1066800" y="3200400"/>
              <a:ext cx="0" cy="228600"/>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2AF34B21-0615-495A-88A3-50B1BAC87641}"/>
                </a:ext>
              </a:extLst>
            </p:cNvPr>
            <p:cNvCxnSpPr/>
            <p:nvPr/>
          </p:nvCxnSpPr>
          <p:spPr>
            <a:xfrm>
              <a:off x="954852" y="3276600"/>
              <a:ext cx="228600" cy="0"/>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D3A3CEF-78D7-4833-9F1C-CCF33B2216D5}"/>
                </a:ext>
              </a:extLst>
            </p:cNvPr>
            <p:cNvCxnSpPr/>
            <p:nvPr/>
          </p:nvCxnSpPr>
          <p:spPr>
            <a:xfrm flipH="1">
              <a:off x="990600" y="3429000"/>
              <a:ext cx="76200" cy="152400"/>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BFE9A527-DF0D-46F9-BDED-4DDF3106FC64}"/>
                </a:ext>
              </a:extLst>
            </p:cNvPr>
            <p:cNvCxnSpPr/>
            <p:nvPr/>
          </p:nvCxnSpPr>
          <p:spPr>
            <a:xfrm>
              <a:off x="1066800" y="3429000"/>
              <a:ext cx="76200" cy="152400"/>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grpSp>
      <p:sp>
        <p:nvSpPr>
          <p:cNvPr id="33" name="TextBox 32">
            <a:extLst>
              <a:ext uri="{FF2B5EF4-FFF2-40B4-BE49-F238E27FC236}">
                <a16:creationId xmlns:a16="http://schemas.microsoft.com/office/drawing/2014/main" id="{58A87D85-EEE8-495E-8051-AC8C8A0BA4F5}"/>
              </a:ext>
            </a:extLst>
          </p:cNvPr>
          <p:cNvSpPr txBox="1"/>
          <p:nvPr/>
        </p:nvSpPr>
        <p:spPr>
          <a:xfrm>
            <a:off x="2165678" y="3232226"/>
            <a:ext cx="946541" cy="276999"/>
          </a:xfrm>
          <a:prstGeom prst="rect">
            <a:avLst/>
          </a:prstGeom>
          <a:noFill/>
        </p:spPr>
        <p:txBody>
          <a:bodyPr wrap="none" rtlCol="0">
            <a:spAutoFit/>
          </a:bodyPr>
          <a:lstStyle/>
          <a:p>
            <a:r>
              <a:rPr lang="en-US" sz="1200" b="1" dirty="0">
                <a:solidFill>
                  <a:srgbClr val="7030A0"/>
                </a:solidFill>
              </a:rPr>
              <a:t>Mary White</a:t>
            </a:r>
          </a:p>
        </p:txBody>
      </p:sp>
      <p:grpSp>
        <p:nvGrpSpPr>
          <p:cNvPr id="34" name="Group 30">
            <a:extLst>
              <a:ext uri="{FF2B5EF4-FFF2-40B4-BE49-F238E27FC236}">
                <a16:creationId xmlns:a16="http://schemas.microsoft.com/office/drawing/2014/main" id="{DF8DC552-0D7A-4437-A657-E72C172BE843}"/>
              </a:ext>
            </a:extLst>
          </p:cNvPr>
          <p:cNvGrpSpPr/>
          <p:nvPr/>
        </p:nvGrpSpPr>
        <p:grpSpPr>
          <a:xfrm>
            <a:off x="2407692" y="2776529"/>
            <a:ext cx="219166" cy="512314"/>
            <a:chOff x="954852" y="3048000"/>
            <a:chExt cx="228600" cy="533400"/>
          </a:xfrm>
        </p:grpSpPr>
        <p:sp>
          <p:nvSpPr>
            <p:cNvPr id="35" name="Oval 10">
              <a:extLst>
                <a:ext uri="{FF2B5EF4-FFF2-40B4-BE49-F238E27FC236}">
                  <a16:creationId xmlns:a16="http://schemas.microsoft.com/office/drawing/2014/main" id="{0B8FBD4C-4DE0-4CB5-8B81-BB846A5792DD}"/>
                </a:ext>
              </a:extLst>
            </p:cNvPr>
            <p:cNvSpPr/>
            <p:nvPr/>
          </p:nvSpPr>
          <p:spPr>
            <a:xfrm>
              <a:off x="990600" y="3048000"/>
              <a:ext cx="152400" cy="152400"/>
            </a:xfrm>
            <a:prstGeom prst="ellipse">
              <a:avLst/>
            </a:prstGeom>
            <a:noFill/>
            <a:ln w="190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6" name="Straight Connector 35">
              <a:extLst>
                <a:ext uri="{FF2B5EF4-FFF2-40B4-BE49-F238E27FC236}">
                  <a16:creationId xmlns:a16="http://schemas.microsoft.com/office/drawing/2014/main" id="{71E1D63F-ED4C-453C-A95E-A14BC54AB57D}"/>
                </a:ext>
              </a:extLst>
            </p:cNvPr>
            <p:cNvCxnSpPr/>
            <p:nvPr/>
          </p:nvCxnSpPr>
          <p:spPr>
            <a:xfrm>
              <a:off x="1066800" y="3200400"/>
              <a:ext cx="0" cy="228600"/>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4BE642F6-5B6F-4988-9920-BDD8DAF721FA}"/>
                </a:ext>
              </a:extLst>
            </p:cNvPr>
            <p:cNvCxnSpPr/>
            <p:nvPr/>
          </p:nvCxnSpPr>
          <p:spPr>
            <a:xfrm>
              <a:off x="954852" y="3276600"/>
              <a:ext cx="228600" cy="0"/>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5C5B5E74-D998-4FDA-9901-9D4142255E1B}"/>
                </a:ext>
              </a:extLst>
            </p:cNvPr>
            <p:cNvCxnSpPr/>
            <p:nvPr/>
          </p:nvCxnSpPr>
          <p:spPr>
            <a:xfrm flipH="1">
              <a:off x="990600" y="3429000"/>
              <a:ext cx="76200" cy="152400"/>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1AA0004F-9311-4DFC-86F5-A428D4C5ED58}"/>
                </a:ext>
              </a:extLst>
            </p:cNvPr>
            <p:cNvCxnSpPr/>
            <p:nvPr/>
          </p:nvCxnSpPr>
          <p:spPr>
            <a:xfrm>
              <a:off x="1066800" y="3429000"/>
              <a:ext cx="76200" cy="152400"/>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1944D042-4FD2-4AA7-BD29-6488A43A5194}"/>
              </a:ext>
            </a:extLst>
          </p:cNvPr>
          <p:cNvSpPr txBox="1"/>
          <p:nvPr/>
        </p:nvSpPr>
        <p:spPr>
          <a:xfrm>
            <a:off x="1860878" y="4527626"/>
            <a:ext cx="1354025" cy="276999"/>
          </a:xfrm>
          <a:prstGeom prst="rect">
            <a:avLst/>
          </a:prstGeom>
          <a:noFill/>
        </p:spPr>
        <p:txBody>
          <a:bodyPr wrap="none" rtlCol="0">
            <a:spAutoFit/>
          </a:bodyPr>
          <a:lstStyle/>
          <a:p>
            <a:r>
              <a:rPr lang="en-US" sz="1200" b="1" dirty="0">
                <a:solidFill>
                  <a:schemeClr val="tx2">
                    <a:lumMod val="60000"/>
                    <a:lumOff val="40000"/>
                  </a:schemeClr>
                </a:solidFill>
              </a:rPr>
              <a:t>Man with a puppy</a:t>
            </a:r>
          </a:p>
        </p:txBody>
      </p:sp>
      <p:grpSp>
        <p:nvGrpSpPr>
          <p:cNvPr id="41" name="Group 30">
            <a:extLst>
              <a:ext uri="{FF2B5EF4-FFF2-40B4-BE49-F238E27FC236}">
                <a16:creationId xmlns:a16="http://schemas.microsoft.com/office/drawing/2014/main" id="{2DE1E102-6D21-496E-8986-B30D5C36AE2C}"/>
              </a:ext>
            </a:extLst>
          </p:cNvPr>
          <p:cNvGrpSpPr/>
          <p:nvPr/>
        </p:nvGrpSpPr>
        <p:grpSpPr>
          <a:xfrm>
            <a:off x="2407692" y="4071929"/>
            <a:ext cx="219166" cy="512314"/>
            <a:chOff x="954852" y="3048000"/>
            <a:chExt cx="228600" cy="533400"/>
          </a:xfrm>
        </p:grpSpPr>
        <p:sp>
          <p:nvSpPr>
            <p:cNvPr id="42" name="Oval 10">
              <a:extLst>
                <a:ext uri="{FF2B5EF4-FFF2-40B4-BE49-F238E27FC236}">
                  <a16:creationId xmlns:a16="http://schemas.microsoft.com/office/drawing/2014/main" id="{6B36EBC6-60D9-4C64-AE12-80B5EC297F77}"/>
                </a:ext>
              </a:extLst>
            </p:cNvPr>
            <p:cNvSpPr/>
            <p:nvPr/>
          </p:nvSpPr>
          <p:spPr>
            <a:xfrm>
              <a:off x="990600" y="3048000"/>
              <a:ext cx="152400" cy="152400"/>
            </a:xfrm>
            <a:prstGeom prst="ellipse">
              <a:avLst/>
            </a:prstGeom>
            <a:noFill/>
            <a:ln w="1905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3" name="Straight Connector 42">
              <a:extLst>
                <a:ext uri="{FF2B5EF4-FFF2-40B4-BE49-F238E27FC236}">
                  <a16:creationId xmlns:a16="http://schemas.microsoft.com/office/drawing/2014/main" id="{4C52149B-43E5-4278-B85E-EEF2D05F8407}"/>
                </a:ext>
              </a:extLst>
            </p:cNvPr>
            <p:cNvCxnSpPr/>
            <p:nvPr/>
          </p:nvCxnSpPr>
          <p:spPr>
            <a:xfrm>
              <a:off x="1066800" y="3200400"/>
              <a:ext cx="0" cy="228600"/>
            </a:xfrm>
            <a:prstGeom prst="line">
              <a:avLst/>
            </a:prstGeom>
            <a:ln w="19050">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D6034533-578C-4792-84AD-BEDF298B7970}"/>
                </a:ext>
              </a:extLst>
            </p:cNvPr>
            <p:cNvCxnSpPr/>
            <p:nvPr/>
          </p:nvCxnSpPr>
          <p:spPr>
            <a:xfrm>
              <a:off x="954852" y="3276600"/>
              <a:ext cx="228600" cy="0"/>
            </a:xfrm>
            <a:prstGeom prst="line">
              <a:avLst/>
            </a:prstGeom>
            <a:ln w="19050">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0C475C58-39FA-43AF-BC10-F246328B06C1}"/>
                </a:ext>
              </a:extLst>
            </p:cNvPr>
            <p:cNvCxnSpPr/>
            <p:nvPr/>
          </p:nvCxnSpPr>
          <p:spPr>
            <a:xfrm flipH="1">
              <a:off x="990600" y="3429000"/>
              <a:ext cx="76200" cy="152400"/>
            </a:xfrm>
            <a:prstGeom prst="line">
              <a:avLst/>
            </a:prstGeom>
            <a:ln w="19050">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DF01D3FC-BBCB-4299-A3B8-604FF213A432}"/>
                </a:ext>
              </a:extLst>
            </p:cNvPr>
            <p:cNvCxnSpPr/>
            <p:nvPr/>
          </p:nvCxnSpPr>
          <p:spPr>
            <a:xfrm>
              <a:off x="1066800" y="3429000"/>
              <a:ext cx="76200" cy="152400"/>
            </a:xfrm>
            <a:prstGeom prst="line">
              <a:avLst/>
            </a:prstGeom>
            <a:ln w="19050">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grpSp>
      <p:sp>
        <p:nvSpPr>
          <p:cNvPr id="47" name="TextBox 46">
            <a:extLst>
              <a:ext uri="{FF2B5EF4-FFF2-40B4-BE49-F238E27FC236}">
                <a16:creationId xmlns:a16="http://schemas.microsoft.com/office/drawing/2014/main" id="{ABCFF0E3-0DFF-44C1-AC87-D61AD598AB0F}"/>
              </a:ext>
            </a:extLst>
          </p:cNvPr>
          <p:cNvSpPr txBox="1"/>
          <p:nvPr/>
        </p:nvSpPr>
        <p:spPr>
          <a:xfrm>
            <a:off x="1708478" y="69275"/>
            <a:ext cx="2320251" cy="1477328"/>
          </a:xfrm>
          <a:prstGeom prst="rect">
            <a:avLst/>
          </a:prstGeom>
          <a:noFill/>
        </p:spPr>
        <p:txBody>
          <a:bodyPr wrap="none" rtlCol="0">
            <a:spAutoFit/>
          </a:bodyPr>
          <a:lstStyle/>
          <a:p>
            <a:r>
              <a:rPr lang="en-US" b="1" dirty="0">
                <a:solidFill>
                  <a:schemeClr val="accent1">
                    <a:lumMod val="60000"/>
                    <a:lumOff val="40000"/>
                  </a:schemeClr>
                </a:solidFill>
              </a:rPr>
              <a:t>Instance</a:t>
            </a:r>
          </a:p>
          <a:p>
            <a:r>
              <a:rPr lang="en-US" b="1" dirty="0">
                <a:solidFill>
                  <a:schemeClr val="accent1">
                    <a:lumMod val="60000"/>
                    <a:lumOff val="40000"/>
                  </a:schemeClr>
                </a:solidFill>
              </a:rPr>
              <a:t>Next-door neighbor</a:t>
            </a:r>
          </a:p>
          <a:p>
            <a:r>
              <a:rPr lang="en-US" b="1" dirty="0">
                <a:solidFill>
                  <a:schemeClr val="accent1">
                    <a:lumMod val="60000"/>
                    <a:lumOff val="40000"/>
                  </a:schemeClr>
                </a:solidFill>
              </a:rPr>
              <a:t>Mary White</a:t>
            </a:r>
          </a:p>
          <a:p>
            <a:r>
              <a:rPr lang="en-US" b="1" dirty="0">
                <a:solidFill>
                  <a:schemeClr val="accent1">
                    <a:lumMod val="60000"/>
                    <a:lumOff val="40000"/>
                  </a:schemeClr>
                </a:solidFill>
              </a:rPr>
              <a:t>The man with a puppy</a:t>
            </a:r>
          </a:p>
          <a:p>
            <a:endParaRPr lang="en-US" b="1" dirty="0">
              <a:solidFill>
                <a:schemeClr val="accent1">
                  <a:lumMod val="60000"/>
                  <a:lumOff val="40000"/>
                </a:schemeClr>
              </a:solidFill>
            </a:endParaRPr>
          </a:p>
        </p:txBody>
      </p:sp>
      <p:sp>
        <p:nvSpPr>
          <p:cNvPr id="48" name="TextBox 47">
            <a:extLst>
              <a:ext uri="{FF2B5EF4-FFF2-40B4-BE49-F238E27FC236}">
                <a16:creationId xmlns:a16="http://schemas.microsoft.com/office/drawing/2014/main" id="{A169D9B4-D7F4-4E4B-BA59-4900BA049637}"/>
              </a:ext>
            </a:extLst>
          </p:cNvPr>
          <p:cNvSpPr txBox="1"/>
          <p:nvPr/>
        </p:nvSpPr>
        <p:spPr>
          <a:xfrm>
            <a:off x="5382856" y="69275"/>
            <a:ext cx="1753622" cy="1200329"/>
          </a:xfrm>
          <a:prstGeom prst="rect">
            <a:avLst/>
          </a:prstGeom>
          <a:noFill/>
        </p:spPr>
        <p:txBody>
          <a:bodyPr wrap="none" rtlCol="0">
            <a:spAutoFit/>
          </a:bodyPr>
          <a:lstStyle/>
          <a:p>
            <a:r>
              <a:rPr lang="en-US" b="1" dirty="0">
                <a:solidFill>
                  <a:schemeClr val="bg1">
                    <a:lumMod val="50000"/>
                  </a:schemeClr>
                </a:solidFill>
              </a:rPr>
              <a:t>Archetype</a:t>
            </a:r>
          </a:p>
          <a:p>
            <a:r>
              <a:rPr lang="en-US" b="1" dirty="0">
                <a:solidFill>
                  <a:schemeClr val="bg1">
                    <a:lumMod val="50000"/>
                  </a:schemeClr>
                </a:solidFill>
              </a:rPr>
              <a:t>Persona</a:t>
            </a:r>
          </a:p>
          <a:p>
            <a:r>
              <a:rPr lang="en-US" b="1" dirty="0">
                <a:solidFill>
                  <a:schemeClr val="bg1">
                    <a:lumMod val="50000"/>
                  </a:schemeClr>
                </a:solidFill>
              </a:rPr>
              <a:t>Actor</a:t>
            </a:r>
          </a:p>
          <a:p>
            <a:r>
              <a:rPr lang="en-US" b="1" dirty="0">
                <a:solidFill>
                  <a:schemeClr val="bg1">
                    <a:lumMod val="50000"/>
                  </a:schemeClr>
                </a:solidFill>
              </a:rPr>
              <a:t>Market segment</a:t>
            </a:r>
          </a:p>
        </p:txBody>
      </p:sp>
      <p:sp>
        <p:nvSpPr>
          <p:cNvPr id="49" name="TextBox 48">
            <a:extLst>
              <a:ext uri="{FF2B5EF4-FFF2-40B4-BE49-F238E27FC236}">
                <a16:creationId xmlns:a16="http://schemas.microsoft.com/office/drawing/2014/main" id="{E81BFEBD-E945-473C-A7F1-40D2961E1321}"/>
              </a:ext>
            </a:extLst>
          </p:cNvPr>
          <p:cNvSpPr txBox="1"/>
          <p:nvPr/>
        </p:nvSpPr>
        <p:spPr>
          <a:xfrm>
            <a:off x="1211511" y="5127501"/>
            <a:ext cx="8842229" cy="1654299"/>
          </a:xfrm>
          <a:prstGeom prst="rect">
            <a:avLst/>
          </a:prstGeom>
          <a:noFill/>
        </p:spPr>
        <p:txBody>
          <a:bodyPr wrap="none" rtlCol="0">
            <a:spAutoFit/>
          </a:bodyPr>
          <a:lstStyle/>
          <a:p>
            <a:r>
              <a:rPr lang="en-US" sz="1400" u="sng" dirty="0"/>
              <a:t>Which ones of the following statements are true?</a:t>
            </a:r>
          </a:p>
          <a:p>
            <a:pPr marL="342900" indent="-342900">
              <a:lnSpc>
                <a:spcPts val="1500"/>
              </a:lnSpc>
              <a:buFont typeface="+mj-lt"/>
              <a:buAutoNum type="alphaLcParenR"/>
            </a:pPr>
            <a:r>
              <a:rPr lang="en-US" sz="1400" dirty="0">
                <a:solidFill>
                  <a:schemeClr val="accent1">
                    <a:lumMod val="75000"/>
                  </a:schemeClr>
                </a:solidFill>
              </a:rPr>
              <a:t>When designing test cases – we use Archetypes – we do not use Instances</a:t>
            </a:r>
          </a:p>
          <a:p>
            <a:pPr marL="342900" indent="-342900">
              <a:lnSpc>
                <a:spcPts val="1500"/>
              </a:lnSpc>
              <a:buFont typeface="+mj-lt"/>
              <a:buAutoNum type="alphaLcParenR"/>
            </a:pPr>
            <a:r>
              <a:rPr lang="en-US" sz="1400" dirty="0">
                <a:solidFill>
                  <a:schemeClr val="accent1">
                    <a:lumMod val="75000"/>
                  </a:schemeClr>
                </a:solidFill>
              </a:rPr>
              <a:t>When ascertaining the size of a system – we use the number of Personas – we do not use the number of Instances</a:t>
            </a:r>
          </a:p>
          <a:p>
            <a:pPr marL="342900" indent="-342900">
              <a:lnSpc>
                <a:spcPts val="1500"/>
              </a:lnSpc>
              <a:buFont typeface="+mj-lt"/>
              <a:buAutoNum type="alphaLcParenR"/>
            </a:pPr>
            <a:r>
              <a:rPr lang="en-US" sz="1400" dirty="0">
                <a:solidFill>
                  <a:schemeClr val="accent1">
                    <a:lumMod val="75000"/>
                  </a:schemeClr>
                </a:solidFill>
              </a:rPr>
              <a:t>The thick line with system boundaries – separates  the scope of this release from the scope of the next release</a:t>
            </a:r>
          </a:p>
          <a:p>
            <a:pPr marL="342900" indent="-342900">
              <a:lnSpc>
                <a:spcPts val="1500"/>
              </a:lnSpc>
              <a:buFont typeface="+mj-lt"/>
              <a:buAutoNum type="alphaLcParenR"/>
            </a:pPr>
            <a:r>
              <a:rPr lang="en-US" sz="1400" dirty="0">
                <a:solidFill>
                  <a:schemeClr val="accent1">
                    <a:lumMod val="75000"/>
                  </a:schemeClr>
                </a:solidFill>
              </a:rPr>
              <a:t>Icebox of Pivotal Tracker is mapped into the scope of the next release</a:t>
            </a:r>
          </a:p>
          <a:p>
            <a:pPr marL="342900" indent="-342900">
              <a:lnSpc>
                <a:spcPts val="1500"/>
              </a:lnSpc>
              <a:buFont typeface="+mj-lt"/>
              <a:buAutoNum type="alphaLcParenR"/>
            </a:pPr>
            <a:r>
              <a:rPr lang="en-US" sz="1400" dirty="0">
                <a:solidFill>
                  <a:srgbClr val="C00000"/>
                </a:solidFill>
              </a:rPr>
              <a:t>Whatever is inside system boundaries – belongs to the next release (False)</a:t>
            </a:r>
          </a:p>
          <a:p>
            <a:pPr marL="342900" indent="-342900">
              <a:lnSpc>
                <a:spcPts val="1500"/>
              </a:lnSpc>
              <a:buFont typeface="+mj-lt"/>
              <a:buAutoNum type="alphaLcParenR"/>
            </a:pPr>
            <a:r>
              <a:rPr lang="en-US" sz="1400" dirty="0">
                <a:solidFill>
                  <a:srgbClr val="C00000"/>
                </a:solidFill>
              </a:rPr>
              <a:t>Design of a system is done against Instances and not against Archetypes (False)</a:t>
            </a:r>
          </a:p>
          <a:p>
            <a:pPr marL="342900" indent="-342900">
              <a:lnSpc>
                <a:spcPts val="1500"/>
              </a:lnSpc>
              <a:buFont typeface="+mj-lt"/>
              <a:buAutoNum type="alphaLcParenR"/>
            </a:pPr>
            <a:r>
              <a:rPr lang="en-US" sz="1400" dirty="0">
                <a:solidFill>
                  <a:schemeClr val="accent1">
                    <a:lumMod val="75000"/>
                  </a:schemeClr>
                </a:solidFill>
              </a:rPr>
              <a:t>Pictures with puppies are for Instances.  Product features are for Archetypes.</a:t>
            </a:r>
          </a:p>
        </p:txBody>
      </p:sp>
      <p:sp>
        <p:nvSpPr>
          <p:cNvPr id="50" name="Rectangle 49">
            <a:extLst>
              <a:ext uri="{FF2B5EF4-FFF2-40B4-BE49-F238E27FC236}">
                <a16:creationId xmlns:a16="http://schemas.microsoft.com/office/drawing/2014/main" id="{263F1143-C160-4844-BF8F-E775533A3107}"/>
              </a:ext>
            </a:extLst>
          </p:cNvPr>
          <p:cNvSpPr/>
          <p:nvPr/>
        </p:nvSpPr>
        <p:spPr>
          <a:xfrm>
            <a:off x="7194878" y="0"/>
            <a:ext cx="2895600" cy="1631216"/>
          </a:xfrm>
          <a:prstGeom prst="rect">
            <a:avLst/>
          </a:prstGeom>
        </p:spPr>
        <p:txBody>
          <a:bodyPr wrap="square">
            <a:spAutoFit/>
          </a:bodyPr>
          <a:lstStyle/>
          <a:p>
            <a:pPr>
              <a:lnSpc>
                <a:spcPts val="1500"/>
              </a:lnSpc>
            </a:pPr>
            <a:r>
              <a:rPr lang="en-US" sz="1200" dirty="0">
                <a:solidFill>
                  <a:srgbClr val="C00000"/>
                </a:solidFill>
              </a:rPr>
              <a:t>Definition of personas is the initial part of any project. The task here is to distill few real personas from a great variety of instances. To map which instances correspond to which archetypes. To reduce  the sea of instances to a selected personas, which you can use as a foundation to build the product.</a:t>
            </a:r>
          </a:p>
        </p:txBody>
      </p:sp>
      <p:sp>
        <p:nvSpPr>
          <p:cNvPr id="51" name="TextBox 50">
            <a:extLst>
              <a:ext uri="{FF2B5EF4-FFF2-40B4-BE49-F238E27FC236}">
                <a16:creationId xmlns:a16="http://schemas.microsoft.com/office/drawing/2014/main" id="{A6814817-F55C-44D4-B4AB-E53D284D18ED}"/>
              </a:ext>
            </a:extLst>
          </p:cNvPr>
          <p:cNvSpPr txBox="1"/>
          <p:nvPr/>
        </p:nvSpPr>
        <p:spPr>
          <a:xfrm>
            <a:off x="3573455" y="2498798"/>
            <a:ext cx="1481431" cy="369332"/>
          </a:xfrm>
          <a:prstGeom prst="rect">
            <a:avLst/>
          </a:prstGeom>
          <a:noFill/>
        </p:spPr>
        <p:txBody>
          <a:bodyPr wrap="none" rtlCol="0">
            <a:spAutoFit/>
          </a:bodyPr>
          <a:lstStyle/>
          <a:p>
            <a:r>
              <a:rPr lang="en-US" b="1" dirty="0">
                <a:solidFill>
                  <a:schemeClr val="accent1">
                    <a:lumMod val="60000"/>
                    <a:lumOff val="40000"/>
                  </a:schemeClr>
                </a:solidFill>
              </a:rPr>
              <a:t>Many-To-One</a:t>
            </a:r>
          </a:p>
        </p:txBody>
      </p:sp>
      <p:sp>
        <p:nvSpPr>
          <p:cNvPr id="52" name="TextBox 51">
            <a:extLst>
              <a:ext uri="{FF2B5EF4-FFF2-40B4-BE49-F238E27FC236}">
                <a16:creationId xmlns:a16="http://schemas.microsoft.com/office/drawing/2014/main" id="{1D543E3B-4B0E-4AE2-999C-7048D6CA1592}"/>
              </a:ext>
            </a:extLst>
          </p:cNvPr>
          <p:cNvSpPr txBox="1"/>
          <p:nvPr/>
        </p:nvSpPr>
        <p:spPr>
          <a:xfrm rot="1072315">
            <a:off x="3683555" y="2003060"/>
            <a:ext cx="1481431" cy="369332"/>
          </a:xfrm>
          <a:prstGeom prst="rect">
            <a:avLst/>
          </a:prstGeom>
          <a:noFill/>
        </p:spPr>
        <p:txBody>
          <a:bodyPr wrap="none" rtlCol="0">
            <a:spAutoFit/>
          </a:bodyPr>
          <a:lstStyle/>
          <a:p>
            <a:r>
              <a:rPr lang="en-US" b="1" dirty="0">
                <a:solidFill>
                  <a:schemeClr val="accent1">
                    <a:lumMod val="60000"/>
                    <a:lumOff val="40000"/>
                  </a:schemeClr>
                </a:solidFill>
              </a:rPr>
              <a:t>Many-To-One</a:t>
            </a:r>
          </a:p>
        </p:txBody>
      </p:sp>
      <p:sp>
        <p:nvSpPr>
          <p:cNvPr id="53" name="TextBox 52">
            <a:extLst>
              <a:ext uri="{FF2B5EF4-FFF2-40B4-BE49-F238E27FC236}">
                <a16:creationId xmlns:a16="http://schemas.microsoft.com/office/drawing/2014/main" id="{84E6A135-2A2B-4BD8-B1A7-4651E1598794}"/>
              </a:ext>
            </a:extLst>
          </p:cNvPr>
          <p:cNvSpPr txBox="1"/>
          <p:nvPr/>
        </p:nvSpPr>
        <p:spPr>
          <a:xfrm rot="21412058">
            <a:off x="3747268" y="2891206"/>
            <a:ext cx="1481431" cy="369332"/>
          </a:xfrm>
          <a:prstGeom prst="rect">
            <a:avLst/>
          </a:prstGeom>
          <a:noFill/>
        </p:spPr>
        <p:txBody>
          <a:bodyPr wrap="none" rtlCol="0">
            <a:spAutoFit/>
          </a:bodyPr>
          <a:lstStyle/>
          <a:p>
            <a:r>
              <a:rPr lang="en-US" b="1" dirty="0">
                <a:solidFill>
                  <a:schemeClr val="accent1">
                    <a:lumMod val="60000"/>
                    <a:lumOff val="40000"/>
                  </a:schemeClr>
                </a:solidFill>
              </a:rPr>
              <a:t>Many-To-One</a:t>
            </a:r>
          </a:p>
        </p:txBody>
      </p:sp>
    </p:spTree>
    <p:extLst>
      <p:ext uri="{BB962C8B-B14F-4D97-AF65-F5344CB8AC3E}">
        <p14:creationId xmlns:p14="http://schemas.microsoft.com/office/powerpoint/2010/main" val="41658584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E6EF33B-C250-4834-9F6F-97CE1D42E324}"/>
              </a:ext>
            </a:extLst>
          </p:cNvPr>
          <p:cNvSpPr/>
          <p:nvPr/>
        </p:nvSpPr>
        <p:spPr>
          <a:xfrm>
            <a:off x="1934778" y="2017113"/>
            <a:ext cx="7903044" cy="2031325"/>
          </a:xfrm>
          <a:prstGeom prst="rect">
            <a:avLst/>
          </a:prstGeom>
        </p:spPr>
        <p:txBody>
          <a:bodyPr wrap="square">
            <a:spAutoFit/>
          </a:bodyPr>
          <a:lstStyle/>
          <a:p>
            <a:r>
              <a:rPr lang="en-US" u="sng" dirty="0"/>
              <a:t>Question. </a:t>
            </a:r>
            <a:r>
              <a:rPr lang="en-US" dirty="0"/>
              <a:t>Why do we need both Requirements and Use Cases, since both of them describe the same user needs?</a:t>
            </a:r>
          </a:p>
          <a:p>
            <a:endParaRPr lang="en-US" dirty="0"/>
          </a:p>
          <a:p>
            <a:r>
              <a:rPr lang="en-US" u="sng" dirty="0"/>
              <a:t>Answer. </a:t>
            </a:r>
            <a:r>
              <a:rPr lang="en-US" dirty="0"/>
              <a:t>Product backlog is the numbered and ranked list of user requirements. The unique angle of Use Cases is that it adds the visualization of the dynamic behavior. System Boundaries show which use cases are implemented in this release and which ones are planned for the next release.</a:t>
            </a:r>
          </a:p>
        </p:txBody>
      </p:sp>
      <p:grpSp>
        <p:nvGrpSpPr>
          <p:cNvPr id="5" name="Group 4">
            <a:extLst>
              <a:ext uri="{FF2B5EF4-FFF2-40B4-BE49-F238E27FC236}">
                <a16:creationId xmlns:a16="http://schemas.microsoft.com/office/drawing/2014/main" id="{7BC492EA-10BC-4829-81C0-59530994A377}"/>
              </a:ext>
            </a:extLst>
          </p:cNvPr>
          <p:cNvGrpSpPr/>
          <p:nvPr/>
        </p:nvGrpSpPr>
        <p:grpSpPr>
          <a:xfrm>
            <a:off x="174604" y="147180"/>
            <a:ext cx="335559" cy="369332"/>
            <a:chOff x="369116" y="375299"/>
            <a:chExt cx="335559" cy="369332"/>
          </a:xfrm>
        </p:grpSpPr>
        <p:sp>
          <p:nvSpPr>
            <p:cNvPr id="6" name="Oval 5">
              <a:extLst>
                <a:ext uri="{FF2B5EF4-FFF2-40B4-BE49-F238E27FC236}">
                  <a16:creationId xmlns:a16="http://schemas.microsoft.com/office/drawing/2014/main" id="{44D4C46F-FBCE-4AEB-BE5E-A582E62A1D7D}"/>
                </a:ext>
              </a:extLst>
            </p:cNvPr>
            <p:cNvSpPr/>
            <p:nvPr/>
          </p:nvSpPr>
          <p:spPr>
            <a:xfrm>
              <a:off x="369116" y="411061"/>
              <a:ext cx="335559" cy="297809"/>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8D415B3D-3B26-42FB-B6DA-3C06BDF0CFA8}"/>
                </a:ext>
              </a:extLst>
            </p:cNvPr>
            <p:cNvSpPr txBox="1"/>
            <p:nvPr/>
          </p:nvSpPr>
          <p:spPr>
            <a:xfrm>
              <a:off x="394601" y="375299"/>
              <a:ext cx="301686" cy="369332"/>
            </a:xfrm>
            <a:prstGeom prst="rect">
              <a:avLst/>
            </a:prstGeom>
            <a:noFill/>
          </p:spPr>
          <p:txBody>
            <a:bodyPr wrap="none" rtlCol="0">
              <a:spAutoFit/>
            </a:bodyPr>
            <a:lstStyle/>
            <a:p>
              <a:r>
                <a:rPr lang="en-US" dirty="0"/>
                <a:t>6</a:t>
              </a:r>
            </a:p>
          </p:txBody>
        </p:sp>
      </p:grpSp>
    </p:spTree>
    <p:extLst>
      <p:ext uri="{BB962C8B-B14F-4D97-AF65-F5344CB8AC3E}">
        <p14:creationId xmlns:p14="http://schemas.microsoft.com/office/powerpoint/2010/main" val="35271350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121</TotalTime>
  <Words>633</Words>
  <Application>Microsoft Office PowerPoint</Application>
  <PresentationFormat>Widescreen</PresentationFormat>
  <Paragraphs>97</Paragraphs>
  <Slides>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Arial</vt:lpstr>
      <vt:lpstr>Calibri</vt:lpstr>
      <vt:lpstr>Calibri Light</vt:lpstr>
      <vt:lpstr>Times New Roman</vt:lpstr>
      <vt:lpstr>Office Theme</vt:lpstr>
      <vt:lpstr>PowerPoint Presentation</vt:lpstr>
      <vt:lpstr>From Radio Button to Augmented Reality</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Alex Elentukh</dc:creator>
  <cp:lastModifiedBy>Alex Elentukh</cp:lastModifiedBy>
  <cp:revision>18</cp:revision>
  <dcterms:created xsi:type="dcterms:W3CDTF">2025-09-17T02:23:28Z</dcterms:created>
  <dcterms:modified xsi:type="dcterms:W3CDTF">2025-10-12T22:03:45Z</dcterms:modified>
</cp:coreProperties>
</file>